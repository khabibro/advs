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latin typeface="Apple SD Gothic Neo"/>
              </a:rPr>
              <a:t>필드 정확도 (인식·추출 결과, 개발 세트 3개)</a:t>
            </a:r>
          </a:p>
        </c:rich>
      </c:tx>
      <c:layout/>
      <c:overlay val="0"/>
    </c:title>
    <c:autoTitleDeleted val="0"/>
    <c:plotArea>
      <c:barChart>
        <c:barDir val="col"/>
        <c:grouping val="clustered"/>
        <c:ser>
          <c:idx val="0"/>
          <c:order val="0"/>
          <c:tx>
            <c:strRef>
              <c:f>Sheet1!$B$1</c:f>
              <c:strCache>
                <c:ptCount val="1"/>
                <c:pt idx="0">
                  <c:v>필드 정확도 (%)</c:v>
                </c:pt>
              </c:strCache>
            </c:strRef>
          </c:tx>
          <c:spPr>
            <a:solidFill>
              <a:srgbClr val="17325C"/>
            </a:solidFill>
          </c:spPr>
          <c:cat>
            <c:strRef>
              <c:f>Sheet1!$A$2:$A$4</c:f>
              <c:strCache>
                <c:ptCount val="3"/>
                <c:pt idx="0">
                  <c:v>디지털 PDF
790/790</c:v>
                </c:pt>
                <c:pt idx="1">
                  <c:v>스캔 PDF
779/790</c:v>
                </c:pt>
                <c:pt idx="2">
                  <c:v>사진 이미지
785/790</c:v>
                </c:pt>
              </c:strCache>
            </c:strRef>
          </c:cat>
          <c:val>
            <c:numRef>
              <c:f>Sheet1!$B$2:$B$4</c:f>
              <c:numCache>
                <c:formatCode>General</c:formatCode>
                <c:ptCount val="3"/>
                <c:pt idx="0">
                  <c:v>100</c:v>
                </c:pt>
                <c:pt idx="1">
                  <c:v>98.6</c:v>
                </c:pt>
                <c:pt idx="2">
                  <c:v>99.4</c:v>
                </c:pt>
              </c:numCache>
            </c:numRef>
          </c:val>
        </c:ser>
        <c:dLbls>
          <c:numFmt formatCode="0.0&quot;%&quot;"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min val="0.0"/>
        </c:scaling>
        <c:delete val="0"/>
        <c:axPos val="l"/>
        <c:majorGridlines>
          <c:spPr>
            <a:ln>
              <a:solidFill>
                <a:srgbClr val="D5DCE8"/>
              </a:solidFill>
            </a:ln>
          </c:spPr>
        </c:majorGridlines>
        <c:title>
          <c:tx>
            <c:rich>
              <a:bodyPr/>
              <a:lstStyle/>
              <a:p>
                <a:r>
                  <a:rPr sz="1200">
                    <a:latin typeface="Apple SD Gothic Neo"/>
                  </a:rPr>
                  <a:t>정확한 필드 (%)</a:t>
                </a:r>
              </a:p>
            </c:rich>
          </c:tx>
          <c:layout/>
          <c:overlay val="0"/>
        </c:title>
        <c:majorTickMark val="out"/>
        <c:minorTickMark val="none"/>
        <c:tickLblPos val="nextTo"/>
        <c:crossAx val="-2068027336"/>
        <c:crosses val="autoZero"/>
        <c:majorUnit val="25.0"/>
      </c:valAx>
    </c:plotArea>
    <c:dispBlanksAs val="gap"/>
  </c:chart>
  <c:txPr>
    <a:bodyPr/>
    <a:lstStyle/>
    <a:p>
      <a:pPr>
        <a:defRPr sz="1200">
          <a:latin typeface="Apple SD Gothic Ne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latin typeface="Apple SD Gothic Neo"/>
              </a:rPr>
              <a:t>디지털 PDF 필드 추출 정확도</a:t>
            </a:r>
          </a:p>
        </c:rich>
      </c:tx>
      <c:layout/>
      <c:overlay val="0"/>
    </c:title>
    <c:autoTitleDeleted val="0"/>
    <c:plotArea>
      <c:barChart>
        <c:barDir val="col"/>
        <c:grouping val="clustered"/>
        <c:ser>
          <c:idx val="0"/>
          <c:order val="0"/>
          <c:tx>
            <c:strRef>
              <c:f>Sheet1!$B$1</c:f>
              <c:strCache>
                <c:ptCount val="1"/>
                <c:pt idx="0">
                  <c:v>디지털 필드 정확도 (%)</c:v>
                </c:pt>
              </c:strCache>
            </c:strRef>
          </c:tx>
          <c:spPr>
            <a:solidFill>
              <a:srgbClr val="17325C"/>
            </a:solidFill>
          </c:spPr>
          <c:cat>
            <c:strRef>
              <c:f>Sheet1!$A$2:$A$4</c:f>
              <c:strCache>
                <c:ptCount val="3"/>
                <c:pt idx="0">
                  <c:v>개발 세트
240/240</c:v>
                </c:pt>
                <c:pt idx="1">
                  <c:v>hold-out 1
275/275</c:v>
                </c:pt>
                <c:pt idx="2">
                  <c:v>hold-out 2
(1회 판정)
275/275</c:v>
                </c:pt>
              </c:strCache>
            </c:strRef>
          </c:cat>
          <c:val>
            <c:numRef>
              <c:f>Sheet1!$B$2:$B$4</c:f>
              <c:numCache>
                <c:formatCode>General</c:formatCode>
                <c:ptCount val="3"/>
                <c:pt idx="0">
                  <c:v>100</c:v>
                </c:pt>
                <c:pt idx="1">
                  <c:v>100</c:v>
                </c:pt>
                <c:pt idx="2">
                  <c:v>100</c:v>
                </c:pt>
              </c:numCache>
            </c:numRef>
          </c:val>
        </c:ser>
        <c:dLbls>
          <c:numFmt formatCode="0&quot;%&quot;" sourceLinked="0"/>
          <c:txPr>
            <a:bodyPr/>
            <a:lstStyle/>
            <a:p>
              <a:pPr>
                <a:defRPr sz="1500"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D5DCE8"/>
              </a:solidFill>
            </a:ln>
          </c:spPr>
        </c:majorGridlines>
        <c:title>
          <c:tx>
            <c:rich>
              <a:bodyPr/>
              <a:lstStyle/>
              <a:p>
                <a:r>
                  <a:rPr sz="1200">
                    <a:latin typeface="Apple SD Gothic Neo"/>
                  </a:rPr>
                  <a:t>정확한 필드 (%)</a:t>
                </a:r>
              </a:p>
            </c:rich>
          </c:tx>
          <c:layout/>
          <c:overlay val="0"/>
        </c:title>
        <c:majorTickMark val="out"/>
        <c:minorTickMark val="none"/>
        <c:tickLblPos val="nextTo"/>
        <c:crossAx val="-2068027336"/>
        <c:crosses val="autoZero"/>
        <c:majorUnit val="25.0"/>
      </c:valAx>
    </c:plotArea>
    <c:dispBlanksAs val="gap"/>
  </c:chart>
  <c:txPr>
    <a:bodyPr/>
    <a:lstStyle/>
    <a:p>
      <a:pPr>
        <a:defRPr sz="1200">
          <a:latin typeface="Apple SD Gothic Ne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latin typeface="Apple SD Gothic Neo"/>
              </a:rPr>
              <a:t>스캔 제출 1건당 사람이 확인할 항목</a:t>
            </a:r>
          </a:p>
        </c:rich>
      </c:tx>
      <c:layout/>
      <c:overlay val="0"/>
    </c:title>
    <c:autoTitleDeleted val="0"/>
    <c:plotArea>
      <c:barChart>
        <c:barDir val="col"/>
        <c:grouping val="clustered"/>
        <c:ser>
          <c:idx val="0"/>
          <c:order val="0"/>
          <c:tx>
            <c:strRef>
              <c:f>Sheet1!$B$1</c:f>
              <c:strCache>
                <c:ptCount val="1"/>
                <c:pt idx="0">
                  <c:v>스캔 PDF</c:v>
                </c:pt>
              </c:strCache>
            </c:strRef>
          </c:tx>
          <c:spPr>
            <a:solidFill>
              <a:srgbClr val="17325C"/>
            </a:solidFill>
          </c:spPr>
          <c:cat>
            <c:strRef>
              <c:f>Sheet1!$A$2:$A$4</c:f>
              <c:strCache>
                <c:ptCount val="3"/>
                <c:pt idx="0">
                  <c:v>기준선
(전부 사람 확인)</c:v>
                </c:pt>
                <c:pt idx="1">
                  <c:v>D2 (v2 빌드)</c:v>
                </c:pt>
                <c:pt idx="2">
                  <c:v>D3 병합
(v3, 현재)</c:v>
                </c:pt>
              </c:strCache>
            </c:strRef>
          </c:cat>
          <c:val>
            <c:numRef>
              <c:f>Sheet1!$B$2:$B$4</c:f>
              <c:numCache>
                <c:formatCode>General</c:formatCode>
                <c:ptCount val="3"/>
                <c:pt idx="0">
                  <c:v>11.64</c:v>
                </c:pt>
                <c:pt idx="1">
                  <c:v>7.23</c:v>
                </c:pt>
                <c:pt idx="2">
                  <c:v>3.73</c:v>
                </c:pt>
              </c:numCache>
            </c:numRef>
          </c:val>
        </c:ser>
        <c:ser>
          <c:idx val="1"/>
          <c:order val="1"/>
          <c:tx>
            <c:strRef>
              <c:f>Sheet1!$C$1</c:f>
              <c:strCache>
                <c:ptCount val="1"/>
                <c:pt idx="0">
                  <c:v>사진 이미지</c:v>
                </c:pt>
              </c:strCache>
            </c:strRef>
          </c:tx>
          <c:spPr>
            <a:solidFill>
              <a:srgbClr val="0F6E7C"/>
            </a:solidFill>
          </c:spPr>
          <c:cat>
            <c:strRef>
              <c:f>Sheet1!$A$2:$A$4</c:f>
              <c:strCache>
                <c:ptCount val="3"/>
                <c:pt idx="0">
                  <c:v>기준선
(전부 사람 확인)</c:v>
                </c:pt>
                <c:pt idx="1">
                  <c:v>D2 (v2 빌드)</c:v>
                </c:pt>
                <c:pt idx="2">
                  <c:v>D3 병합
(v3, 현재)</c:v>
                </c:pt>
              </c:strCache>
            </c:strRef>
          </c:cat>
          <c:val>
            <c:numRef>
              <c:f>Sheet1!$C$2:$C$4</c:f>
              <c:numCache>
                <c:formatCode>General</c:formatCode>
                <c:ptCount val="3"/>
                <c:pt idx="0">
                  <c:v>11.64</c:v>
                </c:pt>
                <c:pt idx="1">
                  <c:v>6.59</c:v>
                </c:pt>
                <c:pt idx="2">
                  <c:v>3.09</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14.0"/>
          <c:min val="0.0"/>
        </c:scaling>
        <c:delete val="0"/>
        <c:axPos val="l"/>
        <c:majorGridlines>
          <c:spPr>
            <a:ln>
              <a:solidFill>
                <a:srgbClr val="D5DCE8"/>
              </a:solidFill>
            </a:ln>
          </c:spPr>
        </c:majorGridlines>
        <c:title>
          <c:tx>
            <c:rich>
              <a:bodyPr/>
              <a:lstStyle/>
              <a:p>
                <a:r>
                  <a:rPr sz="1200">
                    <a:latin typeface="Apple SD Gothic Neo"/>
                  </a:rPr>
                  <a:t>항목 수 (제출 1건당)</a:t>
                </a:r>
              </a:p>
            </c:rich>
          </c:tx>
          <c:layout/>
          <c:overlay val="0"/>
        </c:title>
        <c:majorTickMark val="out"/>
        <c:minorTickMark val="none"/>
        <c:tickLblPos val="nextTo"/>
        <c:crossAx val="-2068027336"/>
        <c:crosses val="autoZero"/>
        <c:majorUnit val="2.0"/>
      </c:valAx>
    </c:plotArea>
    <c:legend>
      <c:legendPos val="b"/>
      <c:overlay val="0"/>
      <c:txPr>
        <a:bodyPr/>
        <a:lstStyle/>
        <a:p>
          <a:pPr>
            <a:defRPr sz="1200"/>
          </a:pPr>
        </a:p>
      </c:txPr>
    </c:legend>
    <c:dispBlanksAs val="gap"/>
  </c:chart>
  <c:txPr>
    <a:bodyPr/>
    <a:lstStyle/>
    <a:p>
      <a:pPr>
        <a:defRPr sz="1200">
          <a:latin typeface="Apple SD Gothic Ne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0:15  (5분 경로 1/8)</a:t>
            </a:r>
          </a:p>
          <a:p/>
          <a:p>
            <a:r>
              <a:t>안녕하세요, 올림조노바 무니라와 굴로모프 하비빌로입니다. AI 기반 행정 제출서류 분석 및 자동 점검 시스템 ADVS의 중간 결과를 5분 동안 발표하겠습니다. 이 슬라이드 1~8번이 5분 발표이고, 부록 슬라이드는 질의응답과 10분 확장 발표용입니다. 모든 시험은 가상으로 만든 서류로 했습니다. [진행 메모: 수업 자료에 따르면 팀당 발표 5분, 질의 2분이며 시간 초과 시 감점입니다. 시연은 60~90초 영상으로 준비하고 라이브 시연은 질의 시간에 합니다. 날짜는 수업 자료의 1차 중간발표(10/22)와 계획서의 10/14가 다르므로 확인이 필요합니다.]</a:t>
            </a:r>
          </a:p>
          <a:p/>
          <a:p>
            <a:r>
              <a:t>[English]</a:t>
            </a:r>
          </a:p>
          <a:p>
            <a:r>
              <a:t>Hello, we present the midterm results of ADVS in five minutes (slides 1–8); the appendix is for Q&amp;A and a ten-minute version. All tests use fictional documents. Presenter memo: the course allows 5 minutes plus 2 minutes of Q&amp;A with a penalty for overtime, so the demo should be a 60–90 second video; and the course deck lists the first midterm presentation on 10/22 while the master plan says 10/14, which needs confirming.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0:30  (5분 경로 2/8)</a:t>
            </a:r>
          </a:p>
          <a:p/>
          <a:p>
            <a:r>
              <a:t>기업 지원이나 학생 제출에서는 여러 서류를 한꺼번에 냅니다. 필요한 서류가 빠지거나, 유효기간이 지났거나, 회사명이나 사업자등록번호가 서류마다 다르거나, 같은 서류를 두 번 올리거나, 다른 회사의 비슷한 서류를 올리는 일이 흔하고, 접수 후에 발견하면 되돌리는 비용이 큽니다. ADVS의 목표는 제출 전에 업무별로 설정한 기준으로 자동 점검하는 것입니다. 원칙은 이 문장입니다. AI는 해석하고, 증거가 뒷받침하며, 규칙이 판단하고, 불확실한 것은 사람이 확인합니다. 제출 가능은 공식 승인이 아닙니다.</a:t>
            </a:r>
          </a:p>
          <a:p/>
          <a:p>
            <a:r>
              <a:t>[English]</a:t>
            </a:r>
          </a:p>
          <a:p>
            <a:r>
              <a:t>Missing, expired, mismatched, duplicate and look-alike documents are common and costly after submission. ADVS pre-checks against a configurable checklist. Principle: AI interprets, evidence supports, rules decide, uncertain values go to a person. 'Ready to submit' is not official approval.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3/8)</a:t>
            </a:r>
          </a:p>
          <a:p/>
          <a:p>
            <a:r>
              <a:t>멘토님이 정의하신 서류 6종, 기업 4종과 학생 2종을 구현했습니다. 흐름은 한 줄입니다. 업로드, 텍스트 읽기, 분류, 추출과 근거 기록, 자동 수용 정책, 규칙 점검, 상태와 사람 검토입니다. 디지털 PDF는 글자층을 읽고 스캔과 사진은 PaddleOCR로 읽습니다. 구현 상태를 정직하게 표시했습니다. 녹색은 가상 데이터로 구현하고 검증한 부분, 주황색은 부분 구현입니다. 사진 전처리는 방향과 파일 형식 변환뿐입니다. D3는 합쳤고, PDF 글자층은 눈에 보이는 글자만 신뢰하도록 고쳤습니다. 점선 상자는 계획이며 아직 구현하지 않았습니다. 특히 현재 시스템에는 LLM이나 VLM이 없고, 모든 판단은 규칙과 증거로 합니다.</a:t>
            </a:r>
          </a:p>
          <a:p/>
          <a:p>
            <a:r>
              <a:t>[English]</a:t>
            </a:r>
          </a:p>
          <a:p>
            <a:r>
              <a:t>Six mentor-defined documents (four business, two student) and one pipeline. Green = implemented and verified on synthetic data; amber = partial (photo preprocessing is EXIF and codec only; D3 internal confirmation is merged and judged once on hold-out 3; the PDF text layer is now trusted only for visible text); dashed = planned or proposed (photo quality gate, a second reader such as PaddleOCR-VL, login). The current system contains no LLM or VLM.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  (5분 경로 4/8)</a:t>
            </a:r>
          </a:p>
          <a:p/>
          <a:p>
            <a:r>
              <a:t>구현된 기능입니다. 결과는 세 가지로 나옵니다. 제출 가능은 설정된 점검에서 문제가 발견되지 않은 상태, 보완 필요는 고쳐야 할 문제가 확인된 상태, 확인 필요는 사람이 확인해야 하는 상태입니다. 판단은 규칙이 합니다. 필수 서류 누락과 유효기간, 서류 간 회사명과 사업자등록번호 일치, 주식회사와 (주)와 ㈜ 같은 표기 차이, 사업자등록번호 검증숫자, 중복과 지방세 증명서 같은 유사 서류, 학생 서류의 발급일 90일과 학번 필수 규칙입니다. 이제 60에서 90초 영상으로 정상 제출, 만료된 납세증명서, 스캔 서류를 사람이 확인해 제출 가능이 되는 장면을 보여드리겠습니다. [영상이 없으면 부록의 시연 화면을 사용합니다. 라이브 시연 순서와 복구 방법은 docs/midterm/DEMO_SCRIPT.md: make demo-reset, 부록 시연 슬라이드.]</a:t>
            </a:r>
          </a:p>
          <a:p/>
          <a:p>
            <a:r>
              <a:t>[English]</a:t>
            </a:r>
          </a:p>
          <a:p>
            <a:r>
              <a:t>Three outcomes (ready, needs correction, needs review) decided by rules: missing documents, validity, cross-document name and number matching, notation differences, business-number check digit, duplicates and look-alikes, and for students the 90-day issue date and required student number. Then a 60–90 second video of D1, D2 and D6. Fallback: the appendix screens; live demo only in Q&amp;A (see DEMO_SCRIPT.md).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0:50  (5분 경로 5/8)</a:t>
            </a:r>
          </a:p>
          <a:p/>
          <a:p>
            <a:r>
              <a:t>시험 방법입니다. 실제 서류 양식 7종을 바탕으로 만든 가상 서류 299개 파일과 279개씩의 hold-out 세트 두 개를 사용했고, 채점기는 고정했으며, OCR 오독을 일부러 넣는 오류 주입 시험을 했습니다. 결과입니다. 왼쪽 차트는 인식과 추출 결과의 필드 정확도로, 디지털 PDF는 790개 중 790개, 스캔은 779개, 사진은 785개가 맞았고 틀린 값은 세 경우 모두 0개였습니다. 한 번만 판정한 hold-out 3에서도 스캔 268/275, 사진 273/275, 틀린 값 0개입니다. 가장 중요한 안전 지표는 잘못된 제출 가능입니다. 제출 가능이 아니어야 하는 제출 40건 중 0건이었지만, 표본이 작아 95퍼센트 신뢰 상한은 7.5퍼센트입니다. hold-out 3에서도 거짓 제출 가능은 0건입니다. 주입한 오류 시험은 개발 1,354건, hold-out 1 1,532건, hold-out 3 1,525건에서 0건이고, hold-out 2의 1,523건 중 1건만 알려진 잔여 위험(H14)이며 소유자가 승인했습니다. 이 사례들은 같은 원본 서류에서 만들어져 상한이 낙관적입니다. 사람이 확인하는 항목은 스캔·사진에서 68~73퍼센트 줄었습니다. 모두 가상 서류 결과이고, 실제 서류의 위험은 측정하지 않았습니다.</a:t>
            </a:r>
          </a:p>
          <a:p/>
          <a:p>
            <a:r>
              <a:t>[English]</a:t>
            </a:r>
          </a:p>
          <a:p>
            <a:r>
              <a:t>Method: 299 + 279 + 279 fictional files, a frozen scorer, injected OCR errors, hold-out judged once. Field accuracy: digital 790/790, scans 779/790, photos 785/790, with 0 wrong values (hold-out 3, judged once: scans 268/275, photos 273/275, 0 wrong). False 'ready to submit': 0 of 40 not-ready submissions per input type (95% upper bound 7.5%) on development data and 0 of 14 on hold-out 3; injected errors: 0 of 1,354, 0 of 1,532 and 0 of 1,525, and 1 of 1,523 on hold-out 2 (the known H14 residual risk, accepted by the owner; bounds about 0.2%, optimistic because cases share base documents). Manual checking on scans fell 68–73%. Everything is synthetic; real-world risk is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6/8)</a:t>
            </a:r>
          </a:p>
          <a:p/>
          <a:p>
            <a:r>
              <a:t>한계를 말씀드립니다. 먼저 중요한 관찰입니다. 가상 데이터에서 OCR은 숫자와 날짜를 거의 정확히 읽습니다. 사업자등록번호는 스캔에서 160개 중 160개, 날짜는 212개 중 208개입니다. 그래도 스캔 제출 22건 중 사람 없이 끝난 것은 4건입니다. OCR이 틀릴 수 있는데 그 값이 맞다는 독립적인 증거가 없으면 자동 수용하지 않는 정책 때문입니다. 병목은 인식이 아니라 확인입니다. 이번에 두 가지를 고쳤습니다. 학생 서류의 대학명은 스캔 58개 중 21개에서 56개로 올랐고, PDF의 숨은 글자는 더 이상 믿지 않고 확인 필요로 표시합니다. 남은 한계는 모든 데이터가 가상이고 깨끗하다는 점, 알려진 잔여 위험인 H14 사례, 그리고 SQLite로만 시험했고 로그인이 없다는 점입니다. hold-out 3은 한 번만 판정했습니다.</a:t>
            </a:r>
          </a:p>
          <a:p/>
          <a:p>
            <a:r>
              <a:t>[English]</a:t>
            </a:r>
          </a:p>
          <a:p>
            <a:r>
              <a:t>Key observation: on synthetic data OCR reads digits and dates almost perfectly (business number 160/160 on scans, dates 208/212), yet only 4 of 22 scanned submissions finish without a person because values need independent confirmation: the bottleneck is confirmation, not recognition. Fixed in this build: scanned university_name 21/58 to 56/58, and hidden PDF text is no longer trusted (flagged for review; 0 of 705 manipulated copies missed). Remaining limits: all data synthetic and clean, the known H14 residual risk (accepted by the owner), SQLite only, no login. Hold-out 3 was judged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7/8)</a:t>
            </a:r>
          </a:p>
          <a:p/>
          <a:p>
            <a:r>
              <a:t>다음은 OCR 방식의 공정한 비교입니다. A는 지금의 PP-OCRv5 기반 OCR입니다. B는 PaddleOCR-VL만 쓰는 방식으로, 공식 문서에 따르면 약 0.9B 파라미터, 한국어를 포함한 109개 언어, Apache-2.0 라이선스입니다. 하지만 한국어 행정 증명서에서의 정확도, 속도, 메모리는 측정된 것이 없고, 숫자를 잘못 만들어낼 위험과 신뢰도 신호가 없다는 점이 위험입니다. C는 두 엔진을 모두 돌리는 방식인데, 두 모델이 같은 값을 내도 독립적인 확인이라고 볼 수 없고 지연이 늘어납니다. D는 기존 OCR로 읽고 확인이 필요한 필드에만 VLM을 쓰는 방식으로, 라우팅 신호는 정책 결과로 만들 수 있지만 독립성은 아직 검증되지 않았습니다. E는 모델을 더하지 않고 규칙과 검토를 개선하는 방식으로, 실제로 측정된 결함인 PDF 글자층과 대학명을 겨냥합니다. 결론은 이번 10월 버전에는 VLM을 통합하지 않고, 11월에 격리된 환경에서 같은 문서로 비교하며, 12월에 증거가 있을 때만 채택한다는 것입니다.</a:t>
            </a:r>
          </a:p>
          <a:p/>
          <a:p>
            <a:r>
              <a:t>[English]</a:t>
            </a:r>
          </a:p>
          <a:p>
            <a:r>
              <a:t>A is the current PP-OCRv5 pipeline. B (PaddleOCR-VL only): officially about 0.9B parameters, 109 languages including Korean, Apache-2.0, but no measurement on Korean certificates, risk of wrong digits, no uncertainty signal. C (both engines on every document): agreement of two models is not independent confirmation, and latency grows. D (OCR first, VLM only on fields needing confirmation): routing signals exist as policy outcomes, independence unverified. E (deterministic and review improvements) targets the measured defects. Decision: no VLM in the October build; an isolated November comparison on the same documents; December adoption only with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0:40  (5분 경로 8/8)</a:t>
            </a:r>
          </a:p>
          <a:p/>
          <a:p>
            <a:r>
              <a:t>계획입니다. 10월에는 확인된 결함인 PDF 글자층 신뢰 점검과 대학명 추출을 고치고, D3를 합쳐 hold-out 3으로 한 번만 판정했으며, 발표 빌드 v3를 고정했습니다. 11월에는 분모와 신뢰 상한을 포함한 기준선을 측정하고 실사진 말뭉치와 검토자·관리자 화면, 실제 서류 파일럿을 합니다. 2차 중간발표에서는 PaddleOCR-VL 선택적 검증 실험을 기존 OCR과 같은 데이터로 비교합니다. 정확도, 오류 상관, 자동화 효과, 속도를 봅니다. 12월에는 그 증거로 VLM 채택 여부를 결정하고 로그인, 개인정보, 감사 로그, 전체 테스트와 배포를 마칩니다. 일정은 수업의 확정된 마감일에 맞추어 조정합니다. 결론입니다. ADVS의 강점은 가상 데이터에서 검증한 안전한 기권이고, 다음 단계는 모델을 더하는 것이 아니라 실제 데이터와 증거로 병목을 확인하는 것입니다. 감사합니다. [질의 2분: 부록 슬라이드 준비]</a:t>
            </a:r>
          </a:p>
          <a:p/>
          <a:p>
            <a:r>
              <a:t>[English]</a:t>
            </a:r>
          </a:p>
          <a:p>
            <a:r>
              <a:t>October: text-layer trust check and university-name fix done, D3 merged and judged once on hold-out 3, demo build v3 frozen. November: baseline with denominators and bounds, physical corpus, reviewer and admin screens, real-document pilot. Second midterm: PaddleOCR-VL selective verification experiment compared with the current OCR on the same data (accuracy, error correlation, automation effect, speed). December: decide on the VLM from evidence, login, privacy, audit log, end-to-end tests, deployment, final report. Conclusion: ADVS's strength is verified safe abstention on synthetic data; the next step is evidence, not another model. Dates follow the confirmed course deadlines.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a:t>
            </a:r>
          </a:p>
          <a:p/>
          <a:p>
            <a:r>
              <a:t>결과는 세 가지입니다. 제출 가능은 설정된 점검에서 문제가 발견되지 않은 상태입니다. 보완 필요는 고쳐야 할 문제가 확인된 상태로, 예를 들어 납세증명서의 유효기간이 2026년 8월 31일에 끝난 경우입니다. 확인 필요는 자동으로 판단하기 어려워 사람이 확인해야 하는 상태입니다. 여러 문제가 함께 있으면 가장 심각한 것이 전체 결과가 됩니다. 보완 필요가 확인 필요보다 우선하고, 확인 필요가 제출 가능보다 우선합니다. 화면의 모든 상태에는 색뿐 아니라 글자와 아이콘이 함께 붙습니다.</a:t>
            </a:r>
          </a:p>
          <a:p/>
          <a:p>
            <a:r>
              <a:t>[English]</a:t>
            </a:r>
          </a:p>
          <a:p>
            <a:r>
              <a:t>Three outcomes: ready to submit (no problem found), needs correction (a confirmed problem, e.g. a tax certificate that expired on 2026-08-31), needs review (a person must check). The most severe status wins. Colour is always paired with a label and icon.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1:00</a:t>
            </a:r>
          </a:p>
          <a:p/>
          <a:p>
            <a:r>
              <a:t>안전 설계의 세 가지 규칙입니다. 첫째, OCR로 읽은 값은 독립적인 확인이 있을 때만 사람 없이 받아들입니다. 다른 서류나 신청 정보와 일치하거나, 사업자등록번호처럼 검증숫자로 확인되는 경우입니다. 날짜, 평점, 학번은 같은 이미지를 한 번 더 읽은 것만으로는 확인으로 인정하지 않습니다. 이 규칙은 시험에서 발견된 위험 때문에 소유자가 더 보수적으로 바꾼 것입니다. 둘째, 근거가 부족하면 통과시키지 않고 확인 필요로 보냅니다. 셋째, 모르는 서류는 추측하지 않습니다. 지방세 납세증명서는 국세 납세증명서와 비슷하지만 종류를 확정하지 않고 확인 필요로 보류하며, 다른 서류의 근거로도 쓰지 않습니다.</a:t>
            </a:r>
          </a:p>
          <a:p/>
          <a:p>
            <a:r>
              <a:t>[English]</a:t>
            </a:r>
          </a:p>
          <a:p>
            <a:r>
              <a:t>Three rules: an OCR value is auto-accepted only with independent confirmation (another document, the application value, or the check digit; dates, GPA and student numbers are never confirmed by a second read alone); missing evidence goes to review, never silently passes; unknown or look-alike documents are held for review and never guessed.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1:00</a:t>
            </a:r>
          </a:p>
          <a:p/>
          <a:p>
            <a:r>
              <a:t>시험 방법입니다. 먼저 실제 서류 양식 7종을 바탕으로 새로 만든 가상 서류, 개발 세트 299개 파일로 개발했습니다. 개인정보는 전혀 없습니다. 채점기는 고정해 두고 같은 기준으로 측정했습니다. 또 OCR이 숫자나 이름을 잘못 읽는 상황을 일부러 만들어 넣는 오류 주입 시험을 했습니다. 개발 중에는 보지 않은 hold-out 세트, 각각 279개 파일로 결과를 판정했습니다. 새 값과 배치 흔들림, 겹치는 도장이 들어 있습니다. 솔직히 말씀드리면 hold-out 1은 문제를 찾은 뒤 개발 데이터로 전환했고, hold-out 2는 한 번만 판정했습니다. 마지막으로 시험에 쓴 값이 코드 안에 들어 있는지 검색하는 과적합 검사를 했고 0건이었습니다.</a:t>
            </a:r>
          </a:p>
          <a:p/>
          <a:p>
            <a:r>
              <a:t>[English]</a:t>
            </a:r>
          </a:p>
          <a:p>
            <a:r>
              <a:t>Method: fictional documents rebuilt from seven real layouts (299 development files); a frozen scorer; deliberately injected OCR errors; hold-out sets of 279 files each with new values, layout jitter and overlapping stamps, judged once; and a search for test values in the code (75 values, 0 hits). Hold-out 1 later became development data; hold-out 2 was judged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결과 상세입니다. 왼쪽은 디지털 PDF의 필드 정확도로 개발 세트 240개 중 240개, hold-out 1은 275개 중 275개, 한 번만 판정한 hold-out 2도 275개 중 275개입니다. 가운데는 안전 지표로, 제출 가능이 아니어야 하는 제출 40건 중 거짓 제출 가능은 0건이고 95퍼센트 상한은 7.5퍼센트입니다. 주입한 오류 시험은 개발 1,354건, hold-out 1 1,532건, hold-out 3 1,525건에서 0건이고 hold-out 2의 1,523건 중 알려진 H14 사례 1건이 있습니다. 오른쪽은 스캔과 사진에서 사람이 확인할 항목으로 기준선 11.64개, v2 빌드 7.23개와 6.59개, 현재 3.73개와 3.09개입니다.</a:t>
            </a:r>
          </a:p>
          <a:p/>
          <a:p>
            <a:r>
              <a:t>[English]</a:t>
            </a:r>
          </a:p>
          <a:p>
            <a:r>
              <a:t>Left: digital extraction 240/240 (development), 275/275 (hold-out 1), 275/275 (hold-out 2, judged once). Middle: 0 false 'ready to submit' in 40 not-ready submissions per input type (95% upper bound 7.5%), injected cases: 0 of 1,354 (development), 0 of 1,532 (hold-out 1), 0 of 1,525 (hold-out 3) and 1 of 1,523 on hold-out 2 (the known H14 case). Right: review fields per scanned submission 11.64 (baseline), 7.23/6.59 (v2 build), 3.73/3.09 (v3, with D3 merged).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0:45</a:t>
            </a:r>
          </a:p>
          <a:p/>
          <a:p>
            <a:r>
              <a:t>이번 시험에서 배운 세 가지입니다. 첫째, 처음 보는 서류가 과적합을 찾아냈습니다. 개발 세트에서는 완벽했지만 hold-out 1에서 디지털 추출이 275개 중 174개, 63퍼센트였습니다. 원인을 고친 뒤 새 hold-out 2에서 275개 모두 맞았습니다. 둘째, hold-out에서 잘못된 제출 가능이 1건 발견되었습니다. 사진으로 올린 지방세 납세증명서가 국세 납세증명서로 분류된 것입니다. 제목 검문 규칙을 추가해 고쳤고 이후 0건입니다. 셋째, 안전과 자동화는 맞바꿈입니다. 안전 규칙, 즉 제목 검문과 경계 값 규칙, 날짜·평점·학번에 대한 두 번째 판독 제한을 강화하자 사람이 확인할 항목이 3.82개에서 7.23개로 늘었습니다. 우리는 안전을 선택했습니다.</a:t>
            </a:r>
          </a:p>
          <a:p/>
          <a:p>
            <a:r>
              <a:t>[English]</a:t>
            </a:r>
          </a:p>
          <a:p>
            <a:r>
              <a:t>Lessons: (1) unseen data exposed overfitting — digital extraction was 174/275 (63%) on hold-out 1 and 275/275 on hold-out 2 after the fixes; (2) the hold-out found one false 'ready to submit' (a photographed local-tax certificate classified as national tax), fixed with a title gate; (3) safety trades against automation — tightening the safety rules (title gate, boundary margins, no second-read confirmation of dates, GPA and student numbers) raised manual checks from 3.82 to 7.23, and we chose safety.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(영상 60–90초 또는 질의 시간)</a:t>
            </a:r>
          </a:p>
          <a:p/>
          <a:p>
            <a:r>
              <a:t>데모 순서 (DEMO_SCRIPT.md v3, 태그 midterm-demo-v3). 시작 전 make demo, 발표 당일 아침에는 make demo-rehearsal로 점검합니다. 점검 기준일 2026-10-05는 바꾸지 않습니다.</a:t>
            </a:r>
          </a:p>
          <a:p>
            <a:r>
              <a:t>1) 목록: 제출 건마다 상태와 해야 할 일이 보입니다.</a:t>
            </a:r>
          </a:p>
          <a:p>
            <a:r>
              <a:t>2) D1 정상 제출: 초록 배너 제출 가능, 공식 승인 아님. 서류 내용·근거 보기로 원본 위 위치를 보여 줍니다.</a:t>
            </a:r>
          </a:p>
          <a:p>
            <a:r>
              <a:t>3) D2 만료된 납세증명서: 보완 필요 · 아래 1개 항목. 유효기간 종료일 2026. 08. 31.이 점검 기준일보다 이전이라는 문장과 해결 방법을 읽어 줍니다.</a:t>
            </a:r>
          </a:p>
          <a:p>
            <a:r>
              <a:t>4) (시간이 있으면) D3 회사명 불일치와 D4 표기 차이: 서로 다른 회사명 두 개를 비교하고, 주식회사/(주)/㈜는 같은 회사로 인식합니다.</a:t>
            </a:r>
          </a:p>
          <a:p>
            <a:r>
              <a:t>5) D5 유사 서류: 확인 필요, 국세 납세증명서 칸은 미제출. 지방세 증명서는 제출 가능이 되지 않습니다.</a:t>
            </a:r>
          </a:p>
          <a:p>
            <a:r>
              <a:t>6) (선택) D8 필수 서류 누락: 미제출 칸에서 바로 업로드하면 자동으로 제출 가능이 됩니다. 디지털 PDF는 1초 이내, 스캔은 페이지당 약 15초입니다.</a:t>
            </a:r>
          </a:p>
          <a:p>
            <a:r>
              <a:t>7) D6 스캔(자동 확인): 깨끗한 스캔은 이제 사람 없이 제출 가능입니다. 8) D9 스캔 + 사람 확인: 확인 필요 · 2개. 크롭된 원본에서 두 발급일을 확인하고 원본과 같음 · 확인(Enter)을 두 번 누르면 진행률이 2/2가 되고, 자동으로 제출 가능으로 바뀝니다. 자동 점검 버튼을 누를 필요가 없습니다.</a:t>
            </a:r>
          </a:p>
          <a:p>
            <a:r>
              <a:t>무대에서 피할 것: 날짜 변경, 실제 서류 업로드, 관리자 화면(아직 빈 화면), '공식 승인'이라는 표현.</a:t>
            </a:r>
          </a:p>
          <a:p>
            <a:r>
              <a:t>문제가 생기면: 탭을 새로고침 → 그래도 이상하면 make demo-reset(약 2분) → 아무것도 안 뜨면 make demo-stop &amp;&amp; make demo → 복구가 안 되면 이 슬라이드의 스크린샷(docs/midterm/screenshots_v3)으로 설명합니다. 이전 버전으로 되돌리려면 태그 midterm-demo-v2 (DEMO_SCRIPT_v2.md).</a:t>
            </a:r>
          </a:p>
          <a:p/>
          <a:p>
            <a:r>
              <a:t>[English]</a:t>
            </a:r>
          </a:p>
          <a:p>
            <a:r>
              <a:t>Demo order follows DEMO_SCRIPT.md (v3, tag midterm-demo-v3): list, D1 (ready, evidence on the page), D2 (expired date and how to fix), optionally D3/D4 and D8 (inline upload), D5 (look-alike held for review), D6 (a clean scan is now decided without a person) and D9 (two issue dates confirmed with Enter, status changes to ready by itself). Avoid changing the check date, real documents, the empty admin app, and the word 'official'. If something goes wrong: reload, then make demo-reset (about 2 minutes), then make demo-stop &amp;&amp; make demo, otherwise explain from the screenshots in docs/midterm/screenshots_v3; the previous version is tag midterm-demo-v2.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접근 비교의 상세 표입니다. 각 칸에 근거의 종류를 표시했습니다. V는 저장소에서 검증한 것, E는 외부 자료, H는 실험이 필요한 가설, U는 알 수 없는 것입니다. 핵심은 기존 OCR(A)과 규칙·검토 개선(E, G)만 지금 근거가 있고, VLM을 쓰는 방식(B, C, D)은 우리 데이터로 측정한 근거가 없다는 점입니다. F는 D3로 일부 구현되어 있지만 가상 데이터에는 오류가 거의 없어 보정을 검증하기 어렵고, 스트레스 시험에서 특정 상관 사례 1건이 문제였습니다. H는 실사진 말뭉치를 먼저 만들어 측정해야 합니다.</a:t>
            </a:r>
          </a:p>
          <a:p/>
          <a:p>
            <a:r>
              <a:t>[English]</a:t>
            </a:r>
          </a:p>
          <a:p>
            <a:r>
              <a:t>Detailed comparison with evidence tags (V verified in the repository, E external, H hypothesis, U unknown). Only the current OCR (A) and the deterministic improvements (E, G) have evidence today; the VLM options (B, C, D) have none on our data; F is partly built (D3) but synthetic data has too few errors to validate calibration and the stress suite found one correlated case; H needs a physical photo corpus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평가 방법입니다. 거짓 제출 가능률의 분모는 정답이 제출 가능이 아닌 제출의 수입니다. 현재 40건 중 0건이지만 이는 같은 시나리오를 새 값으로 되풀이한 것이어서 독립 표본이 아니고, 시나리오 종류로만 세면 95퍼센트 상한이 약 21퍼센트까지 올라갑니다. 그래서 0건을 위험 없음으로 말하지 않습니다. 판정용 세트는 개발에 쓰지 않고, 새 판정 세트는 튜닝하지 않는 사람이 만듭니다. 두 판독기를 비교할 때는 동시 오류율을 먼저 측정합니다.</a:t>
            </a:r>
          </a:p>
          <a:p/>
          <a:p>
            <a:r>
              <a:t>[English]</a:t>
            </a:r>
          </a:p>
          <a:p>
            <a:r>
              <a:t>False READY = READY decisions among submissions whose correct status is not READY, divided by the number of such submissions: 0/40 now. Zero events do not mean zero risk: 95% upper bound about 3/n = 7.5%, about 21% counting scenario types because the 40 are re-instantiations of 12–14 scenarios. Judgement sets are never used for tuning; the joint error rate of two readers is measured before agreement counts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부록 (질의응답용)</a:t>
            </a:r>
          </a:p>
          <a:p/>
          <a:p>
            <a:r>
              <a:t>11월과 12월 계획의 상세입니다. 각 작업에는 완료를 재는 방법이 있습니다. D3는 합쳤고 hold-out 3으로 한 번만 판정했습니다. 스캔 제출 1건당 확인 항목은 7.68개에서 4.28개로 줄었고 거짓 제출 가능은 0건입니다. VLM 시험을 한다면 별도 환경에서, 공식 요구 사항을 따라, 같은 문서로 비교합니다. 개발용 Mac에는 NVIDIA GPU가 없어서 CPU나 MLX 실행을 측정하거나 외부 GPU가 필요합니다. 12월 관문의 네 가지 조건을 모두 만족할 때만 채택하고, 아니면 현재 구조를 유지합니다.</a:t>
            </a:r>
          </a:p>
          <a:p/>
          <a:p>
            <a:r>
              <a:t>[English]</a:t>
            </a:r>
          </a:p>
          <a:p>
            <a:r>
              <a:t>Detailed November/December plan with a completion measure per task. D3 is merged and was judged once on hold-out 3: review fields per scanned submission fell from 7.68 to 4.28, with 0 false 'ready to submit' (n=14, upper bound 21%). A VLM trial would use an isolated environment (paddlepaddle(-gpu) &gt;= 3.2.1, paddleocr[doc-parser] &gt;= 3.4.0, an NVIDIA GPU with CC &gt;= 7.0, vLLM &gt;= 8.0, or a measured CPU/MLX run); the development Mac (M3 Pro, 18 GB) has no NVIDIA GPU. Adoption only if all four December gate conditions hold.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질의응답 2분</a:t>
            </a:r>
          </a:p>
          <a:p/>
          <a:p>
            <a:r>
              <a:t>발표를 들어 주셔서 감사합니다. 예상 질문과 답입니다. 실제 서류에서도 되는지는 가상 서류로만 시험했고 실사진 말뭉치와 파일럿이 다음 단계입니다. PDF 위조는 숨은 글자를 읽지 않고 확인 필요로 표시하도록 고쳤고, 위·변조 여부 자체는 발급기관 확인이 필요합니다. LLM이나 VLM은 아직 통합하지 않았고, 2차 중간발표에서 같은 데이터로 비교해서 12월에 결정합니다. 0건이 안전하다는 뜻이냐는 질문에는, 40건 중 0건의 95퍼센트 상한이 7.5퍼센트라고 답합니다.</a:t>
            </a:r>
          </a:p>
          <a:p/>
          <a:p>
            <a:r>
              <a:t>[English]</a:t>
            </a:r>
          </a:p>
          <a:p>
            <a:r>
              <a:t>Prepared answers: real documents (not yet tested; physical corpus and pilot next); forged PDFs (hidden text is now ignored and flagged, 0 of 705 manipulated copies missed; authenticity itself needs issuer verification); why no LLM/VLM (not integrated yet; compared on the same data for the second midterm, decision in December); does zero failures mean safe (no: the 95% upper bound for 0/40 is 7.5%).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607040" cy="457200"/>
          </a:xfrm>
          <a:prstGeom prst="rect">
            <a:avLst/>
          </a:prstGeom>
          <a:noFill/>
        </p:spPr>
        <p:txBody>
          <a:bodyPr wrap="square" anchor="t" lIns="0" rIns="0" tIns="0" bIns="0">
            <a:spAutoFit/>
          </a:bodyPr>
          <a:lstStyle/>
          <a:p>
            <a:pPr algn="l">
              <a:lnSpc>
                <a:spcPct val="110000"/>
              </a:lnSpc>
            </a:pPr>
            <a:r>
              <a:rPr sz="2000" b="0">
                <a:solidFill>
                  <a:srgbClr val="4A5872"/>
                </a:solidFill>
                <a:latin typeface="Helvetica Neue"/>
                <a:cs typeface="Apple SD Gothic Neo"/>
                <a:ea typeface="Apple SD Gothic Neo"/>
              </a:rPr>
              <a:t>KNU 종합설계프로젝트1 · 플래시21 · 중간 발표</a:t>
            </a:r>
          </a:p>
        </p:txBody>
      </p:sp>
      <p:sp>
        <p:nvSpPr>
          <p:cNvPr id="4" name="TextBox 3"/>
          <p:cNvSpPr txBox="1"/>
          <p:nvPr/>
        </p:nvSpPr>
        <p:spPr>
          <a:xfrm>
            <a:off x="822960" y="2011680"/>
            <a:ext cx="10607040" cy="2011680"/>
          </a:xfrm>
          <a:prstGeom prst="rect">
            <a:avLst/>
          </a:prstGeom>
          <a:noFill/>
        </p:spPr>
        <p:txBody>
          <a:bodyPr wrap="square" anchor="t" lIns="0" rIns="0" tIns="0" bIns="0">
            <a:spAutoFit/>
          </a:bodyPr>
          <a:lstStyle/>
          <a:p>
            <a:pPr algn="l">
              <a:lnSpc>
                <a:spcPct val="100000"/>
              </a:lnSpc>
            </a:pPr>
            <a:r>
              <a:rPr sz="4600" b="1">
                <a:solidFill>
                  <a:srgbClr val="17325C"/>
                </a:solidFill>
                <a:latin typeface="Helvetica Neue"/>
                <a:cs typeface="Apple SD Gothic Neo"/>
                <a:ea typeface="Apple SD Gothic Neo"/>
              </a:rPr>
              <a:t>AI 기반 행정 제출서류</a:t>
            </a:r>
          </a:p>
          <a:p>
            <a:pPr algn="l">
              <a:lnSpc>
                <a:spcPct val="100000"/>
              </a:lnSpc>
            </a:pPr>
            <a:r>
              <a:rPr sz="4600" b="1">
                <a:solidFill>
                  <a:srgbClr val="17325C"/>
                </a:solidFill>
                <a:latin typeface="Helvetica Neue"/>
                <a:cs typeface="Apple SD Gothic Neo"/>
                <a:ea typeface="Apple SD Gothic Neo"/>
              </a:rPr>
              <a:t>분석 및 자동 점검 시스템 (ADVS)</a:t>
            </a:r>
          </a:p>
        </p:txBody>
      </p:sp>
      <p:sp>
        <p:nvSpPr>
          <p:cNvPr id="5" name="TextBox 4"/>
          <p:cNvSpPr txBox="1"/>
          <p:nvPr/>
        </p:nvSpPr>
        <p:spPr>
          <a:xfrm>
            <a:off x="822960" y="4160520"/>
            <a:ext cx="10607040" cy="457200"/>
          </a:xfrm>
          <a:prstGeom prst="rect">
            <a:avLst/>
          </a:prstGeom>
          <a:noFill/>
        </p:spPr>
        <p:txBody>
          <a:bodyPr wrap="square" anchor="t" lIns="0" rIns="0" tIns="0" bIns="0">
            <a:spAutoFit/>
          </a:bodyPr>
          <a:lstStyle/>
          <a:p>
            <a:pPr algn="l">
              <a:lnSpc>
                <a:spcPct val="110000"/>
              </a:lnSpc>
            </a:pPr>
            <a:r>
              <a:rPr sz="2200" b="0">
                <a:solidFill>
                  <a:srgbClr val="1B2433"/>
                </a:solidFill>
                <a:latin typeface="Helvetica Neue"/>
                <a:cs typeface="Apple SD Gothic Neo"/>
                <a:ea typeface="Apple SD Gothic Neo"/>
              </a:rPr>
              <a:t>제출 전에, 설정된 기준으로, 근거와 함께 점검합니다</a:t>
            </a:r>
          </a:p>
        </p:txBody>
      </p:sp>
      <p:sp>
        <p:nvSpPr>
          <p:cNvPr id="6" name="Rectangle 5"/>
          <p:cNvSpPr/>
          <p:nvPr/>
        </p:nvSpPr>
        <p:spPr>
          <a:xfrm>
            <a:off x="822960" y="4892040"/>
            <a:ext cx="1463040" cy="45720"/>
          </a:xfrm>
          <a:prstGeom prst="rect">
            <a:avLst/>
          </a:prstGeom>
          <a:solidFill>
            <a:srgbClr val="0F6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5074920"/>
            <a:ext cx="10607040" cy="1280160"/>
          </a:xfrm>
          <a:prstGeom prst="rect">
            <a:avLst/>
          </a:prstGeom>
          <a:noFill/>
        </p:spPr>
        <p:txBody>
          <a:bodyPr wrap="square" anchor="t" lIns="0" rIns="0" tIns="0" bIns="0">
            <a:spAutoFit/>
          </a:bodyPr>
          <a:lstStyle/>
          <a:p>
            <a:pPr algn="l">
              <a:lnSpc>
                <a:spcPct val="110000"/>
              </a:lnSpc>
            </a:pPr>
            <a:r>
              <a:rPr sz="2000" b="0">
                <a:solidFill>
                  <a:srgbClr val="1B2433"/>
                </a:solidFill>
                <a:latin typeface="Helvetica Neue"/>
                <a:cs typeface="Apple SD Gothic Neo"/>
                <a:ea typeface="Apple SD Gothic Neo"/>
              </a:rPr>
              <a:t>팀  올림조노바 무니라 · 굴로모프 하비빌로</a:t>
            </a:r>
          </a:p>
          <a:p>
            <a:pPr algn="l">
              <a:lnSpc>
                <a:spcPct val="110000"/>
              </a:lnSpc>
              <a:spcBef>
                <a:spcPts val="600"/>
              </a:spcBef>
            </a:pPr>
            <a:r>
              <a:rPr sz="2000" b="0">
                <a:solidFill>
                  <a:srgbClr val="1B2433"/>
                </a:solidFill>
                <a:latin typeface="Helvetica Neue"/>
                <a:cs typeface="Apple SD Gothic Neo"/>
                <a:ea typeface="Apple SD Gothic Neo"/>
              </a:rPr>
              <a:t>멘토  이현지 (플래시21)   |   지도교수  김동균</a:t>
            </a:r>
          </a:p>
          <a:p>
            <a:pPr algn="l">
              <a:lnSpc>
                <a:spcPct val="110000"/>
              </a:lnSpc>
              <a:spcBef>
                <a:spcPts val="600"/>
              </a:spcBef>
            </a:pPr>
            <a:r>
              <a:rPr sz="2000" b="0">
                <a:solidFill>
                  <a:srgbClr val="4A5872"/>
                </a:solidFill>
                <a:latin typeface="Helvetica Neue"/>
                <a:cs typeface="Apple SD Gothic Neo"/>
                <a:ea typeface="Apple SD Gothic Neo"/>
              </a:rPr>
              <a:t>중간 발표 · 2026년 10월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서류 점검은 반복 작업, ADVS는 제출 전에 근거와 함께 점검합니다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2</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508760"/>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누락</a:t>
            </a:r>
          </a:p>
          <a:p>
            <a:pPr algn="l">
              <a:lnSpc>
                <a:spcPct val="110000"/>
              </a:lnSpc>
              <a:spcBef>
                <a:spcPts val="100"/>
              </a:spcBef>
            </a:pPr>
            <a:r>
              <a:rPr sz="1400" b="0">
                <a:solidFill>
                  <a:srgbClr val="1B2433"/>
                </a:solidFill>
                <a:latin typeface="Helvetica Neue"/>
                <a:cs typeface="Apple SD Gothic Neo"/>
                <a:ea typeface="Apple SD Gothic Neo"/>
              </a:rPr>
              <a:t>필요한 서류가 없다</a:t>
            </a:r>
          </a:p>
        </p:txBody>
      </p:sp>
      <p:sp>
        <p:nvSpPr>
          <p:cNvPr id="7" name="Rounded Rectangle 6"/>
          <p:cNvSpPr/>
          <p:nvPr/>
        </p:nvSpPr>
        <p:spPr>
          <a:xfrm>
            <a:off x="640080" y="2313432"/>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만료</a:t>
            </a:r>
          </a:p>
          <a:p>
            <a:pPr algn="l">
              <a:lnSpc>
                <a:spcPct val="110000"/>
              </a:lnSpc>
              <a:spcBef>
                <a:spcPts val="100"/>
              </a:spcBef>
            </a:pPr>
            <a:r>
              <a:rPr sz="1400" b="0">
                <a:solidFill>
                  <a:srgbClr val="1B2433"/>
                </a:solidFill>
                <a:latin typeface="Helvetica Neue"/>
                <a:cs typeface="Apple SD Gothic Neo"/>
                <a:ea typeface="Apple SD Gothic Neo"/>
              </a:rPr>
              <a:t>유효기간이 지났다</a:t>
            </a:r>
          </a:p>
        </p:txBody>
      </p:sp>
      <p:sp>
        <p:nvSpPr>
          <p:cNvPr id="8" name="Rounded Rectangle 7"/>
          <p:cNvSpPr/>
          <p:nvPr/>
        </p:nvSpPr>
        <p:spPr>
          <a:xfrm>
            <a:off x="640080" y="3118103"/>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불일치</a:t>
            </a:r>
          </a:p>
          <a:p>
            <a:pPr algn="l">
              <a:lnSpc>
                <a:spcPct val="110000"/>
              </a:lnSpc>
              <a:spcBef>
                <a:spcPts val="100"/>
              </a:spcBef>
            </a:pPr>
            <a:r>
              <a:rPr sz="1400" b="0">
                <a:solidFill>
                  <a:srgbClr val="1B2433"/>
                </a:solidFill>
                <a:latin typeface="Helvetica Neue"/>
                <a:cs typeface="Apple SD Gothic Neo"/>
                <a:ea typeface="Apple SD Gothic Neo"/>
              </a:rPr>
              <a:t>회사명·번호가 서로 다르다</a:t>
            </a:r>
          </a:p>
        </p:txBody>
      </p:sp>
      <p:sp>
        <p:nvSpPr>
          <p:cNvPr id="9" name="Rounded Rectangle 8"/>
          <p:cNvSpPr/>
          <p:nvPr/>
        </p:nvSpPr>
        <p:spPr>
          <a:xfrm>
            <a:off x="640080" y="3922776"/>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중복</a:t>
            </a:r>
          </a:p>
          <a:p>
            <a:pPr algn="l">
              <a:lnSpc>
                <a:spcPct val="110000"/>
              </a:lnSpc>
              <a:spcBef>
                <a:spcPts val="100"/>
              </a:spcBef>
            </a:pPr>
            <a:r>
              <a:rPr sz="1400" b="0">
                <a:solidFill>
                  <a:srgbClr val="1B2433"/>
                </a:solidFill>
                <a:latin typeface="Helvetica Neue"/>
                <a:cs typeface="Apple SD Gothic Neo"/>
                <a:ea typeface="Apple SD Gothic Neo"/>
              </a:rPr>
              <a:t>같은 서류를 두 번 냈다</a:t>
            </a:r>
          </a:p>
        </p:txBody>
      </p:sp>
      <p:sp>
        <p:nvSpPr>
          <p:cNvPr id="10" name="Rounded Rectangle 9"/>
          <p:cNvSpPr/>
          <p:nvPr/>
        </p:nvSpPr>
        <p:spPr>
          <a:xfrm>
            <a:off x="640080" y="4727448"/>
            <a:ext cx="4754880" cy="713232"/>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800" b="1">
                <a:solidFill>
                  <a:srgbClr val="8C1D18"/>
                </a:solidFill>
                <a:latin typeface="Helvetica Neue"/>
                <a:cs typeface="Apple SD Gothic Neo"/>
                <a:ea typeface="Apple SD Gothic Neo"/>
              </a:rPr>
              <a:t>다른 서류</a:t>
            </a:r>
          </a:p>
          <a:p>
            <a:pPr algn="l">
              <a:lnSpc>
                <a:spcPct val="110000"/>
              </a:lnSpc>
              <a:spcBef>
                <a:spcPts val="100"/>
              </a:spcBef>
            </a:pPr>
            <a:r>
              <a:rPr sz="1400" b="0">
                <a:solidFill>
                  <a:srgbClr val="1B2433"/>
                </a:solidFill>
                <a:latin typeface="Helvetica Neue"/>
                <a:cs typeface="Apple SD Gothic Neo"/>
                <a:ea typeface="Apple SD Gothic Neo"/>
              </a:rPr>
              <a:t>다른 회사·비슷한 서류</a:t>
            </a:r>
          </a:p>
        </p:txBody>
      </p:sp>
      <p:sp>
        <p:nvSpPr>
          <p:cNvPr id="11" name="Rounded Rectangle 10"/>
          <p:cNvSpPr/>
          <p:nvPr/>
        </p:nvSpPr>
        <p:spPr>
          <a:xfrm>
            <a:off x="5852160" y="1508760"/>
            <a:ext cx="5760720" cy="251460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92024" bIns="192024"/>
          <a:lstStyle/>
          <a:p>
            <a:pPr algn="l">
              <a:lnSpc>
                <a:spcPct val="110000"/>
              </a:lnSpc>
            </a:pPr>
            <a:r>
              <a:rPr sz="1500" b="1">
                <a:solidFill>
                  <a:srgbClr val="FFFFFF"/>
                </a:solidFill>
                <a:latin typeface="Helvetica Neue"/>
                <a:cs typeface="Apple SD Gothic Neo"/>
                <a:ea typeface="Apple SD Gothic Neo"/>
              </a:rPr>
              <a:t>핵심 원칙</a:t>
            </a:r>
          </a:p>
          <a:p>
            <a:pPr algn="l">
              <a:lnSpc>
                <a:spcPct val="110000"/>
              </a:lnSpc>
              <a:spcBef>
                <a:spcPts val="600"/>
              </a:spcBef>
            </a:pPr>
            <a:r>
              <a:rPr sz="2300" b="1">
                <a:solidFill>
                  <a:srgbClr val="FFFFFF"/>
                </a:solidFill>
                <a:latin typeface="Helvetica Neue"/>
                <a:cs typeface="Apple SD Gothic Neo"/>
                <a:ea typeface="Apple SD Gothic Neo"/>
              </a:rPr>
              <a:t>AI는 해석하고,</a:t>
            </a:r>
          </a:p>
          <a:p>
            <a:pPr algn="l">
              <a:lnSpc>
                <a:spcPct val="110000"/>
              </a:lnSpc>
            </a:pPr>
            <a:r>
              <a:rPr sz="2300" b="1">
                <a:solidFill>
                  <a:srgbClr val="FFFFFF"/>
                </a:solidFill>
                <a:latin typeface="Helvetica Neue"/>
                <a:cs typeface="Apple SD Gothic Neo"/>
                <a:ea typeface="Apple SD Gothic Neo"/>
              </a:rPr>
              <a:t>증거가 뒷받침하며,</a:t>
            </a:r>
          </a:p>
          <a:p>
            <a:pPr algn="l">
              <a:lnSpc>
                <a:spcPct val="110000"/>
              </a:lnSpc>
            </a:pPr>
            <a:r>
              <a:rPr sz="2300" b="1">
                <a:solidFill>
                  <a:srgbClr val="FFFFFF"/>
                </a:solidFill>
                <a:latin typeface="Helvetica Neue"/>
                <a:cs typeface="Apple SD Gothic Neo"/>
                <a:ea typeface="Apple SD Gothic Neo"/>
              </a:rPr>
              <a:t>규칙이 판단하고,</a:t>
            </a:r>
          </a:p>
          <a:p>
            <a:pPr algn="l">
              <a:lnSpc>
                <a:spcPct val="110000"/>
              </a:lnSpc>
            </a:pPr>
            <a:r>
              <a:rPr sz="2300" b="1">
                <a:solidFill>
                  <a:srgbClr val="FFFFFF"/>
                </a:solidFill>
                <a:latin typeface="Helvetica Neue"/>
                <a:cs typeface="Apple SD Gothic Neo"/>
                <a:ea typeface="Apple SD Gothic Neo"/>
              </a:rPr>
              <a:t>불확실한 것은 사람이 확인한다.</a:t>
            </a:r>
          </a:p>
        </p:txBody>
      </p:sp>
      <p:sp>
        <p:nvSpPr>
          <p:cNvPr id="12" name="Rounded Rectangle 11"/>
          <p:cNvSpPr/>
          <p:nvPr/>
        </p:nvSpPr>
        <p:spPr>
          <a:xfrm>
            <a:off x="5852160" y="4206240"/>
            <a:ext cx="5760720" cy="128016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2100" b="1">
                <a:solidFill>
                  <a:srgbClr val="6B4300"/>
                </a:solidFill>
                <a:latin typeface="Helvetica Neue"/>
                <a:cs typeface="Apple SD Gothic Neo"/>
                <a:ea typeface="Apple SD Gothic Neo"/>
              </a:rPr>
              <a:t>제출 가능 ≠ 공식 승인</a:t>
            </a:r>
          </a:p>
          <a:p>
            <a:pPr algn="l">
              <a:lnSpc>
                <a:spcPct val="110000"/>
              </a:lnSpc>
              <a:spcBef>
                <a:spcPts val="300"/>
              </a:spcBef>
            </a:pPr>
            <a:r>
              <a:rPr sz="1500" b="0">
                <a:solidFill>
                  <a:srgbClr val="1B2433"/>
                </a:solidFill>
                <a:latin typeface="Helvetica Neue"/>
                <a:cs typeface="Apple SD Gothic Neo"/>
                <a:ea typeface="Apple SD Gothic Neo"/>
              </a:rPr>
              <a:t>설정된 점검에서 문제가 발견되지 않았다는 뜻입니다.</a:t>
            </a:r>
          </a:p>
        </p:txBody>
      </p:sp>
      <p:sp>
        <p:nvSpPr>
          <p:cNvPr id="13" name="TextBox 12"/>
          <p:cNvSpPr txBox="1"/>
          <p:nvPr/>
        </p:nvSpPr>
        <p:spPr>
          <a:xfrm>
            <a:off x="640080" y="5623560"/>
            <a:ext cx="10972800" cy="640080"/>
          </a:xfrm>
          <a:prstGeom prst="rect">
            <a:avLst/>
          </a:prstGeom>
          <a:noFill/>
        </p:spPr>
        <p:txBody>
          <a:bodyPr wrap="square" anchor="t" lIns="0" rIns="0" tIns="0" bIns="0">
            <a:spAutoFit/>
          </a:bodyPr>
          <a:lstStyle/>
          <a:p>
            <a:pPr algn="l">
              <a:lnSpc>
                <a:spcPct val="110000"/>
              </a:lnSpc>
            </a:pPr>
            <a:r>
              <a:rPr sz="1700" b="1">
                <a:solidFill>
                  <a:srgbClr val="17325C"/>
                </a:solidFill>
                <a:latin typeface="Helvetica Neue"/>
                <a:cs typeface="Apple SD Gothic Neo"/>
                <a:ea typeface="Apple SD Gothic Neo"/>
              </a:rPr>
              <a:t>목표: 업무별로 설정한 기준으로 제출 전에 자동 점검하고, 확실하지 않은 값은 사람이 확인한다.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6종 서류, 하나의 흐름: 무엇이 구현되고 무엇이 계획인가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3</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TextBox 5"/>
          <p:cNvSpPr txBox="1"/>
          <p:nvPr/>
        </p:nvSpPr>
        <p:spPr>
          <a:xfrm>
            <a:off x="640080" y="1325880"/>
            <a:ext cx="10972800" cy="3657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기업  사업자등록증 · 중소기업확인서 · 국세 납세증명서 · 4대 사회보험료 완납증명서</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학생  재학증명서 · 성적증명서</a:t>
            </a:r>
          </a:p>
        </p:txBody>
      </p:sp>
      <p:sp>
        <p:nvSpPr>
          <p:cNvPr id="8" name="Rounded Rectangle 7"/>
          <p:cNvSpPr/>
          <p:nvPr/>
        </p:nvSpPr>
        <p:spPr>
          <a:xfrm>
            <a:off x="640080"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1</a:t>
            </a:r>
          </a:p>
          <a:p>
            <a:pPr algn="l">
              <a:lnSpc>
                <a:spcPct val="110000"/>
              </a:lnSpc>
              <a:spcBef>
                <a:spcPts val="100"/>
              </a:spcBef>
            </a:pPr>
            <a:r>
              <a:rPr sz="1500" b="1">
                <a:solidFill>
                  <a:srgbClr val="17325C"/>
                </a:solidFill>
                <a:latin typeface="Helvetica Neue"/>
                <a:cs typeface="Apple SD Gothic Neo"/>
                <a:ea typeface="Apple SD Gothic Neo"/>
              </a:rPr>
              <a:t>업로드</a:t>
            </a:r>
          </a:p>
          <a:p>
            <a:pPr algn="l">
              <a:lnSpc>
                <a:spcPct val="110000"/>
              </a:lnSpc>
              <a:spcBef>
                <a:spcPts val="200"/>
              </a:spcBef>
            </a:pPr>
            <a:r>
              <a:rPr sz="1100" b="0">
                <a:solidFill>
                  <a:srgbClr val="4A5872"/>
                </a:solidFill>
                <a:latin typeface="Helvetica Neue"/>
                <a:cs typeface="Apple SD Gothic Neo"/>
                <a:ea typeface="Apple SD Gothic Neo"/>
              </a:rPr>
              <a:t>PDF·사진</a:t>
            </a:r>
          </a:p>
        </p:txBody>
      </p:sp>
      <p:sp>
        <p:nvSpPr>
          <p:cNvPr id="9" name="Right Arrow 8"/>
          <p:cNvSpPr/>
          <p:nvPr/>
        </p:nvSpPr>
        <p:spPr>
          <a:xfrm>
            <a:off x="2029968"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212848"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2</a:t>
            </a:r>
          </a:p>
          <a:p>
            <a:pPr algn="l">
              <a:lnSpc>
                <a:spcPct val="110000"/>
              </a:lnSpc>
              <a:spcBef>
                <a:spcPts val="100"/>
              </a:spcBef>
            </a:pPr>
            <a:r>
              <a:rPr sz="1500" b="1">
                <a:solidFill>
                  <a:srgbClr val="17325C"/>
                </a:solidFill>
                <a:latin typeface="Helvetica Neue"/>
                <a:cs typeface="Apple SD Gothic Neo"/>
                <a:ea typeface="Apple SD Gothic Neo"/>
              </a:rPr>
              <a:t>텍스트 읽기</a:t>
            </a:r>
          </a:p>
          <a:p>
            <a:pPr algn="l">
              <a:lnSpc>
                <a:spcPct val="110000"/>
              </a:lnSpc>
              <a:spcBef>
                <a:spcPts val="200"/>
              </a:spcBef>
            </a:pPr>
            <a:r>
              <a:rPr sz="1100" b="0">
                <a:solidFill>
                  <a:srgbClr val="4A5872"/>
                </a:solidFill>
                <a:latin typeface="Helvetica Neue"/>
                <a:cs typeface="Apple SD Gothic Neo"/>
                <a:ea typeface="Apple SD Gothic Neo"/>
              </a:rPr>
              <a:t>보이는 글자층 · OCR</a:t>
            </a:r>
          </a:p>
        </p:txBody>
      </p:sp>
      <p:sp>
        <p:nvSpPr>
          <p:cNvPr id="11" name="Right Arrow 10"/>
          <p:cNvSpPr/>
          <p:nvPr/>
        </p:nvSpPr>
        <p:spPr>
          <a:xfrm>
            <a:off x="3602736"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785615"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3</a:t>
            </a:r>
          </a:p>
          <a:p>
            <a:pPr algn="l">
              <a:lnSpc>
                <a:spcPct val="110000"/>
              </a:lnSpc>
              <a:spcBef>
                <a:spcPts val="100"/>
              </a:spcBef>
            </a:pPr>
            <a:r>
              <a:rPr sz="1500" b="1">
                <a:solidFill>
                  <a:srgbClr val="17325C"/>
                </a:solidFill>
                <a:latin typeface="Helvetica Neue"/>
                <a:cs typeface="Apple SD Gothic Neo"/>
                <a:ea typeface="Apple SD Gothic Neo"/>
              </a:rPr>
              <a:t>분류</a:t>
            </a:r>
          </a:p>
          <a:p>
            <a:pPr algn="l">
              <a:lnSpc>
                <a:spcPct val="110000"/>
              </a:lnSpc>
              <a:spcBef>
                <a:spcPts val="200"/>
              </a:spcBef>
            </a:pPr>
            <a:r>
              <a:rPr sz="1100" b="0">
                <a:solidFill>
                  <a:srgbClr val="4A5872"/>
                </a:solidFill>
                <a:latin typeface="Helvetica Neue"/>
                <a:cs typeface="Apple SD Gothic Neo"/>
                <a:ea typeface="Apple SD Gothic Neo"/>
              </a:rPr>
              <a:t>규칙 기반</a:t>
            </a:r>
          </a:p>
        </p:txBody>
      </p:sp>
      <p:sp>
        <p:nvSpPr>
          <p:cNvPr id="13" name="Right Arrow 12"/>
          <p:cNvSpPr/>
          <p:nvPr/>
        </p:nvSpPr>
        <p:spPr>
          <a:xfrm>
            <a:off x="5175503"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58383"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4</a:t>
            </a:r>
          </a:p>
          <a:p>
            <a:pPr algn="l">
              <a:lnSpc>
                <a:spcPct val="110000"/>
              </a:lnSpc>
              <a:spcBef>
                <a:spcPts val="100"/>
              </a:spcBef>
            </a:pPr>
            <a:r>
              <a:rPr sz="1500" b="1">
                <a:solidFill>
                  <a:srgbClr val="17325C"/>
                </a:solidFill>
                <a:latin typeface="Helvetica Neue"/>
                <a:cs typeface="Apple SD Gothic Neo"/>
                <a:ea typeface="Apple SD Gothic Neo"/>
              </a:rPr>
              <a:t>추출 · 근거</a:t>
            </a:r>
          </a:p>
          <a:p>
            <a:pPr algn="l">
              <a:lnSpc>
                <a:spcPct val="110000"/>
              </a:lnSpc>
              <a:spcBef>
                <a:spcPts val="200"/>
              </a:spcBef>
            </a:pPr>
            <a:r>
              <a:rPr sz="1100" b="0">
                <a:solidFill>
                  <a:srgbClr val="4A5872"/>
                </a:solidFill>
                <a:latin typeface="Helvetica Neue"/>
                <a:cs typeface="Apple SD Gothic Neo"/>
                <a:ea typeface="Apple SD Gothic Neo"/>
              </a:rPr>
              <a:t>위치·글자 기록</a:t>
            </a:r>
          </a:p>
        </p:txBody>
      </p:sp>
      <p:sp>
        <p:nvSpPr>
          <p:cNvPr id="15" name="Right Arrow 14"/>
          <p:cNvSpPr/>
          <p:nvPr/>
        </p:nvSpPr>
        <p:spPr>
          <a:xfrm>
            <a:off x="6748271"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31151" y="2331720"/>
            <a:ext cx="1371600" cy="123444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5</a:t>
            </a:r>
          </a:p>
          <a:p>
            <a:pPr algn="l">
              <a:lnSpc>
                <a:spcPct val="110000"/>
              </a:lnSpc>
              <a:spcBef>
                <a:spcPts val="100"/>
              </a:spcBef>
            </a:pPr>
            <a:r>
              <a:rPr sz="1500" b="1">
                <a:solidFill>
                  <a:srgbClr val="6B4300"/>
                </a:solidFill>
                <a:latin typeface="Helvetica Neue"/>
                <a:cs typeface="Apple SD Gothic Neo"/>
                <a:ea typeface="Apple SD Gothic Neo"/>
              </a:rPr>
              <a:t>자동 수용 정책</a:t>
            </a:r>
          </a:p>
          <a:p>
            <a:pPr algn="l">
              <a:lnSpc>
                <a:spcPct val="110000"/>
              </a:lnSpc>
              <a:spcBef>
                <a:spcPts val="200"/>
              </a:spcBef>
            </a:pPr>
            <a:r>
              <a:rPr sz="1100" b="0">
                <a:solidFill>
                  <a:srgbClr val="4A5872"/>
                </a:solidFill>
                <a:latin typeface="Helvetica Neue"/>
                <a:cs typeface="Apple SD Gothic Neo"/>
                <a:ea typeface="Apple SD Gothic Neo"/>
              </a:rPr>
              <a:t>독립 확인 시에만</a:t>
            </a:r>
          </a:p>
        </p:txBody>
      </p:sp>
      <p:sp>
        <p:nvSpPr>
          <p:cNvPr id="17" name="Right Arrow 16"/>
          <p:cNvSpPr/>
          <p:nvPr/>
        </p:nvSpPr>
        <p:spPr>
          <a:xfrm>
            <a:off x="8321039"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03919"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6</a:t>
            </a:r>
          </a:p>
          <a:p>
            <a:pPr algn="l">
              <a:lnSpc>
                <a:spcPct val="110000"/>
              </a:lnSpc>
              <a:spcBef>
                <a:spcPts val="100"/>
              </a:spcBef>
            </a:pPr>
            <a:r>
              <a:rPr sz="1500" b="1">
                <a:solidFill>
                  <a:srgbClr val="17325C"/>
                </a:solidFill>
                <a:latin typeface="Helvetica Neue"/>
                <a:cs typeface="Apple SD Gothic Neo"/>
                <a:ea typeface="Apple SD Gothic Neo"/>
              </a:rPr>
              <a:t>규칙 점검</a:t>
            </a:r>
          </a:p>
          <a:p>
            <a:pPr algn="l">
              <a:lnSpc>
                <a:spcPct val="110000"/>
              </a:lnSpc>
              <a:spcBef>
                <a:spcPts val="200"/>
              </a:spcBef>
            </a:pPr>
            <a:r>
              <a:rPr sz="1100" b="0">
                <a:solidFill>
                  <a:srgbClr val="4A5872"/>
                </a:solidFill>
                <a:latin typeface="Helvetica Neue"/>
                <a:cs typeface="Apple SD Gothic Neo"/>
                <a:ea typeface="Apple SD Gothic Neo"/>
              </a:rPr>
              <a:t>체크리스트</a:t>
            </a:r>
          </a:p>
        </p:txBody>
      </p:sp>
      <p:sp>
        <p:nvSpPr>
          <p:cNvPr id="19" name="Right Arrow 18"/>
          <p:cNvSpPr/>
          <p:nvPr/>
        </p:nvSpPr>
        <p:spPr>
          <a:xfrm>
            <a:off x="9893807" y="2834640"/>
            <a:ext cx="164592" cy="219456"/>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076688" y="2331720"/>
            <a:ext cx="137160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lnSpc>
                <a:spcPct val="110000"/>
              </a:lnSpc>
            </a:pPr>
            <a:r>
              <a:rPr sz="1300" b="1">
                <a:solidFill>
                  <a:srgbClr val="0F6E7C"/>
                </a:solidFill>
                <a:latin typeface="Helvetica Neue"/>
                <a:cs typeface="Apple SD Gothic Neo"/>
                <a:ea typeface="Apple SD Gothic Neo"/>
              </a:rPr>
              <a:t>7</a:t>
            </a:r>
          </a:p>
          <a:p>
            <a:pPr algn="l">
              <a:lnSpc>
                <a:spcPct val="110000"/>
              </a:lnSpc>
              <a:spcBef>
                <a:spcPts val="100"/>
              </a:spcBef>
            </a:pPr>
            <a:r>
              <a:rPr sz="1500" b="1">
                <a:solidFill>
                  <a:srgbClr val="17325C"/>
                </a:solidFill>
                <a:latin typeface="Helvetica Neue"/>
                <a:cs typeface="Apple SD Gothic Neo"/>
                <a:ea typeface="Apple SD Gothic Neo"/>
              </a:rPr>
              <a:t>상태 · 검토</a:t>
            </a:r>
          </a:p>
          <a:p>
            <a:pPr algn="l">
              <a:lnSpc>
                <a:spcPct val="110000"/>
              </a:lnSpc>
              <a:spcBef>
                <a:spcPts val="200"/>
              </a:spcBef>
            </a:pPr>
            <a:r>
              <a:rPr sz="1100" b="0">
                <a:solidFill>
                  <a:srgbClr val="4A5872"/>
                </a:solidFill>
                <a:latin typeface="Helvetica Neue"/>
                <a:cs typeface="Apple SD Gothic Neo"/>
                <a:ea typeface="Apple SD Gothic Neo"/>
              </a:rPr>
              <a:t>3가지 · 사람</a:t>
            </a:r>
          </a:p>
        </p:txBody>
      </p:sp>
      <p:sp>
        <p:nvSpPr>
          <p:cNvPr id="21" name="Rounded Rectangle 20"/>
          <p:cNvSpPr/>
          <p:nvPr/>
        </p:nvSpPr>
        <p:spPr>
          <a:xfrm>
            <a:off x="640080" y="3749039"/>
            <a:ext cx="32918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400" b="1">
                <a:solidFill>
                  <a:srgbClr val="0B5D3B"/>
                </a:solidFill>
                <a:latin typeface="Helvetica Neue"/>
                <a:cs typeface="Apple SD Gothic Neo"/>
                <a:ea typeface="Apple SD Gothic Neo"/>
              </a:rPr>
              <a:t>구현 · 검증됨 (가상 데이터)</a:t>
            </a:r>
          </a:p>
        </p:txBody>
      </p:sp>
      <p:sp>
        <p:nvSpPr>
          <p:cNvPr id="22" name="Rounded Rectangle 21"/>
          <p:cNvSpPr/>
          <p:nvPr/>
        </p:nvSpPr>
        <p:spPr>
          <a:xfrm>
            <a:off x="640080" y="4251960"/>
            <a:ext cx="5394960" cy="150876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1">
                <a:solidFill>
                  <a:srgbClr val="6B4300"/>
                </a:solidFill>
                <a:latin typeface="Helvetica Neue"/>
                <a:cs typeface="Apple SD Gothic Neo"/>
                <a:ea typeface="Apple SD Gothic Neo"/>
              </a:rPr>
              <a:t>부분 구현</a:t>
            </a:r>
          </a:p>
          <a:p>
            <a:pPr algn="l">
              <a:lnSpc>
                <a:spcPct val="110000"/>
              </a:lnSpc>
              <a:spcBef>
                <a:spcPts val="400"/>
              </a:spcBef>
            </a:pPr>
            <a:r>
              <a:rPr sz="1300" b="0">
                <a:solidFill>
                  <a:srgbClr val="1B2433"/>
                </a:solidFill>
                <a:latin typeface="Helvetica Neue"/>
                <a:cs typeface="Apple SD Gothic Neo"/>
                <a:ea typeface="Apple SD Gothic Neo"/>
              </a:rPr>
              <a:t>사진 전처리: EXIF 방향·파일 형식 변환만 (원근 보정, 품질 검사, HEIC 없음)</a:t>
            </a:r>
          </a:p>
          <a:p>
            <a:pPr algn="l">
              <a:lnSpc>
                <a:spcPct val="110000"/>
              </a:lnSpc>
              <a:spcBef>
                <a:spcPts val="300"/>
              </a:spcBef>
            </a:pPr>
            <a:r>
              <a:rPr sz="1300" b="0">
                <a:solidFill>
                  <a:srgbClr val="1B2433"/>
                </a:solidFill>
                <a:latin typeface="Helvetica Neue"/>
                <a:cs typeface="Apple SD Gothic Neo"/>
                <a:ea typeface="Apple SD Gothic Neo"/>
              </a:rPr>
              <a:t>D3(내부 일관성 확인): 병합 완료, hold-out 3에서 한 번 판정</a:t>
            </a:r>
          </a:p>
        </p:txBody>
      </p:sp>
      <p:sp>
        <p:nvSpPr>
          <p:cNvPr id="23" name="Rounded Rectangle 22"/>
          <p:cNvSpPr/>
          <p:nvPr/>
        </p:nvSpPr>
        <p:spPr>
          <a:xfrm>
            <a:off x="6309360" y="4251960"/>
            <a:ext cx="5303520" cy="1508760"/>
          </a:xfrm>
          <a:prstGeom prst="roundRect">
            <a:avLst>
              <a:gd name="adj" fmla="val 8000"/>
            </a:avLst>
          </a:prstGeom>
          <a:solidFill>
            <a:srgbClr val="F4F7FB"/>
          </a:solidFill>
          <a:ln w="15875">
            <a:solidFill>
              <a:srgbClr val="4A5872"/>
            </a:solidFill>
            <a:prstDash val="dash"/>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20700" bIns="120700"/>
          <a:lstStyle/>
          <a:p>
            <a:pPr algn="l">
              <a:lnSpc>
                <a:spcPct val="110000"/>
              </a:lnSpc>
            </a:pPr>
            <a:r>
              <a:rPr sz="1600" b="1">
                <a:solidFill>
                  <a:srgbClr val="4A5872"/>
                </a:solidFill>
                <a:latin typeface="Helvetica Neue"/>
                <a:cs typeface="Apple SD Gothic Neo"/>
                <a:ea typeface="Apple SD Gothic Neo"/>
              </a:rPr>
              <a:t>계획 · 제안 (미구현)</a:t>
            </a:r>
          </a:p>
          <a:p>
            <a:pPr algn="l">
              <a:lnSpc>
                <a:spcPct val="110000"/>
              </a:lnSpc>
              <a:spcBef>
                <a:spcPts val="400"/>
              </a:spcBef>
            </a:pPr>
            <a:r>
              <a:rPr sz="1300" b="0">
                <a:solidFill>
                  <a:srgbClr val="1B2433"/>
                </a:solidFill>
                <a:latin typeface="Helvetica Neue"/>
                <a:cs typeface="Apple SD Gothic Neo"/>
                <a:ea typeface="Apple SD Gothic Neo"/>
              </a:rPr>
              <a:t>사진 품질 게이트 (원근 보정 등)</a:t>
            </a:r>
          </a:p>
          <a:p>
            <a:pPr algn="l">
              <a:lnSpc>
                <a:spcPct val="110000"/>
              </a:lnSpc>
              <a:spcBef>
                <a:spcPts val="300"/>
              </a:spcBef>
            </a:pPr>
            <a:r>
              <a:rPr sz="1300" b="0">
                <a:solidFill>
                  <a:srgbClr val="1B2433"/>
                </a:solidFill>
                <a:latin typeface="Helvetica Neue"/>
                <a:cs typeface="Apple SD Gothic Neo"/>
                <a:ea typeface="Apple SD Gothic Neo"/>
              </a:rPr>
              <a:t>두 번째 판독기(PaddleOCR-VL 등) — 평가 후 결정</a:t>
            </a:r>
          </a:p>
          <a:p>
            <a:pPr algn="l">
              <a:lnSpc>
                <a:spcPct val="110000"/>
              </a:lnSpc>
              <a:spcBef>
                <a:spcPts val="300"/>
              </a:spcBef>
            </a:pPr>
            <a:r>
              <a:rPr sz="1300" b="0">
                <a:solidFill>
                  <a:srgbClr val="1B2433"/>
                </a:solidFill>
                <a:latin typeface="Helvetica Neue"/>
                <a:cs typeface="Apple SD Gothic Neo"/>
                <a:ea typeface="Apple SD Gothic Neo"/>
              </a:rPr>
              <a:t>로그인 · 접근 제어 · 관리자 화면</a:t>
            </a:r>
          </a:p>
        </p:txBody>
      </p:sp>
      <p:sp>
        <p:nvSpPr>
          <p:cNvPr id="24" name="TextBox 23"/>
          <p:cNvSpPr txBox="1"/>
          <p:nvPr/>
        </p:nvSpPr>
        <p:spPr>
          <a:xfrm>
            <a:off x="640080" y="5897880"/>
            <a:ext cx="10972800" cy="41148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현재 시스템에는 LLM·VLM이 없습니다. 모든 판단은 규칙과 증거에 기반합니다. (웹은 API가 정한 결과만 표시)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구현된 기능: 서류 사이를 점검하고, 이유를 보여 줍니다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4</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673352"/>
            <a:ext cx="155448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제출 가능</a:t>
            </a:r>
          </a:p>
        </p:txBody>
      </p:sp>
      <p:pic>
        <p:nvPicPr>
          <p:cNvPr id="7" name="Picture 6" descr="hi_banner_D1.png"/>
          <p:cNvPicPr>
            <a:picLocks noChangeAspect="1"/>
          </p:cNvPicPr>
          <p:nvPr/>
        </p:nvPicPr>
        <p:blipFill>
          <a:blip r:embed="rId2"/>
          <a:stretch>
            <a:fillRect/>
          </a:stretch>
        </p:blipFill>
        <p:spPr>
          <a:xfrm>
            <a:off x="2377440" y="1371600"/>
            <a:ext cx="4572000" cy="984738"/>
          </a:xfrm>
          <a:prstGeom prst="rect">
            <a:avLst/>
          </a:prstGeom>
          <a:ln w="12700">
            <a:solidFill>
              <a:srgbClr val="D5DCE8"/>
            </a:solidFill>
          </a:ln>
        </p:spPr>
      </p:pic>
      <p:sp>
        <p:nvSpPr>
          <p:cNvPr id="8" name="Rounded Rectangle 7"/>
          <p:cNvSpPr/>
          <p:nvPr/>
        </p:nvSpPr>
        <p:spPr>
          <a:xfrm>
            <a:off x="640080" y="2935224"/>
            <a:ext cx="155448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8C1D18"/>
                </a:solidFill>
                <a:latin typeface="Helvetica Neue"/>
                <a:cs typeface="Apple SD Gothic Neo"/>
                <a:ea typeface="Apple SD Gothic Neo"/>
              </a:rPr>
              <a:t>보완 필요</a:t>
            </a:r>
          </a:p>
        </p:txBody>
      </p:sp>
      <p:pic>
        <p:nvPicPr>
          <p:cNvPr id="9" name="Picture 8" descr="hi_banner_D2.png"/>
          <p:cNvPicPr>
            <a:picLocks noChangeAspect="1"/>
          </p:cNvPicPr>
          <p:nvPr/>
        </p:nvPicPr>
        <p:blipFill>
          <a:blip r:embed="rId3"/>
          <a:stretch>
            <a:fillRect/>
          </a:stretch>
        </p:blipFill>
        <p:spPr>
          <a:xfrm>
            <a:off x="2377440" y="2633472"/>
            <a:ext cx="4572000" cy="984738"/>
          </a:xfrm>
          <a:prstGeom prst="rect">
            <a:avLst/>
          </a:prstGeom>
          <a:ln w="12700">
            <a:solidFill>
              <a:srgbClr val="D5DCE8"/>
            </a:solidFill>
          </a:ln>
        </p:spPr>
      </p:pic>
      <p:sp>
        <p:nvSpPr>
          <p:cNvPr id="10" name="Rounded Rectangle 9"/>
          <p:cNvSpPr/>
          <p:nvPr/>
        </p:nvSpPr>
        <p:spPr>
          <a:xfrm>
            <a:off x="640080" y="4197096"/>
            <a:ext cx="155448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6B4300"/>
                </a:solidFill>
                <a:latin typeface="Helvetica Neue"/>
                <a:cs typeface="Apple SD Gothic Neo"/>
                <a:ea typeface="Apple SD Gothic Neo"/>
              </a:rPr>
              <a:t>확인 필요</a:t>
            </a:r>
          </a:p>
        </p:txBody>
      </p:sp>
      <p:pic>
        <p:nvPicPr>
          <p:cNvPr id="11" name="Picture 10" descr="hi_banner_D9.png"/>
          <p:cNvPicPr>
            <a:picLocks noChangeAspect="1"/>
          </p:cNvPicPr>
          <p:nvPr/>
        </p:nvPicPr>
        <p:blipFill>
          <a:blip r:embed="rId4"/>
          <a:stretch>
            <a:fillRect/>
          </a:stretch>
        </p:blipFill>
        <p:spPr>
          <a:xfrm>
            <a:off x="2377440" y="3895344"/>
            <a:ext cx="4572000" cy="984738"/>
          </a:xfrm>
          <a:prstGeom prst="rect">
            <a:avLst/>
          </a:prstGeom>
          <a:ln w="12700">
            <a:solidFill>
              <a:srgbClr val="D5DCE8"/>
            </a:solidFill>
          </a:ln>
        </p:spPr>
      </p:pic>
      <p:sp>
        <p:nvSpPr>
          <p:cNvPr id="12" name="Rounded Rectangle 11"/>
          <p:cNvSpPr/>
          <p:nvPr/>
        </p:nvSpPr>
        <p:spPr>
          <a:xfrm>
            <a:off x="7315200" y="1371600"/>
            <a:ext cx="4389120" cy="38404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lnSpc>
                <a:spcPct val="110000"/>
              </a:lnSpc>
            </a:pPr>
            <a:r>
              <a:rPr sz="1800" b="1">
                <a:solidFill>
                  <a:srgbClr val="17325C"/>
                </a:solidFill>
                <a:latin typeface="Helvetica Neue"/>
                <a:cs typeface="Apple SD Gothic Neo"/>
                <a:ea typeface="Apple SD Gothic Neo"/>
              </a:rPr>
              <a:t>점검 규칙 (결정은 규칙이)</a:t>
            </a:r>
          </a:p>
          <a:p>
            <a:pPr algn="l" marL="256032" indent="-256032">
              <a:lnSpc>
                <a:spcPct val="110000"/>
              </a:lnSpc>
              <a:spcBef>
                <a:spcPts val="800"/>
              </a:spcBef>
              <a:buChar char="•"/>
            </a:pPr>
            <a:r>
              <a:rPr sz="1500" b="0">
                <a:solidFill>
                  <a:srgbClr val="1B2433"/>
                </a:solidFill>
                <a:latin typeface="Helvetica Neue"/>
                <a:cs typeface="Apple SD Gothic Neo"/>
                <a:ea typeface="Apple SD Gothic Neo"/>
              </a:rPr>
              <a:t>필수 서류 누락 · 유효기간</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서류 간 회사명 · 사업자등록번호 일치</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표기 차이 허용: 주식회사 / (주) / ㈜</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사업자등록번호 검증숫자</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중복 · 유사 서류(지방세 ≠ 국세)</a:t>
            </a:r>
          </a:p>
          <a:p>
            <a:pPr algn="l" marL="256032" indent="-256032">
              <a:lnSpc>
                <a:spcPct val="110000"/>
              </a:lnSpc>
              <a:spcBef>
                <a:spcPts val="500"/>
              </a:spcBef>
              <a:buChar char="•"/>
            </a:pPr>
            <a:r>
              <a:rPr sz="1500" b="0">
                <a:solidFill>
                  <a:srgbClr val="1B2433"/>
                </a:solidFill>
                <a:latin typeface="Helvetica Neue"/>
                <a:cs typeface="Apple SD Gothic Neo"/>
                <a:ea typeface="Apple SD Gothic Neo"/>
              </a:rPr>
              <a:t>학생: 발급일 90일 이내 · 학번 필수</a:t>
            </a:r>
          </a:p>
        </p:txBody>
      </p:sp>
      <p:sp>
        <p:nvSpPr>
          <p:cNvPr id="13" name="TextBox 12"/>
          <p:cNvSpPr txBox="1"/>
          <p:nvPr/>
        </p:nvSpPr>
        <p:spPr>
          <a:xfrm>
            <a:off x="640080" y="5349240"/>
            <a:ext cx="10972800" cy="914400"/>
          </a:xfrm>
          <a:prstGeom prst="rect">
            <a:avLst/>
          </a:prstGeom>
          <a:noFill/>
        </p:spPr>
        <p:txBody>
          <a:bodyPr wrap="square" anchor="t" lIns="0" rIns="0" tIns="0" bIns="0">
            <a:spAutoFit/>
          </a:bodyPr>
          <a:lstStyle/>
          <a:p>
            <a:pPr algn="l">
              <a:lnSpc>
                <a:spcPct val="110000"/>
              </a:lnSpc>
            </a:pPr>
            <a:r>
              <a:rPr sz="1700" b="1">
                <a:solidFill>
                  <a:srgbClr val="17325C"/>
                </a:solidFill>
                <a:latin typeface="Helvetica Neue"/>
                <a:cs typeface="Apple SD Gothic Neo"/>
                <a:ea typeface="Apple SD Gothic Neo"/>
              </a:rPr>
              <a:t>시연 영상 (60–90초): 정상 → 만료 → 스캔 + 사람 확인 후 제출 가능</a:t>
            </a:r>
          </a:p>
          <a:p>
            <a:pPr algn="l">
              <a:lnSpc>
                <a:spcPct val="110000"/>
              </a:lnSpc>
              <a:spcBef>
                <a:spcPts val="300"/>
              </a:spcBef>
            </a:pPr>
            <a:r>
              <a:rPr sz="1400" b="0">
                <a:solidFill>
                  <a:srgbClr val="1B2433"/>
                </a:solidFill>
                <a:latin typeface="Helvetica Neue"/>
                <a:cs typeface="Apple SD Gothic Neo"/>
                <a:ea typeface="Apple SD Gothic Neo"/>
              </a:rPr>
              <a:t>확인 필요 항목은 원본 위치를 보며 사람이 확인하면 자동으로 다시 점검합니다.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가상 서류 시험: 오독 0건, 잘못된 ‘제출 가능’ 0건 — 단, 표본이 작습니다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5</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Chart 5"/>
          <p:cNvGraphicFramePr>
            <a:graphicFrameLocks noGrp="1"/>
          </p:cNvGraphicFramePr>
          <p:nvPr/>
        </p:nvGraphicFramePr>
        <p:xfrm>
          <a:off x="548640" y="1463040"/>
          <a:ext cx="4572000" cy="420624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463040"/>
            <a:ext cx="6309360" cy="132588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200" b="1">
                <a:solidFill>
                  <a:srgbClr val="0B5D3B"/>
                </a:solidFill>
                <a:latin typeface="Helvetica Neue"/>
                <a:cs typeface="Apple SD Gothic Neo"/>
                <a:ea typeface="Apple SD Gothic Neo"/>
              </a:rPr>
              <a:t>잘못된 ‘제출 가능’  0 / 40  (입력 유형별)</a:t>
            </a:r>
          </a:p>
          <a:p>
            <a:pPr algn="l">
              <a:lnSpc>
                <a:spcPct val="110000"/>
              </a:lnSpc>
              <a:spcBef>
                <a:spcPts val="300"/>
              </a:spcBef>
            </a:pPr>
            <a:r>
              <a:rPr sz="1400" b="0">
                <a:solidFill>
                  <a:srgbClr val="1B2433"/>
                </a:solidFill>
                <a:latin typeface="Helvetica Neue"/>
                <a:cs typeface="Apple SD Gothic Neo"/>
                <a:ea typeface="Apple SD Gothic Neo"/>
              </a:rPr>
              <a:t>‘제출 가능이 아니어야 할’ 제출 40건 중 0건. 95% 신뢰 상한 7.5%</a:t>
            </a:r>
          </a:p>
        </p:txBody>
      </p:sp>
      <p:sp>
        <p:nvSpPr>
          <p:cNvPr id="8" name="Rounded Rectangle 7"/>
          <p:cNvSpPr/>
          <p:nvPr/>
        </p:nvSpPr>
        <p:spPr>
          <a:xfrm>
            <a:off x="5349240" y="2926080"/>
            <a:ext cx="6309360" cy="123444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0B5D3B"/>
                </a:solidFill>
                <a:latin typeface="Helvetica Neue"/>
                <a:cs typeface="Apple SD Gothic Neo"/>
                <a:ea typeface="Apple SD Gothic Neo"/>
              </a:rPr>
              <a:t>주입한 OCR 오류 5,934건 중 1건</a:t>
            </a:r>
          </a:p>
          <a:p>
            <a:pPr algn="l">
              <a:lnSpc>
                <a:spcPct val="110000"/>
              </a:lnSpc>
              <a:spcBef>
                <a:spcPts val="300"/>
              </a:spcBef>
            </a:pPr>
            <a:r>
              <a:rPr sz="1300" b="0">
                <a:solidFill>
                  <a:srgbClr val="1B2433"/>
                </a:solidFill>
                <a:latin typeface="Helvetica Neue"/>
                <a:cs typeface="Apple SD Gothic Neo"/>
                <a:ea typeface="Apple SD Gothic Neo"/>
              </a:rPr>
              <a:t>1건 = 알려진 잔여 위험(H14, 소유자 승인). 나머지 3개 세트(hold-out 3 포함)는 0건, 상한 약 0.2% (같은 원본에서 만든 사례라 낙관적)</a:t>
            </a:r>
          </a:p>
        </p:txBody>
      </p:sp>
      <p:sp>
        <p:nvSpPr>
          <p:cNvPr id="9" name="Rounded Rectangle 8"/>
          <p:cNvSpPr/>
          <p:nvPr/>
        </p:nvSpPr>
        <p:spPr>
          <a:xfrm>
            <a:off x="5349240" y="4297680"/>
            <a:ext cx="6309360" cy="137160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17325C"/>
                </a:solidFill>
                <a:latin typeface="Helvetica Neue"/>
                <a:cs typeface="Apple SD Gothic Neo"/>
                <a:ea typeface="Apple SD Gothic Neo"/>
              </a:rPr>
              <a:t>사람 확인 항목: 11.64 → 3.73 / 3.09</a:t>
            </a:r>
          </a:p>
          <a:p>
            <a:pPr algn="l">
              <a:lnSpc>
                <a:spcPct val="110000"/>
              </a:lnSpc>
              <a:spcBef>
                <a:spcPts val="300"/>
              </a:spcBef>
            </a:pPr>
            <a:r>
              <a:rPr sz="1400" b="0">
                <a:solidFill>
                  <a:srgbClr val="1B2433"/>
                </a:solidFill>
                <a:latin typeface="Helvetica Neue"/>
                <a:cs typeface="Apple SD Gothic Neo"/>
                <a:ea typeface="Apple SD Gothic Neo"/>
              </a:rPr>
              <a:t>스캔·사진 제출 1건당(개발 세트), 68–73% 감소. hold-out 3(한 번 판정): 7.68 / 7.32 → 4.28 / 4.08</a:t>
            </a:r>
          </a:p>
        </p:txBody>
      </p:sp>
      <p:sp>
        <p:nvSpPr>
          <p:cNvPr id="10" name="TextBox 9"/>
          <p:cNvSpPr txBox="1"/>
          <p:nvPr/>
        </p:nvSpPr>
        <p:spPr>
          <a:xfrm>
            <a:off x="640080" y="5760720"/>
            <a:ext cx="10972800" cy="594360"/>
          </a:xfrm>
          <a:prstGeom prst="rect">
            <a:avLst/>
          </a:prstGeom>
          <a:noFill/>
        </p:spPr>
        <p:txBody>
          <a:bodyPr wrap="square" anchor="t" lIns="0" rIns="0" tIns="0" bIns="0">
            <a:spAutoFit/>
          </a:bodyPr>
          <a:lstStyle/>
          <a:p>
            <a:pPr algn="l">
              <a:lnSpc>
                <a:spcPct val="110000"/>
              </a:lnSpc>
            </a:pPr>
            <a:r>
              <a:rPr sz="1400" b="0">
                <a:solidFill>
                  <a:srgbClr val="1B2433"/>
                </a:solidFill>
                <a:latin typeface="Helvetica Neue"/>
                <a:cs typeface="Apple SD Gothic Neo"/>
                <a:ea typeface="Apple SD Gothic Neo"/>
              </a:rPr>
              <a:t>방법: 가상 서류(299 + 279 + 279개 파일) · 고정된 채점기 · 오류 주입 · hold-out 1회 판정.  실제 서류·실사진의 위험은 측정하지 않았습니다.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한계와 병목: 오독이 아니라 ‘확인’, 실제 데이터, 알려진 잔여 위험</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6</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640080" y="1463040"/>
          <a:ext cx="5120640" cy="2267712"/>
        </p:xfrm>
        <a:graphic>
          <a:graphicData uri="http://schemas.openxmlformats.org/drawingml/2006/table">
            <a:tbl>
              <a:tblPr firstRow="1" bandRow="1">
                <a:tableStyleId>{5C22544A-7EE6-4342-B048-85BDC9FD1C3A}</a:tableStyleId>
              </a:tblPr>
              <a:tblGrid>
                <a:gridCol w="2834640"/>
                <a:gridCol w="2286000"/>
              </a:tblGrid>
              <a:tr h="566928">
                <a:tc>
                  <a:txBody>
                    <a:bodyPr/>
                    <a:lstStyle/>
                    <a:p>
                      <a:r>
                        <a:rPr sz="1600" b="1">
                          <a:solidFill>
                            <a:srgbClr val="FFFFFF"/>
                          </a:solidFill>
                          <a:latin typeface="Helvetica Neue"/>
                          <a:cs typeface="Apple SD Gothic Neo"/>
                          <a:ea typeface="Apple SD Gothic Neo"/>
                        </a:rPr>
                        <a:t>필드 (스캔 / 사진)</a:t>
                      </a:r>
                    </a:p>
                  </a:txBody>
                  <a:tcPr anchor="ctr">
                    <a:solidFill>
                      <a:srgbClr val="17325C"/>
                    </a:solidFill>
                  </a:tcPr>
                </a:tc>
                <a:tc>
                  <a:txBody>
                    <a:bodyPr/>
                    <a:lstStyle/>
                    <a:p>
                      <a:r>
                        <a:rPr sz="1600" b="1">
                          <a:solidFill>
                            <a:srgbClr val="FFFFFF"/>
                          </a:solidFill>
                          <a:latin typeface="Helvetica Neue"/>
                          <a:cs typeface="Apple SD Gothic Neo"/>
                          <a:ea typeface="Apple SD Gothic Neo"/>
                        </a:rPr>
                        <a:t>정확</a:t>
                      </a:r>
                    </a:p>
                  </a:txBody>
                  <a:tcPr anchor="ctr">
                    <a:solidFill>
                      <a:srgbClr val="17325C"/>
                    </a:solidFill>
                  </a:tcPr>
                </a:tc>
              </a:tr>
              <a:tr h="566928">
                <a:tc>
                  <a:txBody>
                    <a:bodyPr/>
                    <a:lstStyle/>
                    <a:p>
                      <a:r>
                        <a:rPr sz="1600" b="0">
                          <a:solidFill>
                            <a:srgbClr val="1B2433"/>
                          </a:solidFill>
                          <a:latin typeface="Helvetica Neue"/>
                          <a:cs typeface="Apple SD Gothic Neo"/>
                          <a:ea typeface="Apple SD Gothic Neo"/>
                        </a:rPr>
                        <a:t>사업자등록번호</a:t>
                      </a:r>
                    </a:p>
                  </a:txBody>
                  <a:tcPr anchor="ctr">
                    <a:solidFill>
                      <a:srgbClr val="FFFFFF"/>
                    </a:solidFill>
                  </a:tcPr>
                </a:tc>
                <a:tc>
                  <a:txBody>
                    <a:bodyPr/>
                    <a:lstStyle/>
                    <a:p>
                      <a:r>
                        <a:rPr sz="1600" b="0">
                          <a:solidFill>
                            <a:srgbClr val="1B2433"/>
                          </a:solidFill>
                          <a:latin typeface="Helvetica Neue"/>
                          <a:cs typeface="Apple SD Gothic Neo"/>
                          <a:ea typeface="Apple SD Gothic Neo"/>
                        </a:rPr>
                        <a:t>160/160 · 159/160</a:t>
                      </a:r>
                    </a:p>
                  </a:txBody>
                  <a:tcPr anchor="ctr">
                    <a:solidFill>
                      <a:srgbClr val="FFFFFF"/>
                    </a:solidFill>
                  </a:tcPr>
                </a:tc>
              </a:tr>
              <a:tr h="566928">
                <a:tc>
                  <a:txBody>
                    <a:bodyPr/>
                    <a:lstStyle/>
                    <a:p>
                      <a:r>
                        <a:rPr sz="1600" b="0">
                          <a:solidFill>
                            <a:srgbClr val="1B2433"/>
                          </a:solidFill>
                          <a:latin typeface="Helvetica Neue"/>
                          <a:cs typeface="Apple SD Gothic Neo"/>
                          <a:ea typeface="Apple SD Gothic Neo"/>
                        </a:rPr>
                        <a:t>날짜 3종 (스캔)</a:t>
                      </a:r>
                    </a:p>
                  </a:txBody>
                  <a:tcPr anchor="ctr">
                    <a:solidFill>
                      <a:srgbClr val="F4F7FB"/>
                    </a:solidFill>
                  </a:tcPr>
                </a:tc>
                <a:tc>
                  <a:txBody>
                    <a:bodyPr/>
                    <a:lstStyle/>
                    <a:p>
                      <a:r>
                        <a:rPr sz="1600" b="0">
                          <a:solidFill>
                            <a:srgbClr val="1B2433"/>
                          </a:solidFill>
                          <a:latin typeface="Helvetica Neue"/>
                          <a:cs typeface="Apple SD Gothic Neo"/>
                          <a:ea typeface="Apple SD Gothic Neo"/>
                        </a:rPr>
                        <a:t>208/212</a:t>
                      </a:r>
                    </a:p>
                  </a:txBody>
                  <a:tcPr anchor="ctr">
                    <a:solidFill>
                      <a:srgbClr val="F4F7FB"/>
                    </a:solidFill>
                  </a:tcPr>
                </a:tc>
              </a:tr>
              <a:tr h="566928">
                <a:tc>
                  <a:txBody>
                    <a:bodyPr/>
                    <a:lstStyle/>
                    <a:p>
                      <a:r>
                        <a:rPr sz="1600" b="1">
                          <a:solidFill>
                            <a:srgbClr val="6B4300"/>
                          </a:solidFill>
                          <a:latin typeface="Helvetica Neue"/>
                          <a:cs typeface="Apple SD Gothic Neo"/>
                          <a:ea typeface="Apple SD Gothic Neo"/>
                        </a:rPr>
                        <a:t>대학명 (스캔 / 사진)</a:t>
                      </a:r>
                    </a:p>
                  </a:txBody>
                  <a:tcPr anchor="ctr">
                    <a:solidFill>
                      <a:srgbClr val="FFF1CC"/>
                    </a:solidFill>
                  </a:tcPr>
                </a:tc>
                <a:tc>
                  <a:txBody>
                    <a:bodyPr/>
                    <a:lstStyle/>
                    <a:p>
                      <a:r>
                        <a:rPr sz="1600" b="1">
                          <a:solidFill>
                            <a:srgbClr val="6B4300"/>
                          </a:solidFill>
                          <a:latin typeface="Helvetica Neue"/>
                          <a:cs typeface="Apple SD Gothic Neo"/>
                          <a:ea typeface="Apple SD Gothic Neo"/>
                        </a:rPr>
                        <a:t>56/58 · 57/58</a:t>
                      </a:r>
                    </a:p>
                  </a:txBody>
                  <a:tcPr anchor="ctr">
                    <a:solidFill>
                      <a:srgbClr val="FFF1CC"/>
                    </a:solidFill>
                  </a:tcPr>
                </a:tc>
              </a:tr>
            </a:tbl>
          </a:graphicData>
        </a:graphic>
      </p:graphicFrame>
      <p:sp>
        <p:nvSpPr>
          <p:cNvPr id="7" name="Rounded Rectangle 6"/>
          <p:cNvSpPr/>
          <p:nvPr/>
        </p:nvSpPr>
        <p:spPr>
          <a:xfrm>
            <a:off x="640080" y="3931920"/>
            <a:ext cx="5120640" cy="173736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1700" b="1">
                <a:solidFill>
                  <a:srgbClr val="17325C"/>
                </a:solidFill>
                <a:latin typeface="Helvetica Neue"/>
                <a:cs typeface="Apple SD Gothic Neo"/>
                <a:ea typeface="Apple SD Gothic Neo"/>
              </a:rPr>
              <a:t>왜 OCR 품질이 중요한가</a:t>
            </a:r>
          </a:p>
          <a:p>
            <a:pPr algn="l">
              <a:lnSpc>
                <a:spcPct val="110000"/>
              </a:lnSpc>
              <a:spcBef>
                <a:spcPts val="400"/>
              </a:spcBef>
            </a:pPr>
            <a:r>
              <a:rPr sz="1400" b="0">
                <a:solidFill>
                  <a:srgbClr val="1B2433"/>
                </a:solidFill>
                <a:latin typeface="Helvetica Neue"/>
                <a:cs typeface="Apple SD Gothic Neo"/>
                <a:ea typeface="Apple SD Gothic Neo"/>
              </a:rPr>
              <a:t>한 자리 오독이 만료·불일치 판단을 바꿉니다. 그래서 독립 확인 없이는 자동 수용하지 않습니다.</a:t>
            </a:r>
          </a:p>
        </p:txBody>
      </p:sp>
      <p:sp>
        <p:nvSpPr>
          <p:cNvPr id="8" name="Rounded Rectangle 7"/>
          <p:cNvSpPr/>
          <p:nvPr/>
        </p:nvSpPr>
        <p:spPr>
          <a:xfrm>
            <a:off x="6126480" y="1463040"/>
            <a:ext cx="5577840" cy="420624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lnSpc>
                <a:spcPct val="110000"/>
              </a:lnSpc>
            </a:pPr>
            <a:r>
              <a:rPr sz="1800" b="1">
                <a:solidFill>
                  <a:srgbClr val="6B4300"/>
                </a:solidFill>
                <a:latin typeface="Helvetica Neue"/>
                <a:cs typeface="Apple SD Gothic Neo"/>
                <a:ea typeface="Apple SD Gothic Neo"/>
              </a:rPr>
              <a:t>남은 한계</a:t>
            </a:r>
          </a:p>
          <a:p>
            <a:pPr algn="l" marL="256032" indent="-256032">
              <a:lnSpc>
                <a:spcPct val="110000"/>
              </a:lnSpc>
              <a:spcBef>
                <a:spcPts val="800"/>
              </a:spcBef>
              <a:buChar char="•"/>
            </a:pPr>
            <a:r>
              <a:rPr sz="1400" b="0">
                <a:solidFill>
                  <a:srgbClr val="1B2433"/>
                </a:solidFill>
                <a:latin typeface="Helvetica Neue"/>
                <a:cs typeface="Apple SD Gothic Neo"/>
                <a:ea typeface="Apple SD Gothic Neo"/>
              </a:rPr>
              <a:t>스캔 제출 22건 중 사람 없이 끝난 것은 4건 (v2: 1건): 독립 확인 정책 때문</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대학명 추출 수정: 21/58 → 56/58. 남은 2건은 ‘교’를 OCR이 잘못 읽은 경우</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가상·깨끗한 데이터: 실사진·실제 서류는 측정하지 않음</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PDF 숨은 글자는 무시하고 ‘확인 필요’로 표시 (조작 705건 중 0건 놓침). 위·변조 여부 자체는 판단하지 못함</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SQLite로만 시험, 로그인·관리자 화면 없음</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hold-out 3은 한 번만 판정함 (스캔 97.5%, 거짓 ‘제출 가능’ 0건)</a:t>
            </a:r>
          </a:p>
        </p:txBody>
      </p:sp>
      <p:sp>
        <p:nvSpPr>
          <p:cNvPr id="9" name="TextBox 8"/>
          <p:cNvSpPr txBox="1"/>
          <p:nvPr/>
        </p:nvSpPr>
        <p:spPr>
          <a:xfrm>
            <a:off x="640080" y="5806440"/>
            <a:ext cx="10972800" cy="548640"/>
          </a:xfrm>
          <a:prstGeom prst="rect">
            <a:avLst/>
          </a:prstGeom>
          <a:noFill/>
        </p:spPr>
        <p:txBody>
          <a:bodyPr wrap="square" anchor="t" lIns="0" rIns="0" tIns="0" bIns="0">
            <a:spAutoFit/>
          </a:bodyPr>
          <a:lstStyle/>
          <a:p>
            <a:pPr algn="l">
              <a:lnSpc>
                <a:spcPct val="110000"/>
              </a:lnSpc>
            </a:pPr>
            <a:r>
              <a:rPr sz="1500" b="1">
                <a:solidFill>
                  <a:srgbClr val="17325C"/>
                </a:solidFill>
                <a:latin typeface="Helvetica Neue"/>
                <a:cs typeface="Apple SD Gothic Neo"/>
                <a:ea typeface="Apple SD Gothic Neo"/>
              </a:rPr>
              <a:t>증거: 인식은 가상 데이터에서 거의 정확합니다. 병목은 ① 독립 확인 ② 실제 데이터 부재 ③ 알려진 잔여 위험(H14).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OCR · PaddleOCR-VL · 하이브리드: 공정한 비교, 10월에는 통합하지 않음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7</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548640" y="1371600"/>
          <a:ext cx="11155680" cy="3291840"/>
        </p:xfrm>
        <a:graphic>
          <a:graphicData uri="http://schemas.openxmlformats.org/drawingml/2006/table">
            <a:tbl>
              <a:tblPr firstRow="1" bandRow="1">
                <a:tableStyleId>{5C22544A-7EE6-4342-B048-85BDC9FD1C3A}</a:tableStyleId>
              </a:tblPr>
              <a:tblGrid>
                <a:gridCol w="2286000"/>
                <a:gridCol w="3566160"/>
                <a:gridCol w="2194560"/>
                <a:gridCol w="1097280"/>
                <a:gridCol w="2011680"/>
              </a:tblGrid>
              <a:tr h="457200">
                <a:tc>
                  <a:txBody>
                    <a:bodyPr/>
                    <a:lstStyle/>
                    <a:p>
                      <a:r>
                        <a:rPr sz="1300" b="1">
                          <a:solidFill>
                            <a:srgbClr val="FFFFFF"/>
                          </a:solidFill>
                          <a:latin typeface="Helvetica Neue"/>
                          <a:cs typeface="Apple SD Gothic Neo"/>
                          <a:ea typeface="Apple SD Gothic Neo"/>
                        </a:rPr>
                        <a:t>접근</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지금 있는 근거</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주요 위험</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10월</a:t>
                      </a:r>
                    </a:p>
                  </a:txBody>
                  <a:tcPr anchor="ctr" marL="73152" marR="73152">
                    <a:solidFill>
                      <a:srgbClr val="17325C"/>
                    </a:solidFill>
                  </a:tcPr>
                </a:tc>
                <a:tc>
                  <a:txBody>
                    <a:bodyPr/>
                    <a:lstStyle/>
                    <a:p>
                      <a:r>
                        <a:rPr sz="1300" b="1">
                          <a:solidFill>
                            <a:srgbClr val="FFFFFF"/>
                          </a:solidFill>
                          <a:latin typeface="Helvetica Neue"/>
                          <a:cs typeface="Apple SD Gothic Neo"/>
                          <a:ea typeface="Apple SD Gothic Neo"/>
                        </a:rPr>
                        <a:t>11월 → 12월</a:t>
                      </a:r>
                    </a:p>
                  </a:txBody>
                  <a:tcPr anchor="ctr" marL="73152" marR="73152">
                    <a:solidFill>
                      <a:srgbClr val="17325C"/>
                    </a:solidFill>
                  </a:tcPr>
                </a:tc>
              </a:tr>
              <a:tr h="566928">
                <a:tc>
                  <a:txBody>
                    <a:bodyPr/>
                    <a:lstStyle/>
                    <a:p>
                      <a:r>
                        <a:rPr sz="1200" b="1">
                          <a:solidFill>
                            <a:srgbClr val="1B2433"/>
                          </a:solidFill>
                          <a:latin typeface="Helvetica Neue"/>
                          <a:cs typeface="Apple SD Gothic Neo"/>
                          <a:ea typeface="Apple SD Gothic Neo"/>
                        </a:rPr>
                        <a:t>A 기존 OCR (PP-OCRv5)</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가상 데이터 실측(앞 슬라이드)</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실사진 미측정</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유지</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기준선 → 유지</a:t>
                      </a:r>
                    </a:p>
                  </a:txBody>
                  <a:tcPr anchor="ctr" marL="73152" marR="73152">
                    <a:solidFill>
                      <a:srgbClr val="FFFFFF"/>
                    </a:solidFill>
                  </a:tcPr>
                </a:tc>
              </a:tr>
              <a:tr h="566928">
                <a:tc>
                  <a:txBody>
                    <a:bodyPr/>
                    <a:lstStyle/>
                    <a:p>
                      <a:r>
                        <a:rPr sz="1200" b="1">
                          <a:solidFill>
                            <a:srgbClr val="1B2433"/>
                          </a:solidFill>
                          <a:latin typeface="Helvetica Neue"/>
                          <a:cs typeface="Apple SD Gothic Neo"/>
                          <a:ea typeface="Apple SD Gothic Neo"/>
                        </a:rPr>
                        <a:t>B PaddleOCR-VL 단독</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없음. 공식: 약 0.9B, 109개 언어(한국어 포함), Apache-2.0</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숫자 환각, 불확실성 신호 없음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통합 안 함</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격리 PoC만 → 현 근거로는 채택 안 함</a:t>
                      </a:r>
                    </a:p>
                  </a:txBody>
                  <a:tcPr anchor="ctr" marL="73152" marR="73152">
                    <a:solidFill>
                      <a:srgbClr val="F4F7FB"/>
                    </a:solidFill>
                  </a:tcPr>
                </a:tc>
              </a:tr>
              <a:tr h="566928">
                <a:tc>
                  <a:txBody>
                    <a:bodyPr/>
                    <a:lstStyle/>
                    <a:p>
                      <a:r>
                        <a:rPr sz="1200" b="1">
                          <a:solidFill>
                            <a:srgbClr val="1B2433"/>
                          </a:solidFill>
                          <a:latin typeface="Helvetica Neue"/>
                          <a:cs typeface="Apple SD Gothic Neo"/>
                          <a:ea typeface="Apple SD Gothic Neo"/>
                        </a:rPr>
                        <a:t>C 두 엔진 모두 실행</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없음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오류가 닮았을 수 있음, 지연 증가</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안 함</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오프라인 측정 → 오류가 독립일 때만</a:t>
                      </a:r>
                    </a:p>
                  </a:txBody>
                  <a:tcPr anchor="ctr" marL="73152" marR="73152">
                    <a:solidFill>
                      <a:srgbClr val="FFFFFF"/>
                    </a:solidFill>
                  </a:tcPr>
                </a:tc>
              </a:tr>
              <a:tr h="566928">
                <a:tc>
                  <a:txBody>
                    <a:bodyPr/>
                    <a:lstStyle/>
                    <a:p>
                      <a:r>
                        <a:rPr sz="1200" b="1">
                          <a:solidFill>
                            <a:srgbClr val="1B2433"/>
                          </a:solidFill>
                          <a:latin typeface="Helvetica Neue"/>
                          <a:cs typeface="Apple SD Gothic Neo"/>
                          <a:ea typeface="Apple SD Gothic Neo"/>
                        </a:rPr>
                        <a:t>D OCR + 선택적 VLM</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라우팅 신호는 있음(정책 결과, 신뢰도는 부적합)</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독립성 미검증</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안 함</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격리 PoC → 조건부 채택</a:t>
                      </a:r>
                    </a:p>
                  </a:txBody>
                  <a:tcPr anchor="ctr" marL="73152" marR="73152">
                    <a:solidFill>
                      <a:srgbClr val="F4F7FB"/>
                    </a:solidFill>
                  </a:tcPr>
                </a:tc>
              </a:tr>
              <a:tr h="566928">
                <a:tc>
                  <a:txBody>
                    <a:bodyPr/>
                    <a:lstStyle/>
                    <a:p>
                      <a:r>
                        <a:rPr sz="1200" b="1">
                          <a:solidFill>
                            <a:srgbClr val="1B2433"/>
                          </a:solidFill>
                          <a:latin typeface="Helvetica Neue"/>
                          <a:cs typeface="Apple SD Gothic Neo"/>
                          <a:ea typeface="Apple SD Gothic Neo"/>
                        </a:rPr>
                        <a:t>E 규칙·검토 개선</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글자층·대학명 결함 수정, D3 병합</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낮음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v3에 구현됨</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측정 확대 → 계속</a:t>
                      </a:r>
                    </a:p>
                  </a:txBody>
                  <a:tcPr anchor="ctr" marL="73152" marR="73152">
                    <a:solidFill>
                      <a:srgbClr val="FFFFFF"/>
                    </a:solidFill>
                  </a:tcPr>
                </a:tc>
              </a:tr>
            </a:tbl>
          </a:graphicData>
        </a:graphic>
      </p:graphicFrame>
      <p:sp>
        <p:nvSpPr>
          <p:cNvPr id="7" name="Rounded Rectangle 6"/>
          <p:cNvSpPr/>
          <p:nvPr/>
        </p:nvSpPr>
        <p:spPr>
          <a:xfrm>
            <a:off x="548640" y="4983480"/>
            <a:ext cx="11155680" cy="132588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1500" b="1">
                <a:solidFill>
                  <a:srgbClr val="17325C"/>
                </a:solidFill>
                <a:latin typeface="Helvetica Neue"/>
                <a:cs typeface="Apple SD Gothic Neo"/>
                <a:ea typeface="Apple SD Gothic Neo"/>
              </a:rPr>
              <a:t>채택 조건 (11월에 숫자를 미리 정함): 같은 문서에서 사람 확인이 줄고, 거짓 ‘제출 가능’ 상한은 그대로이며, 두 판독기의 오류가 독립이고, 속도·장비가 맞을 것.</a:t>
            </a:r>
          </a:p>
          <a:p>
            <a:pPr algn="l">
              <a:lnSpc>
                <a:spcPct val="110000"/>
              </a:lnSpc>
              <a:spcBef>
                <a:spcPts val="400"/>
              </a:spcBef>
            </a:pPr>
            <a:r>
              <a:rPr sz="1400" b="0">
                <a:solidFill>
                  <a:srgbClr val="1B2433"/>
                </a:solidFill>
                <a:latin typeface="Helvetica Neue"/>
                <a:cs typeface="Apple SD Gothic Neo"/>
                <a:ea typeface="Apple SD Gothic Neo"/>
              </a:rPr>
              <a:t>VLM은 이번 버전에 통합하지도, 직접 측정하지도 않았습니다. 한국어 증명서 정확도·지연·메모리는 측정 전까지 알 수 없습니다.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700" b="1">
                <a:solidFill>
                  <a:srgbClr val="17325C"/>
                </a:solidFill>
                <a:latin typeface="Helvetica Neue"/>
                <a:cs typeface="Apple SD Gothic Neo"/>
                <a:ea typeface="Apple SD Gothic Neo"/>
              </a:rPr>
              <a:t>계획과 결론: 안전하게 기권하는 시스템, 증거로 다음 단계를 결정</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8</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417320"/>
            <a:ext cx="3566160" cy="54864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10월</a:t>
            </a:r>
          </a:p>
        </p:txBody>
      </p:sp>
      <p:sp>
        <p:nvSpPr>
          <p:cNvPr id="7" name="Rounded Rectangle 6"/>
          <p:cNvSpPr/>
          <p:nvPr/>
        </p:nvSpPr>
        <p:spPr>
          <a:xfrm>
            <a:off x="640080"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발표 빌드 v3 고정(재현 시연)</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글자층·대학명 수정, D3 병합</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hold-out 3 한 번 판정 완료</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문서·슬라이드를 코드와 일치</a:t>
            </a:r>
          </a:p>
        </p:txBody>
      </p:sp>
      <p:sp>
        <p:nvSpPr>
          <p:cNvPr id="8" name="Rounded Rectangle 7"/>
          <p:cNvSpPr/>
          <p:nvPr/>
        </p:nvSpPr>
        <p:spPr>
          <a:xfrm>
            <a:off x="4389120" y="1417320"/>
            <a:ext cx="3566160" cy="548640"/>
          </a:xfrm>
          <a:prstGeom prst="roundRect">
            <a:avLst>
              <a:gd name="adj" fmla="val 8000"/>
            </a:avLst>
          </a:prstGeom>
          <a:solidFill>
            <a:srgbClr val="0F6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11월</a:t>
            </a:r>
          </a:p>
        </p:txBody>
      </p:sp>
      <p:sp>
        <p:nvSpPr>
          <p:cNvPr id="9" name="Rounded Rectangle 8"/>
          <p:cNvSpPr/>
          <p:nvPr/>
        </p:nvSpPr>
        <p:spPr>
          <a:xfrm>
            <a:off x="4389120"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기준선 측정(분모·상한)</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실사진 말뭉치 + 정답</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검토자·관리자 화면, 실제 서류 파일럿</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잔여 위험(H14) 설계 검토</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2차 중간발표: PaddleOCR-VL 선택적 검증 실험 — 기존 OCR과 동일 데이터로 비교 (정확도, 오류 상관, 자동화 효과, 속도)</a:t>
            </a:r>
          </a:p>
        </p:txBody>
      </p:sp>
      <p:sp>
        <p:nvSpPr>
          <p:cNvPr id="10" name="Rounded Rectangle 9"/>
          <p:cNvSpPr/>
          <p:nvPr/>
        </p:nvSpPr>
        <p:spPr>
          <a:xfrm>
            <a:off x="8138159" y="1417320"/>
            <a:ext cx="3566160" cy="548640"/>
          </a:xfrm>
          <a:prstGeom prst="roundRect">
            <a:avLst>
              <a:gd name="adj" fmla="val 8000"/>
            </a:avLst>
          </a:prstGeom>
          <a:solidFill>
            <a:srgbClr val="5B3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2000" b="1">
                <a:solidFill>
                  <a:srgbClr val="FFFFFF"/>
                </a:solidFill>
                <a:latin typeface="Helvetica Neue"/>
                <a:cs typeface="Apple SD Gothic Neo"/>
                <a:ea typeface="Apple SD Gothic Neo"/>
              </a:rPr>
              <a:t>12월</a:t>
            </a:r>
          </a:p>
        </p:txBody>
      </p:sp>
      <p:sp>
        <p:nvSpPr>
          <p:cNvPr id="11" name="Rounded Rectangle 10"/>
          <p:cNvSpPr/>
          <p:nvPr/>
        </p:nvSpPr>
        <p:spPr>
          <a:xfrm>
            <a:off x="8138159" y="2057400"/>
            <a:ext cx="3566160" cy="301752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200"/>
              </a:spcBef>
              <a:buChar char="•"/>
            </a:pPr>
            <a:r>
              <a:rPr sz="1400" b="0">
                <a:solidFill>
                  <a:srgbClr val="1B2433"/>
                </a:solidFill>
                <a:latin typeface="Helvetica Neue"/>
                <a:cs typeface="Apple SD Gothic Neo"/>
                <a:ea typeface="Apple SD Gothic Neo"/>
              </a:rPr>
              <a:t>VLM 채택 여부를 증거로 결정</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로그인·접근 제어·개인정보·감사 로그</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E2E 테스트·배포 안내</a:t>
            </a:r>
          </a:p>
          <a:p>
            <a:pPr algn="l" marL="256032" indent="-256032">
              <a:lnSpc>
                <a:spcPct val="110000"/>
              </a:lnSpc>
              <a:spcBef>
                <a:spcPts val="700"/>
              </a:spcBef>
              <a:buChar char="•"/>
            </a:pPr>
            <a:r>
              <a:rPr sz="1400" b="0">
                <a:solidFill>
                  <a:srgbClr val="1B2433"/>
                </a:solidFill>
                <a:latin typeface="Helvetica Neue"/>
                <a:cs typeface="Apple SD Gothic Neo"/>
                <a:ea typeface="Apple SD Gothic Neo"/>
              </a:rPr>
              <a:t>최종 보고서(재현 가능한 지표)</a:t>
            </a:r>
          </a:p>
        </p:txBody>
      </p:sp>
      <p:sp>
        <p:nvSpPr>
          <p:cNvPr id="12" name="Rounded Rectangle 11"/>
          <p:cNvSpPr/>
          <p:nvPr/>
        </p:nvSpPr>
        <p:spPr>
          <a:xfrm>
            <a:off x="640080" y="5257800"/>
            <a:ext cx="10972800" cy="105156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53619" bIns="153619"/>
          <a:lstStyle/>
          <a:p>
            <a:pPr algn="l">
              <a:lnSpc>
                <a:spcPct val="110000"/>
              </a:lnSpc>
            </a:pPr>
            <a:r>
              <a:rPr sz="1600" b="1">
                <a:solidFill>
                  <a:srgbClr val="17325C"/>
                </a:solidFill>
                <a:latin typeface="Helvetica Neue"/>
                <a:cs typeface="Apple SD Gothic Neo"/>
                <a:ea typeface="Apple SD Gothic Neo"/>
              </a:rPr>
              <a:t>결론</a:t>
            </a:r>
          </a:p>
          <a:p>
            <a:pPr algn="l">
              <a:lnSpc>
                <a:spcPct val="110000"/>
              </a:lnSpc>
              <a:spcBef>
                <a:spcPts val="300"/>
              </a:spcBef>
            </a:pPr>
            <a:r>
              <a:rPr sz="1500" b="0">
                <a:solidFill>
                  <a:srgbClr val="1B2433"/>
                </a:solidFill>
                <a:latin typeface="Helvetica Neue"/>
                <a:cs typeface="Apple SD Gothic Neo"/>
                <a:ea typeface="Apple SD Gothic Neo"/>
              </a:rPr>
              <a:t>ADVS의 강점은 가상 데이터에서 검증한 ‘안전한 기권’입니다. 다음 단계는 모델을 더하는 것이 아니라, 실제 데이터와 증거로 병목을 확인하는 것입니다.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결과는 세 가지: 무엇을 해야 하는지 바로 보입니다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9</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673352"/>
            <a:ext cx="19202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0B5D3B"/>
                </a:solidFill>
                <a:latin typeface="Helvetica Neue"/>
                <a:cs typeface="Apple SD Gothic Neo"/>
                <a:ea typeface="Apple SD Gothic Neo"/>
              </a:rPr>
              <a:t>제출 가능</a:t>
            </a:r>
          </a:p>
        </p:txBody>
      </p:sp>
      <p:pic>
        <p:nvPicPr>
          <p:cNvPr id="7" name="Picture 6" descr="hi_banner_D1.png"/>
          <p:cNvPicPr>
            <a:picLocks noChangeAspect="1"/>
          </p:cNvPicPr>
          <p:nvPr/>
        </p:nvPicPr>
        <p:blipFill>
          <a:blip r:embed="rId2"/>
          <a:stretch>
            <a:fillRect/>
          </a:stretch>
        </p:blipFill>
        <p:spPr>
          <a:xfrm>
            <a:off x="2788920" y="1325880"/>
            <a:ext cx="4754880" cy="1024128"/>
          </a:xfrm>
          <a:prstGeom prst="rect">
            <a:avLst/>
          </a:prstGeom>
          <a:ln w="12700">
            <a:solidFill>
              <a:srgbClr val="D5DCE8"/>
            </a:solidFill>
          </a:ln>
        </p:spPr>
      </p:pic>
      <p:sp>
        <p:nvSpPr>
          <p:cNvPr id="8" name="TextBox 7"/>
          <p:cNvSpPr txBox="1"/>
          <p:nvPr/>
        </p:nvSpPr>
        <p:spPr>
          <a:xfrm>
            <a:off x="7772400" y="1325880"/>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모든 서류가 있고, 유효하고, 서로 일치</a:t>
            </a:r>
          </a:p>
          <a:p>
            <a:pPr algn="l">
              <a:lnSpc>
                <a:spcPct val="110000"/>
              </a:lnSpc>
              <a:spcBef>
                <a:spcPts val="400"/>
              </a:spcBef>
            </a:pPr>
            <a:r>
              <a:rPr sz="1400" b="0">
                <a:solidFill>
                  <a:srgbClr val="4A5872"/>
                </a:solidFill>
                <a:latin typeface="Helvetica Neue"/>
                <a:cs typeface="Apple SD Gothic Neo"/>
                <a:ea typeface="Apple SD Gothic Neo"/>
              </a:rPr>
              <a:t>예: 정상 제출 (D1)</a:t>
            </a:r>
          </a:p>
        </p:txBody>
      </p:sp>
      <p:sp>
        <p:nvSpPr>
          <p:cNvPr id="9" name="Rounded Rectangle 8"/>
          <p:cNvSpPr/>
          <p:nvPr/>
        </p:nvSpPr>
        <p:spPr>
          <a:xfrm>
            <a:off x="640080" y="2953511"/>
            <a:ext cx="192024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8C1D18"/>
                </a:solidFill>
                <a:latin typeface="Helvetica Neue"/>
                <a:cs typeface="Apple SD Gothic Neo"/>
                <a:ea typeface="Apple SD Gothic Neo"/>
              </a:rPr>
              <a:t>보완 필요</a:t>
            </a:r>
          </a:p>
        </p:txBody>
      </p:sp>
      <p:pic>
        <p:nvPicPr>
          <p:cNvPr id="10" name="Picture 9" descr="hi_banner_D2.png"/>
          <p:cNvPicPr>
            <a:picLocks noChangeAspect="1"/>
          </p:cNvPicPr>
          <p:nvPr/>
        </p:nvPicPr>
        <p:blipFill>
          <a:blip r:embed="rId3"/>
          <a:stretch>
            <a:fillRect/>
          </a:stretch>
        </p:blipFill>
        <p:spPr>
          <a:xfrm>
            <a:off x="2788920" y="2606039"/>
            <a:ext cx="4754880" cy="1024128"/>
          </a:xfrm>
          <a:prstGeom prst="rect">
            <a:avLst/>
          </a:prstGeom>
          <a:ln w="12700">
            <a:solidFill>
              <a:srgbClr val="D5DCE8"/>
            </a:solidFill>
          </a:ln>
        </p:spPr>
      </p:pic>
      <p:sp>
        <p:nvSpPr>
          <p:cNvPr id="11" name="TextBox 10"/>
          <p:cNvSpPr txBox="1"/>
          <p:nvPr/>
        </p:nvSpPr>
        <p:spPr>
          <a:xfrm>
            <a:off x="7772400" y="2606039"/>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고쳐야 할 문제가 확인됨</a:t>
            </a:r>
          </a:p>
          <a:p>
            <a:pPr algn="l">
              <a:lnSpc>
                <a:spcPct val="110000"/>
              </a:lnSpc>
              <a:spcBef>
                <a:spcPts val="400"/>
              </a:spcBef>
            </a:pPr>
            <a:r>
              <a:rPr sz="1400" b="0">
                <a:solidFill>
                  <a:srgbClr val="4A5872"/>
                </a:solidFill>
                <a:latin typeface="Helvetica Neue"/>
                <a:cs typeface="Apple SD Gothic Neo"/>
                <a:ea typeface="Apple SD Gothic Neo"/>
              </a:rPr>
              <a:t>예: 납세증명서 유효기간 2026. 08. 31. 만료 (D2)</a:t>
            </a:r>
          </a:p>
        </p:txBody>
      </p:sp>
      <p:sp>
        <p:nvSpPr>
          <p:cNvPr id="12" name="Rounded Rectangle 11"/>
          <p:cNvSpPr/>
          <p:nvPr/>
        </p:nvSpPr>
        <p:spPr>
          <a:xfrm>
            <a:off x="640080" y="4233672"/>
            <a:ext cx="192024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2000" b="1">
                <a:solidFill>
                  <a:srgbClr val="6B4300"/>
                </a:solidFill>
                <a:latin typeface="Helvetica Neue"/>
                <a:cs typeface="Apple SD Gothic Neo"/>
                <a:ea typeface="Apple SD Gothic Neo"/>
              </a:rPr>
              <a:t>확인 필요</a:t>
            </a:r>
          </a:p>
        </p:txBody>
      </p:sp>
      <p:pic>
        <p:nvPicPr>
          <p:cNvPr id="13" name="Picture 12" descr="hi_banner_D9.png"/>
          <p:cNvPicPr>
            <a:picLocks noChangeAspect="1"/>
          </p:cNvPicPr>
          <p:nvPr/>
        </p:nvPicPr>
        <p:blipFill>
          <a:blip r:embed="rId4"/>
          <a:stretch>
            <a:fillRect/>
          </a:stretch>
        </p:blipFill>
        <p:spPr>
          <a:xfrm>
            <a:off x="2788920" y="3886200"/>
            <a:ext cx="4754880" cy="1024128"/>
          </a:xfrm>
          <a:prstGeom prst="rect">
            <a:avLst/>
          </a:prstGeom>
          <a:ln w="12700">
            <a:solidFill>
              <a:srgbClr val="D5DCE8"/>
            </a:solidFill>
          </a:ln>
        </p:spPr>
      </p:pic>
      <p:sp>
        <p:nvSpPr>
          <p:cNvPr id="14" name="TextBox 13"/>
          <p:cNvSpPr txBox="1"/>
          <p:nvPr/>
        </p:nvSpPr>
        <p:spPr>
          <a:xfrm>
            <a:off x="7772400" y="3886200"/>
            <a:ext cx="3931920" cy="1024128"/>
          </a:xfrm>
          <a:prstGeom prst="rect">
            <a:avLst/>
          </a:prstGeom>
          <a:noFill/>
        </p:spPr>
        <p:txBody>
          <a:bodyPr wrap="square" anchor="ctr" lIns="0" rIns="0" tIns="0" bIns="0">
            <a:spAutoFit/>
          </a:bodyPr>
          <a:lstStyle/>
          <a:p>
            <a:pPr algn="l">
              <a:lnSpc>
                <a:spcPct val="110000"/>
              </a:lnSpc>
            </a:pPr>
            <a:r>
              <a:rPr sz="1600" b="1">
                <a:solidFill>
                  <a:srgbClr val="1B2433"/>
                </a:solidFill>
                <a:latin typeface="Helvetica Neue"/>
                <a:cs typeface="Apple SD Gothic Neo"/>
                <a:ea typeface="Apple SD Gothic Neo"/>
              </a:rPr>
              <a:t>자동으로 판단하기 어려워 사람이 확인</a:t>
            </a:r>
          </a:p>
          <a:p>
            <a:pPr algn="l">
              <a:lnSpc>
                <a:spcPct val="110000"/>
              </a:lnSpc>
              <a:spcBef>
                <a:spcPts val="400"/>
              </a:spcBef>
            </a:pPr>
            <a:r>
              <a:rPr sz="1400" b="0">
                <a:solidFill>
                  <a:srgbClr val="4A5872"/>
                </a:solidFill>
                <a:latin typeface="Helvetica Neue"/>
                <a:cs typeface="Apple SD Gothic Neo"/>
                <a:ea typeface="Apple SD Gothic Neo"/>
              </a:rPr>
              <a:t>예: 스캔 서류의 발급일 2개 항목 (D9)</a:t>
            </a:r>
          </a:p>
        </p:txBody>
      </p:sp>
      <p:sp>
        <p:nvSpPr>
          <p:cNvPr id="15" name="Rounded Rectangle 14"/>
          <p:cNvSpPr/>
          <p:nvPr/>
        </p:nvSpPr>
        <p:spPr>
          <a:xfrm>
            <a:off x="640080" y="5257800"/>
            <a:ext cx="10972800" cy="105156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000" b="1">
                <a:solidFill>
                  <a:srgbClr val="17325C"/>
                </a:solidFill>
                <a:latin typeface="Helvetica Neue"/>
                <a:cs typeface="Apple SD Gothic Neo"/>
                <a:ea typeface="Apple SD Gothic Neo"/>
              </a:rPr>
              <a:t>우선순위: 보완 필요 &gt; 확인 필요 &gt; 제출 가능</a:t>
            </a:r>
          </a:p>
          <a:p>
            <a:pPr algn="l">
              <a:lnSpc>
                <a:spcPct val="110000"/>
              </a:lnSpc>
              <a:spcBef>
                <a:spcPts val="200"/>
              </a:spcBef>
            </a:pPr>
            <a:r>
              <a:rPr sz="1600" b="0">
                <a:solidFill>
                  <a:srgbClr val="1B2433"/>
                </a:solidFill>
                <a:latin typeface="Helvetica Neue"/>
                <a:cs typeface="Apple SD Gothic Neo"/>
                <a:ea typeface="Apple SD Gothic Neo"/>
              </a:rPr>
              <a:t>가장 심각한 상태가 전체 결과가 됩니다. 필수 서류 누락은 다른 무엇보다 우선합니다.</a:t>
            </a:r>
          </a:p>
          <a:p>
            <a:pPr algn="l">
              <a:lnSpc>
                <a:spcPct val="110000"/>
              </a:lnSpc>
              <a:spcBef>
                <a:spcPts val="200"/>
              </a:spcBef>
            </a:pPr>
            <a:r>
              <a:rPr sz="1300" b="0">
                <a:solidFill>
                  <a:srgbClr val="4A5872"/>
                </a:solidFill>
                <a:latin typeface="Helvetica Neue"/>
                <a:cs typeface="Apple SD Gothic Neo"/>
                <a:ea typeface="Apple SD Gothic Neo"/>
              </a:rPr>
              <a:t>(색만이 아니라 글자와 아이콘으로도 구분합니다)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안전 설계: 확실하지 않으면 사람에게 넘깁니다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10</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1  독립 확인이 있어야 자동 수용</a:t>
            </a:r>
          </a:p>
        </p:txBody>
      </p:sp>
      <p:sp>
        <p:nvSpPr>
          <p:cNvPr id="7" name="Rounded Rectangle 6"/>
          <p:cNvSpPr/>
          <p:nvPr/>
        </p:nvSpPr>
        <p:spPr>
          <a:xfrm>
            <a:off x="640080"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OCR 값은 다른 서류·신청 정보와 같을 때만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사업자등록번호는 검증숫자로</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날짜·평점·학번은 두 번째 판독만으로는 불가</a:t>
            </a:r>
          </a:p>
        </p:txBody>
      </p:sp>
      <p:sp>
        <p:nvSpPr>
          <p:cNvPr id="8" name="Rounded Rectangle 7"/>
          <p:cNvSpPr/>
          <p:nvPr/>
        </p:nvSpPr>
        <p:spPr>
          <a:xfrm>
            <a:off x="4389120"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2  근거가 부족하면 ‘확인 필요’</a:t>
            </a:r>
          </a:p>
        </p:txBody>
      </p:sp>
      <p:sp>
        <p:nvSpPr>
          <p:cNvPr id="9" name="Rounded Rectangle 8"/>
          <p:cNvSpPr/>
          <p:nvPr/>
        </p:nvSpPr>
        <p:spPr>
          <a:xfrm>
            <a:off x="4389120"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근거 없는 값을 통과시키지 않습니다</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읽지 못한 필수 항목은 사람에게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경계에 가까운 값도 사람에게</a:t>
            </a:r>
          </a:p>
        </p:txBody>
      </p:sp>
      <p:sp>
        <p:nvSpPr>
          <p:cNvPr id="10" name="Rounded Rectangle 9"/>
          <p:cNvSpPr/>
          <p:nvPr/>
        </p:nvSpPr>
        <p:spPr>
          <a:xfrm>
            <a:off x="8138159" y="1508760"/>
            <a:ext cx="3566160" cy="8686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lnSpc>
                <a:spcPct val="110000"/>
              </a:lnSpc>
            </a:pPr>
            <a:r>
              <a:rPr sz="1900" b="1">
                <a:solidFill>
                  <a:srgbClr val="FFFFFF"/>
                </a:solidFill>
                <a:latin typeface="Helvetica Neue"/>
                <a:cs typeface="Apple SD Gothic Neo"/>
                <a:ea typeface="Apple SD Gothic Neo"/>
              </a:rPr>
              <a:t>3  모르는 서류는 추측하지 않음</a:t>
            </a:r>
          </a:p>
        </p:txBody>
      </p:sp>
      <p:sp>
        <p:nvSpPr>
          <p:cNvPr id="11" name="Rounded Rectangle 10"/>
          <p:cNvSpPr/>
          <p:nvPr/>
        </p:nvSpPr>
        <p:spPr>
          <a:xfrm>
            <a:off x="8138159" y="2514600"/>
            <a:ext cx="3566160" cy="283464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marL="256032" indent="-256032">
              <a:lnSpc>
                <a:spcPct val="110000"/>
              </a:lnSpc>
              <a:spcBef>
                <a:spcPts val="400"/>
              </a:spcBef>
              <a:buChar char="•"/>
            </a:pPr>
            <a:r>
              <a:rPr sz="1600" b="0">
                <a:solidFill>
                  <a:srgbClr val="1B2433"/>
                </a:solidFill>
                <a:latin typeface="Helvetica Neue"/>
                <a:cs typeface="Apple SD Gothic Neo"/>
                <a:ea typeface="Apple SD Gothic Neo"/>
              </a:rPr>
              <a:t>비슷한 서류(지방세 납세증명서)는 종류를 확정하지 않음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‘확인 필요’로 보류, 제출 가능이 되지 않음</a:t>
            </a:r>
          </a:p>
          <a:p>
            <a:pPr algn="l" marL="256032" indent="-256032">
              <a:lnSpc>
                <a:spcPct val="110000"/>
              </a:lnSpc>
              <a:spcBef>
                <a:spcPts val="1000"/>
              </a:spcBef>
              <a:buChar char="•"/>
            </a:pPr>
            <a:r>
              <a:rPr sz="1600" b="0">
                <a:solidFill>
                  <a:srgbClr val="1B2433"/>
                </a:solidFill>
                <a:latin typeface="Helvetica Neue"/>
                <a:cs typeface="Apple SD Gothic Neo"/>
                <a:ea typeface="Apple SD Gothic Neo"/>
              </a:rPr>
              <a:t>다른 서류의 근거로도 쓰지 않음</a:t>
            </a:r>
          </a:p>
        </p:txBody>
      </p:sp>
      <p:sp>
        <p:nvSpPr>
          <p:cNvPr id="12" name="TextBox 11"/>
          <p:cNvSpPr txBox="1"/>
          <p:nvPr/>
        </p:nvSpPr>
        <p:spPr>
          <a:xfrm>
            <a:off x="640080" y="5532120"/>
            <a:ext cx="10972800" cy="731520"/>
          </a:xfrm>
          <a:prstGeom prst="rect">
            <a:avLst/>
          </a:prstGeom>
          <a:noFill/>
        </p:spPr>
        <p:txBody>
          <a:bodyPr wrap="square" anchor="t" lIns="0" rIns="0" tIns="0" bIns="0">
            <a:spAutoFit/>
          </a:bodyPr>
          <a:lstStyle/>
          <a:p>
            <a:pPr algn="l">
              <a:lnSpc>
                <a:spcPct val="110000"/>
              </a:lnSpc>
            </a:pPr>
            <a:r>
              <a:rPr sz="1800" b="1">
                <a:solidFill>
                  <a:srgbClr val="17325C"/>
                </a:solidFill>
                <a:latin typeface="Helvetica Neue"/>
                <a:cs typeface="Apple SD Gothic Neo"/>
                <a:ea typeface="Apple SD Gothic Neo"/>
              </a:rPr>
              <a:t>그 결과: 사람의 확인 부담은 늘지만, 잘못된 ‘제출 가능’은 시험에서 0건이었습니다 (뒤 슬라이드).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이렇게 시험했습니다: 처음 보는 서류, 일부러 넣은 오류</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11</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1</a:t>
            </a:r>
          </a:p>
          <a:p>
            <a:pPr algn="l">
              <a:lnSpc>
                <a:spcPct val="110000"/>
              </a:lnSpc>
              <a:spcBef>
                <a:spcPts val="400"/>
              </a:spcBef>
            </a:pPr>
            <a:r>
              <a:rPr sz="1800" b="1">
                <a:solidFill>
                  <a:srgbClr val="17325C"/>
                </a:solidFill>
                <a:latin typeface="Helvetica Neue"/>
                <a:cs typeface="Apple SD Gothic Neo"/>
                <a:ea typeface="Apple SD Gothic Neo"/>
              </a:rPr>
              <a:t>가상 서류</a:t>
            </a:r>
          </a:p>
          <a:p>
            <a:pPr algn="l">
              <a:lnSpc>
                <a:spcPct val="110000"/>
              </a:lnSpc>
              <a:spcBef>
                <a:spcPts val="800"/>
              </a:spcBef>
            </a:pPr>
            <a:r>
              <a:rPr sz="1400" b="0">
                <a:solidFill>
                  <a:srgbClr val="1B2433"/>
                </a:solidFill>
                <a:latin typeface="Helvetica Neue"/>
                <a:cs typeface="Apple SD Gothic Neo"/>
                <a:ea typeface="Apple SD Gothic Neo"/>
              </a:rPr>
              <a:t>실제 양식 7종을 바탕으로 새로 만든 가상 서류</a:t>
            </a:r>
          </a:p>
          <a:p>
            <a:pPr algn="l">
              <a:lnSpc>
                <a:spcPct val="110000"/>
              </a:lnSpc>
              <a:spcBef>
                <a:spcPts val="800"/>
              </a:spcBef>
            </a:pPr>
            <a:r>
              <a:rPr sz="1400" b="1">
                <a:solidFill>
                  <a:srgbClr val="0F6E7C"/>
                </a:solidFill>
                <a:latin typeface="Helvetica Neue"/>
                <a:cs typeface="Apple SD Gothic Neo"/>
                <a:ea typeface="Apple SD Gothic Neo"/>
              </a:rPr>
              <a:t>개발 세트 299개 파일</a:t>
            </a:r>
          </a:p>
        </p:txBody>
      </p:sp>
      <p:sp>
        <p:nvSpPr>
          <p:cNvPr id="7" name="Right Arrow 6"/>
          <p:cNvSpPr/>
          <p:nvPr/>
        </p:nvSpPr>
        <p:spPr>
          <a:xfrm>
            <a:off x="2670048"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07791"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2</a:t>
            </a:r>
          </a:p>
          <a:p>
            <a:pPr algn="l">
              <a:lnSpc>
                <a:spcPct val="110000"/>
              </a:lnSpc>
              <a:spcBef>
                <a:spcPts val="400"/>
              </a:spcBef>
            </a:pPr>
            <a:r>
              <a:rPr sz="1800" b="1">
                <a:solidFill>
                  <a:srgbClr val="17325C"/>
                </a:solidFill>
                <a:latin typeface="Helvetica Neue"/>
                <a:cs typeface="Apple SD Gothic Neo"/>
                <a:ea typeface="Apple SD Gothic Neo"/>
              </a:rPr>
              <a:t>개발 · 동결 채점기</a:t>
            </a:r>
          </a:p>
          <a:p>
            <a:pPr algn="l">
              <a:lnSpc>
                <a:spcPct val="110000"/>
              </a:lnSpc>
              <a:spcBef>
                <a:spcPts val="800"/>
              </a:spcBef>
            </a:pPr>
            <a:r>
              <a:rPr sz="1400" b="0">
                <a:solidFill>
                  <a:srgbClr val="1B2433"/>
                </a:solidFill>
                <a:latin typeface="Helvetica Neue"/>
                <a:cs typeface="Apple SD Gothic Neo"/>
                <a:ea typeface="Apple SD Gothic Neo"/>
              </a:rPr>
              <a:t>채점기는 고정, 결과는 같은 기준으로 측정</a:t>
            </a:r>
          </a:p>
          <a:p>
            <a:pPr algn="l">
              <a:lnSpc>
                <a:spcPct val="110000"/>
              </a:lnSpc>
              <a:spcBef>
                <a:spcPts val="800"/>
              </a:spcBef>
            </a:pPr>
            <a:r>
              <a:rPr sz="1400" b="1">
                <a:solidFill>
                  <a:srgbClr val="0F6E7C"/>
                </a:solidFill>
                <a:latin typeface="Helvetica Neue"/>
                <a:cs typeface="Apple SD Gothic Neo"/>
                <a:ea typeface="Apple SD Gothic Neo"/>
              </a:rPr>
              <a:t>디지털 · 스캔 · 사진</a:t>
            </a:r>
          </a:p>
        </p:txBody>
      </p:sp>
      <p:sp>
        <p:nvSpPr>
          <p:cNvPr id="9" name="Right Arrow 8"/>
          <p:cNvSpPr/>
          <p:nvPr/>
        </p:nvSpPr>
        <p:spPr>
          <a:xfrm>
            <a:off x="4937760"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75504"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3</a:t>
            </a:r>
          </a:p>
          <a:p>
            <a:pPr algn="l">
              <a:lnSpc>
                <a:spcPct val="110000"/>
              </a:lnSpc>
              <a:spcBef>
                <a:spcPts val="400"/>
              </a:spcBef>
            </a:pPr>
            <a:r>
              <a:rPr sz="1800" b="1">
                <a:solidFill>
                  <a:srgbClr val="17325C"/>
                </a:solidFill>
                <a:latin typeface="Helvetica Neue"/>
                <a:cs typeface="Apple SD Gothic Neo"/>
                <a:ea typeface="Apple SD Gothic Neo"/>
              </a:rPr>
              <a:t>오류 주입</a:t>
            </a:r>
          </a:p>
          <a:p>
            <a:pPr algn="l">
              <a:lnSpc>
                <a:spcPct val="110000"/>
              </a:lnSpc>
              <a:spcBef>
                <a:spcPts val="800"/>
              </a:spcBef>
            </a:pPr>
            <a:r>
              <a:rPr sz="1400" b="0">
                <a:solidFill>
                  <a:srgbClr val="1B2433"/>
                </a:solidFill>
                <a:latin typeface="Helvetica Neue"/>
                <a:cs typeface="Apple SD Gothic Neo"/>
                <a:ea typeface="Apple SD Gothic Neo"/>
              </a:rPr>
              <a:t>OCR 숫자·이름 오독을 일부러 넣어 봄</a:t>
            </a:r>
          </a:p>
          <a:p>
            <a:pPr algn="l">
              <a:lnSpc>
                <a:spcPct val="110000"/>
              </a:lnSpc>
              <a:spcBef>
                <a:spcPts val="800"/>
              </a:spcBef>
            </a:pPr>
            <a:r>
              <a:rPr sz="1400" b="1">
                <a:solidFill>
                  <a:srgbClr val="0F6E7C"/>
                </a:solidFill>
                <a:latin typeface="Helvetica Neue"/>
                <a:cs typeface="Apple SD Gothic Neo"/>
                <a:ea typeface="Apple SD Gothic Neo"/>
              </a:rPr>
              <a:t>E1–E12</a:t>
            </a:r>
          </a:p>
        </p:txBody>
      </p:sp>
      <p:sp>
        <p:nvSpPr>
          <p:cNvPr id="11" name="Right Arrow 10"/>
          <p:cNvSpPr/>
          <p:nvPr/>
        </p:nvSpPr>
        <p:spPr>
          <a:xfrm>
            <a:off x="7205472"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43216"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4</a:t>
            </a:r>
          </a:p>
          <a:p>
            <a:pPr algn="l">
              <a:lnSpc>
                <a:spcPct val="110000"/>
              </a:lnSpc>
              <a:spcBef>
                <a:spcPts val="400"/>
              </a:spcBef>
            </a:pPr>
            <a:r>
              <a:rPr sz="1800" b="1">
                <a:solidFill>
                  <a:srgbClr val="17325C"/>
                </a:solidFill>
                <a:latin typeface="Helvetica Neue"/>
                <a:cs typeface="Apple SD Gothic Neo"/>
                <a:ea typeface="Apple SD Gothic Neo"/>
              </a:rPr>
              <a:t>hold-out 평가</a:t>
            </a:r>
          </a:p>
          <a:p>
            <a:pPr algn="l">
              <a:lnSpc>
                <a:spcPct val="110000"/>
              </a:lnSpc>
              <a:spcBef>
                <a:spcPts val="800"/>
              </a:spcBef>
            </a:pPr>
            <a:r>
              <a:rPr sz="1400" b="0">
                <a:solidFill>
                  <a:srgbClr val="1B2433"/>
                </a:solidFill>
                <a:latin typeface="Helvetica Neue"/>
                <a:cs typeface="Apple SD Gothic Neo"/>
                <a:ea typeface="Apple SD Gothic Neo"/>
              </a:rPr>
              <a:t>처음 보는 서류, 한 번만 판정</a:t>
            </a:r>
          </a:p>
          <a:p>
            <a:pPr algn="l">
              <a:lnSpc>
                <a:spcPct val="110000"/>
              </a:lnSpc>
              <a:spcBef>
                <a:spcPts val="800"/>
              </a:spcBef>
            </a:pPr>
            <a:r>
              <a:rPr sz="1400" b="1">
                <a:solidFill>
                  <a:srgbClr val="0F6E7C"/>
                </a:solidFill>
                <a:latin typeface="Helvetica Neue"/>
                <a:cs typeface="Apple SD Gothic Neo"/>
                <a:ea typeface="Apple SD Gothic Neo"/>
              </a:rPr>
              <a:t>각 279개 파일</a:t>
            </a:r>
          </a:p>
        </p:txBody>
      </p:sp>
      <p:sp>
        <p:nvSpPr>
          <p:cNvPr id="13" name="Right Arrow 12"/>
          <p:cNvSpPr/>
          <p:nvPr/>
        </p:nvSpPr>
        <p:spPr>
          <a:xfrm>
            <a:off x="9473184" y="2788920"/>
            <a:ext cx="237744" cy="27432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10928" y="1600200"/>
            <a:ext cx="2011680" cy="28346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109728"/>
          <a:lstStyle/>
          <a:p>
            <a:pPr algn="l">
              <a:lnSpc>
                <a:spcPct val="110000"/>
              </a:lnSpc>
            </a:pPr>
            <a:r>
              <a:rPr sz="2200" b="1">
                <a:solidFill>
                  <a:srgbClr val="0F6E7C"/>
                </a:solidFill>
                <a:latin typeface="Helvetica Neue"/>
                <a:cs typeface="Apple SD Gothic Neo"/>
                <a:ea typeface="Apple SD Gothic Neo"/>
              </a:rPr>
              <a:t>5</a:t>
            </a:r>
          </a:p>
          <a:p>
            <a:pPr algn="l">
              <a:lnSpc>
                <a:spcPct val="110000"/>
              </a:lnSpc>
              <a:spcBef>
                <a:spcPts val="400"/>
              </a:spcBef>
            </a:pPr>
            <a:r>
              <a:rPr sz="1800" b="1">
                <a:solidFill>
                  <a:srgbClr val="17325C"/>
                </a:solidFill>
                <a:latin typeface="Helvetica Neue"/>
                <a:cs typeface="Apple SD Gothic Neo"/>
                <a:ea typeface="Apple SD Gothic Neo"/>
              </a:rPr>
              <a:t>과적합 검사</a:t>
            </a:r>
          </a:p>
          <a:p>
            <a:pPr algn="l">
              <a:lnSpc>
                <a:spcPct val="110000"/>
              </a:lnSpc>
              <a:spcBef>
                <a:spcPts val="800"/>
              </a:spcBef>
            </a:pPr>
            <a:r>
              <a:rPr sz="1400" b="0">
                <a:solidFill>
                  <a:srgbClr val="1B2433"/>
                </a:solidFill>
                <a:latin typeface="Helvetica Neue"/>
                <a:cs typeface="Apple SD Gothic Neo"/>
                <a:ea typeface="Apple SD Gothic Neo"/>
              </a:rPr>
              <a:t>시험 값이 코드에 들어 있지 않은지 검색</a:t>
            </a:r>
          </a:p>
          <a:p>
            <a:pPr algn="l">
              <a:lnSpc>
                <a:spcPct val="110000"/>
              </a:lnSpc>
              <a:spcBef>
                <a:spcPts val="800"/>
              </a:spcBef>
            </a:pPr>
            <a:r>
              <a:rPr sz="1400" b="1">
                <a:solidFill>
                  <a:srgbClr val="0F6E7C"/>
                </a:solidFill>
                <a:latin typeface="Helvetica Neue"/>
                <a:cs typeface="Apple SD Gothic Neo"/>
                <a:ea typeface="Apple SD Gothic Neo"/>
              </a:rPr>
              <a:t>75개 값 · 0건</a:t>
            </a:r>
          </a:p>
        </p:txBody>
      </p:sp>
      <p:sp>
        <p:nvSpPr>
          <p:cNvPr id="15" name="Rounded Rectangle 14"/>
          <p:cNvSpPr/>
          <p:nvPr/>
        </p:nvSpPr>
        <p:spPr>
          <a:xfrm>
            <a:off x="640080" y="4754880"/>
            <a:ext cx="10972800" cy="1463040"/>
          </a:xfrm>
          <a:prstGeom prst="roundRect">
            <a:avLst>
              <a:gd name="adj" fmla="val 8000"/>
            </a:avLst>
          </a:prstGeom>
          <a:solidFill>
            <a:srgbClr val="FFF1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1700" b="1">
                <a:solidFill>
                  <a:srgbClr val="1B2433"/>
                </a:solidFill>
                <a:latin typeface="Helvetica Neue"/>
                <a:cs typeface="Apple SD Gothic Neo"/>
                <a:ea typeface="Apple SD Gothic Neo"/>
              </a:rPr>
              <a:t>정직하게: 모든 서류는 가상이며 실제 서류의 일부 양식에 기반합니다.</a:t>
            </a:r>
          </a:p>
          <a:p>
            <a:pPr algn="l">
              <a:lnSpc>
                <a:spcPct val="110000"/>
              </a:lnSpc>
              <a:spcBef>
                <a:spcPts val="500"/>
              </a:spcBef>
            </a:pPr>
            <a:r>
              <a:rPr sz="1600" b="0">
                <a:solidFill>
                  <a:srgbClr val="1B2433"/>
                </a:solidFill>
                <a:latin typeface="Helvetica Neue"/>
                <a:cs typeface="Apple SD Gothic Neo"/>
                <a:ea typeface="Apple SD Gothic Neo"/>
              </a:rPr>
              <a:t>hold-out 1은 이후 개발 데이터로 전환했고, 새로 평가한 hold-out 2는 1회만 판정했습니다.</a:t>
            </a:r>
          </a:p>
          <a:p>
            <a:pPr algn="l">
              <a:lnSpc>
                <a:spcPct val="110000"/>
              </a:lnSpc>
              <a:spcBef>
                <a:spcPts val="500"/>
              </a:spcBef>
            </a:pPr>
            <a:r>
              <a:rPr sz="1600" b="0">
                <a:solidFill>
                  <a:srgbClr val="1B2433"/>
                </a:solidFill>
                <a:latin typeface="Helvetica Neue"/>
                <a:cs typeface="Apple SD Gothic Neo"/>
                <a:ea typeface="Apple SD Gothic Neo"/>
              </a:rPr>
              <a:t>독립 감사에서 찾은 결함은 수정 전후를 측정해 확인했습니다.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결과 상세: 디지털 100%, 스캔·사진 사람 확인 68–73% 감소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12</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Chart 5"/>
          <p:cNvGraphicFramePr>
            <a:graphicFrameLocks noGrp="1"/>
          </p:cNvGraphicFramePr>
          <p:nvPr/>
        </p:nvGraphicFramePr>
        <p:xfrm>
          <a:off x="548640" y="1600200"/>
          <a:ext cx="4297680" cy="4023360"/>
        </p:xfrm>
        <a:graphic>
          <a:graphicData uri="http://schemas.openxmlformats.org/drawingml/2006/chart">
            <c:chart xmlns:c="http://schemas.openxmlformats.org/drawingml/2006/chart" r:id="rId2"/>
          </a:graphicData>
        </a:graphic>
      </p:graphicFrame>
      <p:sp>
        <p:nvSpPr>
          <p:cNvPr id="7" name="Rounded Rectangle 6"/>
          <p:cNvSpPr/>
          <p:nvPr/>
        </p:nvSpPr>
        <p:spPr>
          <a:xfrm>
            <a:off x="5074920" y="1600200"/>
            <a:ext cx="2286000" cy="402336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lnSpc>
                <a:spcPct val="110000"/>
              </a:lnSpc>
            </a:pPr>
            <a:r>
              <a:rPr sz="1800" b="1">
                <a:solidFill>
                  <a:srgbClr val="0B5D3B"/>
                </a:solidFill>
                <a:latin typeface="Helvetica Neue"/>
                <a:cs typeface="Apple SD Gothic Neo"/>
                <a:ea typeface="Apple SD Gothic Neo"/>
              </a:rPr>
              <a:t>잘못된</a:t>
            </a:r>
          </a:p>
          <a:p>
            <a:pPr algn="ctr">
              <a:lnSpc>
                <a:spcPct val="110000"/>
              </a:lnSpc>
            </a:pPr>
            <a:r>
              <a:rPr sz="1800" b="1">
                <a:solidFill>
                  <a:srgbClr val="0B5D3B"/>
                </a:solidFill>
                <a:latin typeface="Helvetica Neue"/>
                <a:cs typeface="Apple SD Gothic Neo"/>
                <a:ea typeface="Apple SD Gothic Neo"/>
              </a:rPr>
              <a:t>‘제출 가능’</a:t>
            </a:r>
          </a:p>
          <a:p>
            <a:pPr algn="ctr">
              <a:lnSpc>
                <a:spcPct val="110000"/>
              </a:lnSpc>
              <a:spcBef>
                <a:spcPts val="600"/>
              </a:spcBef>
            </a:pPr>
            <a:r>
              <a:rPr sz="4600" b="1">
                <a:solidFill>
                  <a:srgbClr val="0B5D3B"/>
                </a:solidFill>
                <a:latin typeface="Helvetica Neue"/>
                <a:cs typeface="Apple SD Gothic Neo"/>
                <a:ea typeface="Apple SD Gothic Neo"/>
              </a:rPr>
              <a:t>0 / 40</a:t>
            </a:r>
          </a:p>
          <a:p>
            <a:pPr algn="ctr">
              <a:lnSpc>
                <a:spcPct val="110000"/>
              </a:lnSpc>
              <a:spcBef>
                <a:spcPts val="1000"/>
              </a:spcBef>
            </a:pPr>
            <a:r>
              <a:rPr sz="1300" b="0">
                <a:solidFill>
                  <a:srgbClr val="1B2433"/>
                </a:solidFill>
                <a:latin typeface="Helvetica Neue"/>
                <a:cs typeface="Apple SD Gothic Neo"/>
                <a:ea typeface="Apple SD Gothic Neo"/>
              </a:rPr>
              <a:t>제출 가능이 아니어야 할 제출 40건 중</a:t>
            </a:r>
          </a:p>
          <a:p>
            <a:pPr algn="ctr">
              <a:lnSpc>
                <a:spcPct val="110000"/>
              </a:lnSpc>
              <a:spcBef>
                <a:spcPts val="400"/>
              </a:spcBef>
            </a:pPr>
            <a:r>
              <a:rPr sz="1300" b="0">
                <a:solidFill>
                  <a:srgbClr val="1B2433"/>
                </a:solidFill>
                <a:latin typeface="Helvetica Neue"/>
                <a:cs typeface="Apple SD Gothic Neo"/>
                <a:ea typeface="Apple SD Gothic Neo"/>
              </a:rPr>
              <a:t>95% 신뢰 상한 7.5%</a:t>
            </a:r>
          </a:p>
          <a:p>
            <a:pPr algn="ctr">
              <a:lnSpc>
                <a:spcPct val="110000"/>
              </a:lnSpc>
            </a:pPr>
            <a:r>
              <a:rPr sz="1200" b="0">
                <a:solidFill>
                  <a:srgbClr val="1B2433"/>
                </a:solidFill>
                <a:latin typeface="Helvetica Neue"/>
                <a:cs typeface="Apple SD Gothic Neo"/>
                <a:ea typeface="Apple SD Gothic Neo"/>
              </a:rPr>
              <a:t>주입 오류 0 / 1,354 · 0 / 1,532 · 0 / 1,525</a:t>
            </a:r>
          </a:p>
          <a:p>
            <a:pPr algn="ctr">
              <a:lnSpc>
                <a:spcPct val="110000"/>
              </a:lnSpc>
            </a:pPr>
            <a:r>
              <a:rPr sz="1200" b="0">
                <a:solidFill>
                  <a:srgbClr val="1B2433"/>
                </a:solidFill>
                <a:latin typeface="Helvetica Neue"/>
                <a:cs typeface="Apple SD Gothic Neo"/>
                <a:ea typeface="Apple SD Gothic Neo"/>
              </a:rPr>
              <a:t>(hold-out 2: 1 / 1,523 = H14)</a:t>
            </a:r>
          </a:p>
          <a:p>
            <a:pPr algn="ctr">
              <a:lnSpc>
                <a:spcPct val="110000"/>
              </a:lnSpc>
              <a:spcBef>
                <a:spcPts val="600"/>
              </a:spcBef>
            </a:pPr>
            <a:r>
              <a:rPr sz="1300" b="1">
                <a:solidFill>
                  <a:srgbClr val="1B2433"/>
                </a:solidFill>
                <a:latin typeface="Helvetica Neue"/>
                <a:cs typeface="Apple SD Gothic Neo"/>
                <a:ea typeface="Apple SD Gothic Neo"/>
              </a:rPr>
              <a:t>잘못 자동 수용한 값 0건</a:t>
            </a:r>
          </a:p>
        </p:txBody>
      </p:sp>
      <p:graphicFrame>
        <p:nvGraphicFramePr>
          <p:cNvPr id="8" name="Chart 7"/>
          <p:cNvGraphicFramePr>
            <a:graphicFrameLocks noGrp="1"/>
          </p:cNvGraphicFramePr>
          <p:nvPr/>
        </p:nvGraphicFramePr>
        <p:xfrm>
          <a:off x="7543800" y="1600200"/>
          <a:ext cx="4206240" cy="4023360"/>
        </p:xfrm>
        <a:graphic>
          <a:graphicData uri="http://schemas.openxmlformats.org/drawingml/2006/chart">
            <c:chart xmlns:c="http://schemas.openxmlformats.org/drawingml/2006/chart" r:id="rId3"/>
          </a:graphicData>
        </a:graphic>
      </p:graphicFrame>
      <p:sp>
        <p:nvSpPr>
          <p:cNvPr id="9" name="TextBox 8"/>
          <p:cNvSpPr txBox="1"/>
          <p:nvPr/>
        </p:nvSpPr>
        <p:spPr>
          <a:xfrm>
            <a:off x="548640" y="5715000"/>
            <a:ext cx="11155680" cy="685800"/>
          </a:xfrm>
          <a:prstGeom prst="rect">
            <a:avLst/>
          </a:prstGeom>
          <a:noFill/>
        </p:spPr>
        <p:txBody>
          <a:bodyPr wrap="square" anchor="t" lIns="0" rIns="0" tIns="0" bIns="0">
            <a:spAutoFit/>
          </a:bodyPr>
          <a:lstStyle/>
          <a:p>
            <a:pPr algn="l">
              <a:lnSpc>
                <a:spcPct val="110000"/>
              </a:lnSpc>
            </a:pPr>
            <a:r>
              <a:rPr sz="1500" b="0">
                <a:solidFill>
                  <a:srgbClr val="1B2433"/>
                </a:solidFill>
                <a:latin typeface="Helvetica Neue"/>
                <a:cs typeface="Apple SD Gothic Neo"/>
                <a:ea typeface="Apple SD Gothic Neo"/>
              </a:rPr>
              <a:t>스캔·사진의 사람 확인은 11.64 → 3.73 / 3.09로 68–73% 감소 (v2 빌드는 7.23 / 6.59). D3의 독립 확인을 합쳤고, hold-out 3에서도 7.68 / 7.32 → 4.28 / 4.08입니다.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시험이 알려준 세 가지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13</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508760"/>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1</a:t>
            </a:r>
          </a:p>
        </p:txBody>
      </p:sp>
      <p:sp>
        <p:nvSpPr>
          <p:cNvPr id="7" name="Rounded Rectangle 6"/>
          <p:cNvSpPr/>
          <p:nvPr/>
        </p:nvSpPr>
        <p:spPr>
          <a:xfrm>
            <a:off x="1645920" y="1508760"/>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처음 보는 서류가 과적합을 찾아냈다</a:t>
            </a:r>
          </a:p>
          <a:p>
            <a:pPr algn="l">
              <a:lnSpc>
                <a:spcPct val="110000"/>
              </a:lnSpc>
              <a:spcBef>
                <a:spcPts val="600"/>
              </a:spcBef>
            </a:pPr>
            <a:r>
              <a:rPr sz="1700" b="0">
                <a:solidFill>
                  <a:srgbClr val="1B2433"/>
                </a:solidFill>
                <a:latin typeface="Helvetica Neue"/>
                <a:cs typeface="Apple SD Gothic Neo"/>
                <a:ea typeface="Apple SD Gothic Neo"/>
              </a:rPr>
              <a:t>hold-out 1의 디지털 추출은 174/275 (63%)였습니다. 수정 후 새 hold-out 2에서 275/275.</a:t>
            </a:r>
          </a:p>
        </p:txBody>
      </p:sp>
      <p:sp>
        <p:nvSpPr>
          <p:cNvPr id="8" name="Rounded Rectangle 7"/>
          <p:cNvSpPr/>
          <p:nvPr/>
        </p:nvSpPr>
        <p:spPr>
          <a:xfrm>
            <a:off x="640080" y="3063239"/>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2</a:t>
            </a:r>
          </a:p>
        </p:txBody>
      </p:sp>
      <p:sp>
        <p:nvSpPr>
          <p:cNvPr id="9" name="Rounded Rectangle 8"/>
          <p:cNvSpPr/>
          <p:nvPr/>
        </p:nvSpPr>
        <p:spPr>
          <a:xfrm>
            <a:off x="1645920" y="3063239"/>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잘못된 ‘제출 가능’ 1건을 찾아 고쳤다</a:t>
            </a:r>
          </a:p>
          <a:p>
            <a:pPr algn="l">
              <a:lnSpc>
                <a:spcPct val="110000"/>
              </a:lnSpc>
              <a:spcBef>
                <a:spcPts val="600"/>
              </a:spcBef>
            </a:pPr>
            <a:r>
              <a:rPr sz="1700" b="0">
                <a:solidFill>
                  <a:srgbClr val="1B2433"/>
                </a:solidFill>
                <a:latin typeface="Helvetica Neue"/>
                <a:cs typeface="Apple SD Gothic Neo"/>
                <a:ea typeface="Apple SD Gothic Neo"/>
              </a:rPr>
              <a:t>사진으로 올린 지방세 증명서가 국세 증명서로 분류됨 → 제목 검문을 추가해 0건으로.</a:t>
            </a:r>
          </a:p>
        </p:txBody>
      </p:sp>
      <p:sp>
        <p:nvSpPr>
          <p:cNvPr id="10" name="Rounded Rectangle 9"/>
          <p:cNvSpPr/>
          <p:nvPr/>
        </p:nvSpPr>
        <p:spPr>
          <a:xfrm>
            <a:off x="640080" y="4617720"/>
            <a:ext cx="822960" cy="132588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4000" b="1">
                <a:solidFill>
                  <a:srgbClr val="FFFFFF"/>
                </a:solidFill>
                <a:latin typeface="Helvetica Neue"/>
                <a:cs typeface="Apple SD Gothic Neo"/>
                <a:ea typeface="Apple SD Gothic Neo"/>
              </a:rPr>
              <a:t>3</a:t>
            </a:r>
          </a:p>
        </p:txBody>
      </p:sp>
      <p:sp>
        <p:nvSpPr>
          <p:cNvPr id="11" name="Rounded Rectangle 10"/>
          <p:cNvSpPr/>
          <p:nvPr/>
        </p:nvSpPr>
        <p:spPr>
          <a:xfrm>
            <a:off x="1645920" y="4617720"/>
            <a:ext cx="9966960" cy="1325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lnSpc>
                <a:spcPct val="110000"/>
              </a:lnSpc>
            </a:pPr>
            <a:r>
              <a:rPr sz="2200" b="1">
                <a:solidFill>
                  <a:srgbClr val="17325C"/>
                </a:solidFill>
                <a:latin typeface="Helvetica Neue"/>
                <a:cs typeface="Apple SD Gothic Neo"/>
                <a:ea typeface="Apple SD Gothic Neo"/>
              </a:rPr>
              <a:t>안전과 자동화는 맞바꿈이다</a:t>
            </a:r>
          </a:p>
          <a:p>
            <a:pPr algn="l">
              <a:lnSpc>
                <a:spcPct val="110000"/>
              </a:lnSpc>
              <a:spcBef>
                <a:spcPts val="600"/>
              </a:spcBef>
            </a:pPr>
            <a:r>
              <a:rPr sz="1700" b="0">
                <a:solidFill>
                  <a:srgbClr val="1B2433"/>
                </a:solidFill>
                <a:latin typeface="Helvetica Neue"/>
                <a:cs typeface="Apple SD Gothic Neo"/>
                <a:ea typeface="Apple SD Gothic Neo"/>
              </a:rPr>
              <a:t>안전 규칙(제목 검문 · 경계 값 · 두 번째 판독 제한)을 강화하자 사람 확인이 3.82 → 7.23. 우리는 안전을 선택했다.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[부록] 시연 장면: 영상과 예비 화면</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14</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TextBox 5"/>
          <p:cNvSpPr txBox="1"/>
          <p:nvPr/>
        </p:nvSpPr>
        <p:spPr>
          <a:xfrm>
            <a:off x="64008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D1  정상 제출</a:t>
            </a:r>
          </a:p>
        </p:txBody>
      </p:sp>
      <p:pic>
        <p:nvPicPr>
          <p:cNvPr id="7" name="Picture 6" descr="thumb_D1.png"/>
          <p:cNvPicPr>
            <a:picLocks noChangeAspect="1"/>
          </p:cNvPicPr>
          <p:nvPr/>
        </p:nvPicPr>
        <p:blipFill>
          <a:blip r:embed="rId2"/>
          <a:stretch>
            <a:fillRect/>
          </a:stretch>
        </p:blipFill>
        <p:spPr>
          <a:xfrm>
            <a:off x="640080" y="2103120"/>
            <a:ext cx="2606040" cy="1374940"/>
          </a:xfrm>
          <a:prstGeom prst="rect">
            <a:avLst/>
          </a:prstGeom>
          <a:ln w="12700">
            <a:solidFill>
              <a:srgbClr val="D5DCE8"/>
            </a:solidFill>
          </a:ln>
        </p:spPr>
      </p:pic>
      <p:sp>
        <p:nvSpPr>
          <p:cNvPr id="8" name="Rounded Rectangle 7"/>
          <p:cNvSpPr/>
          <p:nvPr/>
        </p:nvSpPr>
        <p:spPr>
          <a:xfrm>
            <a:off x="640080" y="3611880"/>
            <a:ext cx="26060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결과: 제출 가능</a:t>
            </a:r>
          </a:p>
        </p:txBody>
      </p:sp>
      <p:sp>
        <p:nvSpPr>
          <p:cNvPr id="9" name="TextBox 8"/>
          <p:cNvSpPr txBox="1"/>
          <p:nvPr/>
        </p:nvSpPr>
        <p:spPr>
          <a:xfrm>
            <a:off x="342900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D2  만료된 납세증명서</a:t>
            </a:r>
          </a:p>
        </p:txBody>
      </p:sp>
      <p:pic>
        <p:nvPicPr>
          <p:cNvPr id="10" name="Picture 9" descr="thumb_D2.png"/>
          <p:cNvPicPr>
            <a:picLocks noChangeAspect="1"/>
          </p:cNvPicPr>
          <p:nvPr/>
        </p:nvPicPr>
        <p:blipFill>
          <a:blip r:embed="rId3"/>
          <a:stretch>
            <a:fillRect/>
          </a:stretch>
        </p:blipFill>
        <p:spPr>
          <a:xfrm>
            <a:off x="3429000" y="2103120"/>
            <a:ext cx="2606040" cy="1374940"/>
          </a:xfrm>
          <a:prstGeom prst="rect">
            <a:avLst/>
          </a:prstGeom>
          <a:ln w="12700">
            <a:solidFill>
              <a:srgbClr val="D5DCE8"/>
            </a:solidFill>
          </a:ln>
        </p:spPr>
      </p:pic>
      <p:sp>
        <p:nvSpPr>
          <p:cNvPr id="11" name="Rounded Rectangle 10"/>
          <p:cNvSpPr/>
          <p:nvPr/>
        </p:nvSpPr>
        <p:spPr>
          <a:xfrm>
            <a:off x="3429000" y="3611880"/>
            <a:ext cx="2606040" cy="384048"/>
          </a:xfrm>
          <a:prstGeom prst="roundRect">
            <a:avLst>
              <a:gd name="adj" fmla="val 8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8C1D18"/>
                </a:solidFill>
                <a:latin typeface="Helvetica Neue"/>
                <a:cs typeface="Apple SD Gothic Neo"/>
                <a:ea typeface="Apple SD Gothic Neo"/>
              </a:rPr>
              <a:t>결과: 보완 필요</a:t>
            </a:r>
          </a:p>
        </p:txBody>
      </p:sp>
      <p:sp>
        <p:nvSpPr>
          <p:cNvPr id="12" name="TextBox 11"/>
          <p:cNvSpPr txBox="1"/>
          <p:nvPr/>
        </p:nvSpPr>
        <p:spPr>
          <a:xfrm>
            <a:off x="621792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D5  유사 서류(지방세)</a:t>
            </a:r>
          </a:p>
        </p:txBody>
      </p:sp>
      <p:pic>
        <p:nvPicPr>
          <p:cNvPr id="13" name="Picture 12" descr="thumb_D5.png"/>
          <p:cNvPicPr>
            <a:picLocks noChangeAspect="1"/>
          </p:cNvPicPr>
          <p:nvPr/>
        </p:nvPicPr>
        <p:blipFill>
          <a:blip r:embed="rId4"/>
          <a:stretch>
            <a:fillRect/>
          </a:stretch>
        </p:blipFill>
        <p:spPr>
          <a:xfrm>
            <a:off x="6217920" y="2103120"/>
            <a:ext cx="2606040" cy="1374940"/>
          </a:xfrm>
          <a:prstGeom prst="rect">
            <a:avLst/>
          </a:prstGeom>
          <a:ln w="12700">
            <a:solidFill>
              <a:srgbClr val="D5DCE8"/>
            </a:solidFill>
          </a:ln>
        </p:spPr>
      </p:pic>
      <p:sp>
        <p:nvSpPr>
          <p:cNvPr id="14" name="Rounded Rectangle 13"/>
          <p:cNvSpPr/>
          <p:nvPr/>
        </p:nvSpPr>
        <p:spPr>
          <a:xfrm>
            <a:off x="6217920" y="3611880"/>
            <a:ext cx="2606040" cy="384048"/>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6B4300"/>
                </a:solidFill>
                <a:latin typeface="Helvetica Neue"/>
                <a:cs typeface="Apple SD Gothic Neo"/>
                <a:ea typeface="Apple SD Gothic Neo"/>
              </a:rPr>
              <a:t>결과: 확인 필요</a:t>
            </a:r>
          </a:p>
        </p:txBody>
      </p:sp>
      <p:sp>
        <p:nvSpPr>
          <p:cNvPr id="15" name="TextBox 14"/>
          <p:cNvSpPr txBox="1"/>
          <p:nvPr/>
        </p:nvSpPr>
        <p:spPr>
          <a:xfrm>
            <a:off x="9006840" y="1371600"/>
            <a:ext cx="2606040" cy="685800"/>
          </a:xfrm>
          <a:prstGeom prst="rect">
            <a:avLst/>
          </a:prstGeom>
          <a:noFill/>
        </p:spPr>
        <p:txBody>
          <a:bodyPr wrap="square" anchor="ctr" lIns="0" rIns="0" tIns="0" bIns="0">
            <a:spAutoFit/>
          </a:bodyPr>
          <a:lstStyle/>
          <a:p>
            <a:pPr algn="l">
              <a:lnSpc>
                <a:spcPct val="110000"/>
              </a:lnSpc>
            </a:pPr>
            <a:r>
              <a:rPr sz="1600" b="1">
                <a:solidFill>
                  <a:srgbClr val="17325C"/>
                </a:solidFill>
                <a:latin typeface="Helvetica Neue"/>
                <a:cs typeface="Apple SD Gothic Neo"/>
                <a:ea typeface="Apple SD Gothic Neo"/>
              </a:rPr>
              <a:t>D9  스캔 + 사람 확인</a:t>
            </a:r>
          </a:p>
        </p:txBody>
      </p:sp>
      <p:pic>
        <p:nvPicPr>
          <p:cNvPr id="16" name="Picture 15" descr="thumb_D9.png"/>
          <p:cNvPicPr>
            <a:picLocks noChangeAspect="1"/>
          </p:cNvPicPr>
          <p:nvPr/>
        </p:nvPicPr>
        <p:blipFill>
          <a:blip r:embed="rId5"/>
          <a:stretch>
            <a:fillRect/>
          </a:stretch>
        </p:blipFill>
        <p:spPr>
          <a:xfrm>
            <a:off x="9006840" y="2103120"/>
            <a:ext cx="2606040" cy="1374940"/>
          </a:xfrm>
          <a:prstGeom prst="rect">
            <a:avLst/>
          </a:prstGeom>
          <a:ln w="12700">
            <a:solidFill>
              <a:srgbClr val="D5DCE8"/>
            </a:solidFill>
          </a:ln>
        </p:spPr>
      </p:pic>
      <p:sp>
        <p:nvSpPr>
          <p:cNvPr id="17" name="Rounded Rectangle 16"/>
          <p:cNvSpPr/>
          <p:nvPr/>
        </p:nvSpPr>
        <p:spPr>
          <a:xfrm>
            <a:off x="9006840" y="3611880"/>
            <a:ext cx="2606040" cy="384048"/>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0000"/>
              </a:lnSpc>
            </a:pPr>
            <a:r>
              <a:rPr sz="1500" b="1">
                <a:solidFill>
                  <a:srgbClr val="0B5D3B"/>
                </a:solidFill>
                <a:latin typeface="Helvetica Neue"/>
                <a:cs typeface="Apple SD Gothic Neo"/>
                <a:ea typeface="Apple SD Gothic Neo"/>
              </a:rPr>
              <a:t>결과: 제출 가능</a:t>
            </a:r>
          </a:p>
        </p:txBody>
      </p:sp>
      <p:sp>
        <p:nvSpPr>
          <p:cNvPr id="18" name="TextBox 17"/>
          <p:cNvSpPr txBox="1"/>
          <p:nvPr/>
        </p:nvSpPr>
        <p:spPr>
          <a:xfrm>
            <a:off x="640080" y="4251960"/>
            <a:ext cx="10972800" cy="1280160"/>
          </a:xfrm>
          <a:prstGeom prst="rect">
            <a:avLst/>
          </a:prstGeom>
          <a:noFill/>
        </p:spPr>
        <p:txBody>
          <a:bodyPr wrap="square" anchor="t" lIns="0" rIns="0" tIns="0" bIns="0">
            <a:spAutoFit/>
          </a:bodyPr>
          <a:lstStyle/>
          <a:p>
            <a:pPr algn="l" marL="256032" indent="-256032">
              <a:lnSpc>
                <a:spcPct val="110000"/>
              </a:lnSpc>
              <a:buChar char="•"/>
            </a:pPr>
            <a:r>
              <a:rPr sz="1500" b="0">
                <a:solidFill>
                  <a:srgbClr val="1B2433"/>
                </a:solidFill>
                <a:latin typeface="Helvetica Neue"/>
                <a:cs typeface="Apple SD Gothic Neo"/>
                <a:ea typeface="Apple SD Gothic Neo"/>
              </a:rPr>
              <a:t>D1  모든 서류가 맞으면 제출 가능, 공식 승인은 아님</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D2  만료 날짜와 해결 방법까지 보여 줌</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D5  비슷한 서류는 추측하지 않고 확인 필요</a:t>
            </a:r>
          </a:p>
          <a:p>
            <a:pPr algn="l" marL="256032" indent="-256032">
              <a:lnSpc>
                <a:spcPct val="110000"/>
              </a:lnSpc>
              <a:spcBef>
                <a:spcPts val="300"/>
              </a:spcBef>
              <a:buChar char="•"/>
            </a:pPr>
            <a:r>
              <a:rPr sz="1500" b="0">
                <a:solidFill>
                  <a:srgbClr val="1B2433"/>
                </a:solidFill>
                <a:latin typeface="Helvetica Neue"/>
                <a:cs typeface="Apple SD Gothic Neo"/>
                <a:ea typeface="Apple SD Gothic Neo"/>
              </a:rPr>
              <a:t>D9  스캔 서류(학생)의 발급일 2개를 원본과 비교해 확인 → 자동으로 제출 가능 (D6 스캔은 사람 없이 제출 가능)</a:t>
            </a:r>
          </a:p>
        </p:txBody>
      </p:sp>
      <p:sp>
        <p:nvSpPr>
          <p:cNvPr id="19" name="TextBox 18"/>
          <p:cNvSpPr txBox="1"/>
          <p:nvPr/>
        </p:nvSpPr>
        <p:spPr>
          <a:xfrm>
            <a:off x="640080" y="5669280"/>
            <a:ext cx="10972800" cy="640080"/>
          </a:xfrm>
          <a:prstGeom prst="rect">
            <a:avLst/>
          </a:prstGeom>
          <a:noFill/>
        </p:spPr>
        <p:txBody>
          <a:bodyPr wrap="square" anchor="t" lIns="0" rIns="0" tIns="0" bIns="0">
            <a:spAutoFit/>
          </a:bodyPr>
          <a:lstStyle/>
          <a:p>
            <a:pPr algn="l">
              <a:lnSpc>
                <a:spcPct val="110000"/>
              </a:lnSpc>
            </a:pPr>
            <a:r>
              <a:rPr sz="1400" b="0">
                <a:solidFill>
                  <a:srgbClr val="4A5872"/>
                </a:solidFill>
                <a:latin typeface="Helvetica Neue"/>
                <a:cs typeface="Apple SD Gothic Neo"/>
                <a:ea typeface="Apple SD Gothic Neo"/>
              </a:rPr>
              <a:t>예비: 위 화면은 각 장면의 마지막 화면 스크린샷입니다 (라이브가 안 되면 이 슬라이드로 설명).  복구: make demo-reset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200" b="1">
                <a:solidFill>
                  <a:srgbClr val="17325C"/>
                </a:solidFill>
                <a:latin typeface="Helvetica Neue"/>
                <a:cs typeface="Apple SD Gothic Neo"/>
                <a:ea typeface="Apple SD Gothic Neo"/>
              </a:rPr>
              <a:t>[부록] 접근 비교 상세 (근거 표시: V 저장소 검증 · E 외부 출처 · H 가설 · U 알 수 없음)</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15</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457200" y="1188720"/>
          <a:ext cx="11292839" cy="4041648"/>
        </p:xfrm>
        <a:graphic>
          <a:graphicData uri="http://schemas.openxmlformats.org/drawingml/2006/table">
            <a:tbl>
              <a:tblPr firstRow="1" bandRow="1">
                <a:tableStyleId>{5C22544A-7EE6-4342-B048-85BDC9FD1C3A}</a:tableStyleId>
              </a:tblPr>
              <a:tblGrid>
                <a:gridCol w="2011680"/>
                <a:gridCol w="2560320"/>
                <a:gridCol w="2148840"/>
                <a:gridCol w="1737360"/>
                <a:gridCol w="960120"/>
                <a:gridCol w="1874519"/>
              </a:tblGrid>
              <a:tr h="384048">
                <a:tc>
                  <a:txBody>
                    <a:bodyPr/>
                    <a:lstStyle/>
                    <a:p>
                      <a:r>
                        <a:rPr sz="1200" b="1">
                          <a:solidFill>
                            <a:srgbClr val="FFFFFF"/>
                          </a:solidFill>
                          <a:latin typeface="Helvetica Neue"/>
                          <a:cs typeface="Apple SD Gothic Neo"/>
                          <a:ea typeface="Apple SD Gothic Neo"/>
                        </a:rPr>
                        <a:t>접근</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현재 근거</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거짓 ‘제출 가능’ 위험</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속도 · 장비</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노력</a:t>
                      </a:r>
                    </a:p>
                  </a:txBody>
                  <a:tcPr anchor="ctr" marL="54864" marR="54864">
                    <a:solidFill>
                      <a:srgbClr val="17325C"/>
                    </a:solidFill>
                  </a:tcPr>
                </a:tc>
                <a:tc>
                  <a:txBody>
                    <a:bodyPr/>
                    <a:lstStyle/>
                    <a:p>
                      <a:r>
                        <a:rPr sz="1200" b="1">
                          <a:solidFill>
                            <a:srgbClr val="FFFFFF"/>
                          </a:solidFill>
                          <a:latin typeface="Helvetica Neue"/>
                          <a:cs typeface="Apple SD Gothic Neo"/>
                          <a:ea typeface="Apple SD Gothic Neo"/>
                        </a:rPr>
                        <a:t>10월 · 11월 · 12월</a:t>
                      </a:r>
                    </a:p>
                  </a:txBody>
                  <a:tcPr anchor="ctr" marL="54864" marR="54864">
                    <a:solidFill>
                      <a:srgbClr val="17325C"/>
                    </a:solidFill>
                  </a:tcPr>
                </a:tc>
              </a:tr>
              <a:tr h="457200">
                <a:tc>
                  <a:txBody>
                    <a:bodyPr/>
                    <a:lstStyle/>
                    <a:p>
                      <a:r>
                        <a:rPr sz="1100" b="1">
                          <a:solidFill>
                            <a:srgbClr val="1B2433"/>
                          </a:solidFill>
                          <a:latin typeface="Helvetica Neue"/>
                          <a:cs typeface="Apple SD Gothic Neo"/>
                          <a:ea typeface="Apple SD Gothic Neo"/>
                        </a:rPr>
                        <a:t>A 기존 OCR</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가상 데이터 실측, 실사진 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0/40, 0/1,354</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약 16초/쪽 (CPU)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유지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유지 · 기준선 ·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B VLM 단독</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E 공식 모델 카드만, 측정 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숫자 환각, 불확실성 신호 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E GPU 요건 있음, 지연 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대 (계약 교체)</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격리 PoC · 근거 시에만</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C 두 엔진 모두</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U</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합의 ≠ 독립 확인</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H 합 이상</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중–대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안 함 · 오프라인 · 상관 낮을 때</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D OCR + 선택적 VLM</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라우팅 신호 / U VLM</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독립성에 달림</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선택분만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중</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격리 PoC · 조건부</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E 규칙·검토 개선</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글자층·대학명 수정, D3 병합</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모델 위험 최저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추가 모델 없음</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소–중</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구현됨 · 측정 확대 ·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F 일관성 해법 + 보정</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D3 병합, hold-out 3 판정 1회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V 주입 1건(H14, 소유자 승인)</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가벼움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D3 완료 · 보정은 데이터 있을 때</a:t>
                      </a:r>
                    </a:p>
                  </a:txBody>
                  <a:tcPr anchor="ctr" marL="54864" marR="54864">
                    <a:solidFill>
                      <a:srgbClr val="F4F7FB"/>
                    </a:solidFill>
                  </a:tcPr>
                </a:tc>
              </a:tr>
              <a:tr h="457200">
                <a:tc>
                  <a:txBody>
                    <a:bodyPr/>
                    <a:lstStyle/>
                    <a:p>
                      <a:r>
                        <a:rPr sz="1100" b="1">
                          <a:solidFill>
                            <a:srgbClr val="1B2433"/>
                          </a:solidFill>
                          <a:latin typeface="Helvetica Neue"/>
                          <a:cs typeface="Apple SD Gothic Neo"/>
                          <a:ea typeface="Apple SD Gothic Neo"/>
                        </a:rPr>
                        <a:t>G PDF 글자층 신뢰 점검</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구현·검증 (조작 705건 중 0건 놓침)</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숨은 글자 차단, 오경보 0/307쪽</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V 쪽당 수십 ms (OCR은 숨은 글자가 있을 때만)</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소–중</a:t>
                      </a:r>
                    </a:p>
                  </a:txBody>
                  <a:tcPr anchor="ctr" marL="54864" marR="54864">
                    <a:solidFill>
                      <a:srgbClr val="FFFFFF"/>
                    </a:solidFill>
                  </a:tcPr>
                </a:tc>
                <a:tc>
                  <a:txBody>
                    <a:bodyPr/>
                    <a:lstStyle/>
                    <a:p>
                      <a:r>
                        <a:rPr sz="1100" b="0">
                          <a:solidFill>
                            <a:srgbClr val="1B2433"/>
                          </a:solidFill>
                          <a:latin typeface="Helvetica Neue"/>
                          <a:cs typeface="Apple SD Gothic Neo"/>
                          <a:ea typeface="Apple SD Gothic Neo"/>
                        </a:rPr>
                        <a:t>구현됨 · 유지 · 유지</a:t>
                      </a:r>
                    </a:p>
                  </a:txBody>
                  <a:tcPr anchor="ctr" marL="54864" marR="54864">
                    <a:solidFill>
                      <a:srgbClr val="FFFFFF"/>
                    </a:solidFill>
                  </a:tcPr>
                </a:tc>
              </a:tr>
              <a:tr h="457200">
                <a:tc>
                  <a:txBody>
                    <a:bodyPr/>
                    <a:lstStyle/>
                    <a:p>
                      <a:r>
                        <a:rPr sz="1100" b="1">
                          <a:solidFill>
                            <a:srgbClr val="1B2433"/>
                          </a:solidFill>
                          <a:latin typeface="Helvetica Neue"/>
                          <a:cs typeface="Apple SD Gothic Neo"/>
                          <a:ea typeface="Apple SD Gothic Neo"/>
                        </a:rPr>
                        <a:t>H 사진 품질 + 원근 보정</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U 실사진 없음</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U</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H 가벼움</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중</a:t>
                      </a:r>
                    </a:p>
                  </a:txBody>
                  <a:tcPr anchor="ctr" marL="54864" marR="54864">
                    <a:solidFill>
                      <a:srgbClr val="F4F7FB"/>
                    </a:solidFill>
                  </a:tcPr>
                </a:tc>
                <a:tc>
                  <a:txBody>
                    <a:bodyPr/>
                    <a:lstStyle/>
                    <a:p>
                      <a:r>
                        <a:rPr sz="1100" b="0">
                          <a:solidFill>
                            <a:srgbClr val="1B2433"/>
                          </a:solidFill>
                          <a:latin typeface="Helvetica Neue"/>
                          <a:cs typeface="Apple SD Gothic Neo"/>
                          <a:ea typeface="Apple SD Gothic Neo"/>
                        </a:rPr>
                        <a:t>안 함 · 측정 후 · 조건부</a:t>
                      </a:r>
                    </a:p>
                  </a:txBody>
                  <a:tcPr anchor="ctr" marL="54864" marR="54864">
                    <a:solidFill>
                      <a:srgbClr val="F4F7FB"/>
                    </a:solidFill>
                  </a:tcPr>
                </a:tc>
              </a:tr>
            </a:tbl>
          </a:graphicData>
        </a:graphic>
      </p:graphicFrame>
      <p:sp>
        <p:nvSpPr>
          <p:cNvPr id="7" name="TextBox 6"/>
          <p:cNvSpPr txBox="1"/>
          <p:nvPr/>
        </p:nvSpPr>
        <p:spPr>
          <a:xfrm>
            <a:off x="457200" y="5577840"/>
            <a:ext cx="11292840" cy="777240"/>
          </a:xfrm>
          <a:prstGeom prst="rect">
            <a:avLst/>
          </a:prstGeom>
          <a:noFill/>
        </p:spPr>
        <p:txBody>
          <a:bodyPr wrap="square" anchor="t" lIns="0" rIns="0" tIns="0" bIns="0">
            <a:spAutoFit/>
          </a:bodyPr>
          <a:lstStyle/>
          <a:p>
            <a:pPr algn="l">
              <a:lnSpc>
                <a:spcPct val="110000"/>
              </a:lnSpc>
            </a:pPr>
            <a:r>
              <a:rPr sz="1300" b="0">
                <a:solidFill>
                  <a:srgbClr val="4A5872"/>
                </a:solidFill>
                <a:latin typeface="Helvetica Neue"/>
                <a:cs typeface="Apple SD Gothic Neo"/>
                <a:ea typeface="Apple SD Gothic Neo"/>
              </a:rPr>
              <a:t>상세 평가와 출처: evaluation/phase_f/APPROACH_EVALUATION.md. PaddleOCR-VL 수치(0.9B, 109개 언어, Apache-2.0, 장비 요건)는 공식 페이지 기준(2026-10-10 확인), 우리 데이터 성능은 미측정.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평가 방법: 분모와 불확실성을 항상 함께 보고합니다</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16</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6" name="Rounded Rectangle 5"/>
          <p:cNvSpPr/>
          <p:nvPr/>
        </p:nvSpPr>
        <p:spPr>
          <a:xfrm>
            <a:off x="640080" y="1371600"/>
            <a:ext cx="5577840" cy="22402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53619" bIns="153619"/>
          <a:lstStyle/>
          <a:p>
            <a:pPr algn="l">
              <a:lnSpc>
                <a:spcPct val="110000"/>
              </a:lnSpc>
            </a:pPr>
            <a:r>
              <a:rPr sz="1700" b="1">
                <a:solidFill>
                  <a:srgbClr val="17325C"/>
                </a:solidFill>
                <a:latin typeface="Helvetica Neue"/>
                <a:cs typeface="Apple SD Gothic Neo"/>
                <a:ea typeface="Apple SD Gothic Neo"/>
              </a:rPr>
              <a:t>거짓 ‘제출 가능’ (가장 중요한 안전 지표)</a:t>
            </a:r>
          </a:p>
          <a:p>
            <a:pPr algn="l">
              <a:lnSpc>
                <a:spcPct val="110000"/>
              </a:lnSpc>
              <a:spcBef>
                <a:spcPts val="400"/>
              </a:spcBef>
            </a:pPr>
            <a:r>
              <a:rPr sz="1400" b="0">
                <a:solidFill>
                  <a:srgbClr val="1B2433"/>
                </a:solidFill>
                <a:latin typeface="Helvetica Neue"/>
                <a:cs typeface="Apple SD Gothic Neo"/>
                <a:ea typeface="Apple SD Gothic Neo"/>
              </a:rPr>
              <a:t>= 정답이 ‘제출 가능 아님’인 제출 중, 시스템이 제출 가능으로 판정한 수 ÷ 정답이 ‘제출 가능 아님’인 제출 수</a:t>
            </a:r>
          </a:p>
          <a:p>
            <a:pPr algn="l">
              <a:lnSpc>
                <a:spcPct val="110000"/>
              </a:lnSpc>
              <a:spcBef>
                <a:spcPts val="400"/>
              </a:spcBef>
            </a:pPr>
            <a:r>
              <a:rPr sz="1400" b="0">
                <a:solidFill>
                  <a:srgbClr val="1B2433"/>
                </a:solidFill>
                <a:latin typeface="Helvetica Neue"/>
                <a:cs typeface="Apple SD Gothic Neo"/>
                <a:ea typeface="Apple SD Gothic Neo"/>
              </a:rPr>
              <a:t>현재: 0 / 40 (입력 유형별). 0건이어도 위험이 0이라는 뜻이 아님: 95% 상한 ≈ 3/n = 7.5%</a:t>
            </a:r>
          </a:p>
          <a:p>
            <a:pPr algn="l">
              <a:lnSpc>
                <a:spcPct val="110000"/>
              </a:lnSpc>
              <a:spcBef>
                <a:spcPts val="400"/>
              </a:spcBef>
            </a:pPr>
            <a:r>
              <a:rPr sz="1400" b="0">
                <a:solidFill>
                  <a:srgbClr val="6B4300"/>
                </a:solidFill>
                <a:latin typeface="Helvetica Neue"/>
                <a:cs typeface="Apple SD Gothic Neo"/>
                <a:ea typeface="Apple SD Gothic Neo"/>
              </a:rPr>
              <a:t>같은 12–14개 시나리오를 새 값으로 되풀이한 것이라, 시나리오 종류로 세면 상한 약 21%</a:t>
            </a:r>
          </a:p>
        </p:txBody>
      </p:sp>
      <p:graphicFrame>
        <p:nvGraphicFramePr>
          <p:cNvPr id="7" name="Table 6"/>
          <p:cNvGraphicFramePr>
            <a:graphicFrameLocks noGrp="1"/>
          </p:cNvGraphicFramePr>
          <p:nvPr/>
        </p:nvGraphicFramePr>
        <p:xfrm>
          <a:off x="6400800" y="1371600"/>
          <a:ext cx="5303520" cy="2743200"/>
        </p:xfrm>
        <a:graphic>
          <a:graphicData uri="http://schemas.openxmlformats.org/drawingml/2006/table">
            <a:tbl>
              <a:tblPr firstRow="1" bandRow="1">
                <a:tableStyleId>{5C22544A-7EE6-4342-B048-85BDC9FD1C3A}</a:tableStyleId>
              </a:tblPr>
              <a:tblGrid>
                <a:gridCol w="2560320"/>
                <a:gridCol w="2743200"/>
              </a:tblGrid>
              <a:tr h="457200">
                <a:tc>
                  <a:txBody>
                    <a:bodyPr/>
                    <a:lstStyle/>
                    <a:p>
                      <a:r>
                        <a:rPr sz="1300" b="1">
                          <a:solidFill>
                            <a:srgbClr val="FFFFFF"/>
                          </a:solidFill>
                          <a:latin typeface="Helvetica Neue"/>
                          <a:cs typeface="Apple SD Gothic Neo"/>
                          <a:ea typeface="Apple SD Gothic Neo"/>
                        </a:rPr>
                        <a:t>지표</a:t>
                      </a:r>
                    </a:p>
                  </a:txBody>
                  <a:tcPr anchor="ctr">
                    <a:solidFill>
                      <a:srgbClr val="17325C"/>
                    </a:solidFill>
                  </a:tcPr>
                </a:tc>
                <a:tc>
                  <a:txBody>
                    <a:bodyPr/>
                    <a:lstStyle/>
                    <a:p>
                      <a:r>
                        <a:rPr sz="1300" b="1">
                          <a:solidFill>
                            <a:srgbClr val="FFFFFF"/>
                          </a:solidFill>
                          <a:latin typeface="Helvetica Neue"/>
                          <a:cs typeface="Apple SD Gothic Neo"/>
                          <a:ea typeface="Apple SD Gothic Neo"/>
                        </a:rPr>
                        <a:t>기준선 (개발 데이터, n)</a:t>
                      </a:r>
                    </a:p>
                  </a:txBody>
                  <a:tcPr anchor="ctr">
                    <a:solidFill>
                      <a:srgbClr val="17325C"/>
                    </a:solidFill>
                  </a:tcPr>
                </a:tc>
              </a:tr>
              <a:tr h="457200">
                <a:tc>
                  <a:txBody>
                    <a:bodyPr/>
                    <a:lstStyle/>
                    <a:p>
                      <a:r>
                        <a:rPr sz="1300" b="0">
                          <a:solidFill>
                            <a:srgbClr val="1B2433"/>
                          </a:solidFill>
                          <a:latin typeface="Helvetica Neue"/>
                          <a:cs typeface="Apple SD Gothic Neo"/>
                          <a:ea typeface="Apple SD Gothic Neo"/>
                        </a:rPr>
                        <a:t>필드 정확도</a:t>
                      </a:r>
                    </a:p>
                  </a:txBody>
                  <a:tcPr anchor="ctr">
                    <a:solidFill>
                      <a:srgbClr val="FFFFFF"/>
                    </a:solidFill>
                  </a:tcPr>
                </a:tc>
                <a:tc>
                  <a:txBody>
                    <a:bodyPr/>
                    <a:lstStyle/>
                    <a:p>
                      <a:r>
                        <a:rPr sz="1300" b="0">
                          <a:solidFill>
                            <a:srgbClr val="1B2433"/>
                          </a:solidFill>
                          <a:latin typeface="Helvetica Neue"/>
                          <a:cs typeface="Apple SD Gothic Neo"/>
                          <a:ea typeface="Apple SD Gothic Neo"/>
                        </a:rPr>
                        <a:t>790/790 · 779/790 · 785/790 (v3)</a:t>
                      </a:r>
                    </a:p>
                  </a:txBody>
                  <a:tcPr anchor="ctr">
                    <a:solidFill>
                      <a:srgbClr val="FFFFFF"/>
                    </a:solidFill>
                  </a:tcPr>
                </a:tc>
              </a:tr>
              <a:tr h="457200">
                <a:tc>
                  <a:txBody>
                    <a:bodyPr/>
                    <a:lstStyle/>
                    <a:p>
                      <a:r>
                        <a:rPr sz="1300" b="0">
                          <a:solidFill>
                            <a:srgbClr val="1B2433"/>
                          </a:solidFill>
                          <a:latin typeface="Helvetica Neue"/>
                          <a:cs typeface="Apple SD Gothic Neo"/>
                          <a:ea typeface="Apple SD Gothic Neo"/>
                        </a:rPr>
                        <a:t>서류 종류 분류</a:t>
                      </a:r>
                    </a:p>
                  </a:txBody>
                  <a:tcPr anchor="ctr">
                    <a:solidFill>
                      <a:srgbClr val="F4F7FB"/>
                    </a:solidFill>
                  </a:tcPr>
                </a:tc>
                <a:tc>
                  <a:txBody>
                    <a:bodyPr/>
                    <a:lstStyle/>
                    <a:p>
                      <a:r>
                        <a:rPr sz="1300" b="0">
                          <a:solidFill>
                            <a:srgbClr val="1B2433"/>
                          </a:solidFill>
                          <a:latin typeface="Helvetica Neue"/>
                          <a:cs typeface="Apple SD Gothic Neo"/>
                          <a:ea typeface="Apple SD Gothic Neo"/>
                        </a:rPr>
                        <a:t>207/207</a:t>
                      </a:r>
                    </a:p>
                  </a:txBody>
                  <a:tcPr anchor="ctr">
                    <a:solidFill>
                      <a:srgbClr val="F4F7FB"/>
                    </a:solidFill>
                  </a:tcPr>
                </a:tc>
              </a:tr>
              <a:tr h="457200">
                <a:tc>
                  <a:txBody>
                    <a:bodyPr/>
                    <a:lstStyle/>
                    <a:p>
                      <a:r>
                        <a:rPr sz="1300" b="0">
                          <a:solidFill>
                            <a:srgbClr val="1B2433"/>
                          </a:solidFill>
                          <a:latin typeface="Helvetica Neue"/>
                          <a:cs typeface="Apple SD Gothic Neo"/>
                          <a:ea typeface="Apple SD Gothic Neo"/>
                        </a:rPr>
                        <a:t>거짓 ‘제출 불가’ (디지털)</a:t>
                      </a:r>
                    </a:p>
                  </a:txBody>
                  <a:tcPr anchor="ctr">
                    <a:solidFill>
                      <a:srgbClr val="FFFFFF"/>
                    </a:solidFill>
                  </a:tcPr>
                </a:tc>
                <a:tc>
                  <a:txBody>
                    <a:bodyPr/>
                    <a:lstStyle/>
                    <a:p>
                      <a:r>
                        <a:rPr sz="1300" b="0">
                          <a:solidFill>
                            <a:srgbClr val="1B2433"/>
                          </a:solidFill>
                          <a:latin typeface="Helvetica Neue"/>
                          <a:cs typeface="Apple SD Gothic Neo"/>
                          <a:ea typeface="Apple SD Gothic Neo"/>
                        </a:rPr>
                        <a:t>0/12</a:t>
                      </a:r>
                    </a:p>
                  </a:txBody>
                  <a:tcPr anchor="ctr">
                    <a:solidFill>
                      <a:srgbClr val="FFFFFF"/>
                    </a:solidFill>
                  </a:tcPr>
                </a:tc>
              </a:tr>
              <a:tr h="457200">
                <a:tc>
                  <a:txBody>
                    <a:bodyPr/>
                    <a:lstStyle/>
                    <a:p>
                      <a:r>
                        <a:rPr sz="1300" b="0">
                          <a:solidFill>
                            <a:srgbClr val="1B2433"/>
                          </a:solidFill>
                          <a:latin typeface="Helvetica Neue"/>
                          <a:cs typeface="Apple SD Gothic Neo"/>
                          <a:ea typeface="Apple SD Gothic Neo"/>
                        </a:rPr>
                        <a:t>사람 확인 ≥ 1필드 제출</a:t>
                      </a:r>
                    </a:p>
                  </a:txBody>
                  <a:tcPr anchor="ctr">
                    <a:solidFill>
                      <a:srgbClr val="F4F7FB"/>
                    </a:solidFill>
                  </a:tcPr>
                </a:tc>
                <a:tc>
                  <a:txBody>
                    <a:bodyPr/>
                    <a:lstStyle/>
                    <a:p>
                      <a:r>
                        <a:rPr sz="1300" b="0">
                          <a:solidFill>
                            <a:srgbClr val="1B2433"/>
                          </a:solidFill>
                          <a:latin typeface="Helvetica Neue"/>
                          <a:cs typeface="Apple SD Gothic Neo"/>
                          <a:ea typeface="Apple SD Gothic Neo"/>
                        </a:rPr>
                        <a:t>18/72 · 64/72 · 61/72 (v3)</a:t>
                      </a:r>
                    </a:p>
                  </a:txBody>
                  <a:tcPr anchor="ctr">
                    <a:solidFill>
                      <a:srgbClr val="F4F7FB"/>
                    </a:solidFill>
                  </a:tcPr>
                </a:tc>
              </a:tr>
              <a:tr h="457200">
                <a:tc>
                  <a:txBody>
                    <a:bodyPr/>
                    <a:lstStyle/>
                    <a:p>
                      <a:r>
                        <a:rPr sz="1300" b="0">
                          <a:solidFill>
                            <a:srgbClr val="1B2433"/>
                          </a:solidFill>
                          <a:latin typeface="Helvetica Neue"/>
                          <a:cs typeface="Apple SD Gothic Neo"/>
                          <a:ea typeface="Apple SD Gothic Neo"/>
                        </a:rPr>
                        <a:t>필수 필드 재현율 · 검토 시간</a:t>
                      </a:r>
                    </a:p>
                  </a:txBody>
                  <a:tcPr anchor="ctr">
                    <a:solidFill>
                      <a:srgbClr val="FFFFFF"/>
                    </a:solidFill>
                  </a:tcPr>
                </a:tc>
                <a:tc>
                  <a:txBody>
                    <a:bodyPr/>
                    <a:lstStyle/>
                    <a:p>
                      <a:r>
                        <a:rPr sz="1300" b="0">
                          <a:solidFill>
                            <a:srgbClr val="1B2433"/>
                          </a:solidFill>
                          <a:latin typeface="Helvetica Neue"/>
                          <a:cs typeface="Apple SD Gothic Neo"/>
                          <a:ea typeface="Apple SD Gothic Neo"/>
                        </a:rPr>
                        <a:t>미측정</a:t>
                      </a:r>
                    </a:p>
                  </a:txBody>
                  <a:tcPr anchor="ctr">
                    <a:solidFill>
                      <a:srgbClr val="FFFFFF"/>
                    </a:solidFill>
                  </a:tcPr>
                </a:tc>
              </a:tr>
            </a:tbl>
          </a:graphicData>
        </a:graphic>
      </p:graphicFrame>
      <p:sp>
        <p:nvSpPr>
          <p:cNvPr id="8" name="Rounded Rectangle 7"/>
          <p:cNvSpPr/>
          <p:nvPr/>
        </p:nvSpPr>
        <p:spPr>
          <a:xfrm>
            <a:off x="640080" y="3794760"/>
            <a:ext cx="10972800" cy="24688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153619" bIns="153619"/>
          <a:lstStyle/>
          <a:p>
            <a:pPr algn="l">
              <a:lnSpc>
                <a:spcPct val="110000"/>
              </a:lnSpc>
            </a:pPr>
            <a:r>
              <a:rPr sz="1700" b="1">
                <a:solidFill>
                  <a:srgbClr val="17325C"/>
                </a:solidFill>
                <a:latin typeface="Helvetica Neue"/>
                <a:cs typeface="Apple SD Gothic Neo"/>
                <a:ea typeface="Apple SD Gothic Neo"/>
              </a:rPr>
              <a:t>공정한 비교를 위한 규칙</a:t>
            </a:r>
          </a:p>
          <a:p>
            <a:pPr algn="l" marL="256032" indent="-256032">
              <a:lnSpc>
                <a:spcPct val="110000"/>
              </a:lnSpc>
              <a:spcBef>
                <a:spcPts val="600"/>
              </a:spcBef>
              <a:buChar char="•"/>
            </a:pPr>
            <a:r>
              <a:rPr sz="1400" b="0">
                <a:solidFill>
                  <a:srgbClr val="1B2433"/>
                </a:solidFill>
                <a:latin typeface="Helvetica Neue"/>
                <a:cs typeface="Apple SD Gothic Neo"/>
                <a:ea typeface="Apple SD Gothic Neo"/>
              </a:rPr>
              <a:t>같은 문서·같은 전처리·같은 채점기, 짝지은 비교, 서류 종류·필드별 결과</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개발용과 판정용 세트 분리: hold-out 3은 한 번만 판정함(완료); 새 판정 세트는 튜닝하지 않는 사람이 만듦</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오류 원인 분류: 화질 · 글자 인식 · 레이아웃 · 필드 매핑 · 검증 로직</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두 판독기의 동시 오류율을 재기 전에는 ‘합의’를 독립 확인으로 쓰지 않음</a:t>
            </a:r>
          </a:p>
          <a:p>
            <a:pPr algn="l" marL="256032" indent="-256032">
              <a:lnSpc>
                <a:spcPct val="110000"/>
              </a:lnSpc>
              <a:spcBef>
                <a:spcPts val="400"/>
              </a:spcBef>
              <a:buChar char="•"/>
            </a:pPr>
            <a:r>
              <a:rPr sz="1400" b="0">
                <a:solidFill>
                  <a:srgbClr val="1B2433"/>
                </a:solidFill>
                <a:latin typeface="Helvetica Neue"/>
                <a:cs typeface="Apple SD Gothic Neo"/>
                <a:ea typeface="Apple SD Gothic Neo"/>
              </a:rPr>
              <a:t>실제 서류·실사진의 위험은 물리 촬영 말뭉치와 파일럿 전에는 말할 수 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91440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[부록] 11월·12월 계획 상세와 완료 기준</a:t>
            </a:r>
          </a:p>
        </p:txBody>
      </p:sp>
      <p:sp>
        <p:nvSpPr>
          <p:cNvPr id="4" name="TextBox 3"/>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17</a:t>
            </a:r>
          </a:p>
        </p:txBody>
      </p:sp>
      <p:sp>
        <p:nvSpPr>
          <p:cNvPr id="5" name="TextBox 4"/>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graphicFrame>
        <p:nvGraphicFramePr>
          <p:cNvPr id="6" name="Table 5"/>
          <p:cNvGraphicFramePr>
            <a:graphicFrameLocks noGrp="1"/>
          </p:cNvGraphicFramePr>
          <p:nvPr/>
        </p:nvGraphicFramePr>
        <p:xfrm>
          <a:off x="548640" y="1371600"/>
          <a:ext cx="6949439" cy="3803904"/>
        </p:xfrm>
        <a:graphic>
          <a:graphicData uri="http://schemas.openxmlformats.org/drawingml/2006/table">
            <a:tbl>
              <a:tblPr firstRow="1" bandRow="1">
                <a:tableStyleId>{5C22544A-7EE6-4342-B048-85BDC9FD1C3A}</a:tableStyleId>
              </a:tblPr>
              <a:tblGrid>
                <a:gridCol w="3200400"/>
                <a:gridCol w="3749039"/>
              </a:tblGrid>
              <a:tr h="475488">
                <a:tc>
                  <a:txBody>
                    <a:bodyPr/>
                    <a:lstStyle/>
                    <a:p>
                      <a:r>
                        <a:rPr sz="1200" b="1">
                          <a:solidFill>
                            <a:srgbClr val="FFFFFF"/>
                          </a:solidFill>
                          <a:latin typeface="Helvetica Neue"/>
                          <a:cs typeface="Apple SD Gothic Neo"/>
                          <a:ea typeface="Apple SD Gothic Neo"/>
                        </a:rPr>
                        <a:t>작업</a:t>
                      </a:r>
                    </a:p>
                  </a:txBody>
                  <a:tcPr anchor="ctr" marL="73152" marR="73152">
                    <a:solidFill>
                      <a:srgbClr val="17325C"/>
                    </a:solidFill>
                  </a:tcPr>
                </a:tc>
                <a:tc>
                  <a:txBody>
                    <a:bodyPr/>
                    <a:lstStyle/>
                    <a:p>
                      <a:r>
                        <a:rPr sz="1200" b="1">
                          <a:solidFill>
                            <a:srgbClr val="FFFFFF"/>
                          </a:solidFill>
                          <a:latin typeface="Helvetica Neue"/>
                          <a:cs typeface="Apple SD Gothic Neo"/>
                          <a:ea typeface="Apple SD Gothic Neo"/>
                        </a:rPr>
                        <a:t>완료를 재는 방법</a:t>
                      </a:r>
                    </a:p>
                  </a:txBody>
                  <a:tcPr anchor="ctr" marL="73152" marR="73152">
                    <a:solidFill>
                      <a:srgbClr val="17325C"/>
                    </a:solidFill>
                  </a:tcPr>
                </a:tc>
              </a:tr>
              <a:tr h="475488">
                <a:tc>
                  <a:txBody>
                    <a:bodyPr/>
                    <a:lstStyle/>
                    <a:p>
                      <a:r>
                        <a:rPr sz="1200" b="1">
                          <a:solidFill>
                            <a:srgbClr val="1B2433"/>
                          </a:solidFill>
                          <a:latin typeface="Helvetica Neue"/>
                          <a:cs typeface="Apple SD Gothic Neo"/>
                          <a:ea typeface="Apple SD Gothic Neo"/>
                        </a:rPr>
                        <a:t>N1 기준선 고정·측정 확장</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깨끗한 체크아웃에서 같은 숫자 재현</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N2 PDF 글자층 신뢰 점검 (완료)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조작 705건 중 0건 놓침, 정상 307쪽 오경보 0</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N3 대학명 추출 수정 (완료)</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스캔 21/58 → 56/58, 사진 24/58 → 57/58</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N4 D3 병합 · hold-out 3 1회 판정 (완료)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거짓 ‘제출 가능’ 0, 주입 0/1,525</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N5 실사진 말뭉치 + 정답</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서류·촬영 조건별 개수, 기준선 측정</a:t>
                      </a:r>
                    </a:p>
                  </a:txBody>
                  <a:tcPr anchor="ctr" marL="73152" marR="73152">
                    <a:solidFill>
                      <a:srgbClr val="FFFFFF"/>
                    </a:solidFill>
                  </a:tcPr>
                </a:tc>
              </a:tr>
              <a:tr h="475488">
                <a:tc>
                  <a:txBody>
                    <a:bodyPr/>
                    <a:lstStyle/>
                    <a:p>
                      <a:r>
                        <a:rPr sz="1200" b="1">
                          <a:solidFill>
                            <a:srgbClr val="1B2433"/>
                          </a:solidFill>
                          <a:latin typeface="Helvetica Neue"/>
                          <a:cs typeface="Apple SD Gothic Neo"/>
                          <a:ea typeface="Apple SD Gothic Neo"/>
                        </a:rPr>
                        <a:t>N6 실제 서류 파일럿 (건수만)</a:t>
                      </a:r>
                    </a:p>
                  </a:txBody>
                  <a:tcPr anchor="ctr" marL="73152" marR="73152">
                    <a:solidFill>
                      <a:srgbClr val="F4F7FB"/>
                    </a:solidFill>
                  </a:tcPr>
                </a:tc>
                <a:tc>
                  <a:txBody>
                    <a:bodyPr/>
                    <a:lstStyle/>
                    <a:p>
                      <a:r>
                        <a:rPr sz="1200" b="0">
                          <a:solidFill>
                            <a:srgbClr val="1B2433"/>
                          </a:solidFill>
                          <a:latin typeface="Helvetica Neue"/>
                          <a:cs typeface="Apple SD Gothic Neo"/>
                          <a:ea typeface="Apple SD Gothic Neo"/>
                        </a:rPr>
                        <a:t>승인 후 읽기 전용, 내용 저장 없음</a:t>
                      </a:r>
                    </a:p>
                  </a:txBody>
                  <a:tcPr anchor="ctr" marL="73152" marR="73152">
                    <a:solidFill>
                      <a:srgbClr val="F4F7FB"/>
                    </a:solidFill>
                  </a:tcPr>
                </a:tc>
              </a:tr>
              <a:tr h="475488">
                <a:tc>
                  <a:txBody>
                    <a:bodyPr/>
                    <a:lstStyle/>
                    <a:p>
                      <a:r>
                        <a:rPr sz="1200" b="1">
                          <a:solidFill>
                            <a:srgbClr val="1B2433"/>
                          </a:solidFill>
                          <a:latin typeface="Helvetica Neue"/>
                          <a:cs typeface="Apple SD Gothic Neo"/>
                          <a:ea typeface="Apple SD Gothic Neo"/>
                        </a:rPr>
                        <a:t>N7–N9 화면 · PostgreSQL · 소결함</a:t>
                      </a:r>
                    </a:p>
                  </a:txBody>
                  <a:tcPr anchor="ctr" marL="73152" marR="73152">
                    <a:solidFill>
                      <a:srgbClr val="FFFFFF"/>
                    </a:solidFill>
                  </a:tcPr>
                </a:tc>
                <a:tc>
                  <a:txBody>
                    <a:bodyPr/>
                    <a:lstStyle/>
                    <a:p>
                      <a:r>
                        <a:rPr sz="1200" b="0">
                          <a:solidFill>
                            <a:srgbClr val="1B2433"/>
                          </a:solidFill>
                          <a:latin typeface="Helvetica Neue"/>
                          <a:cs typeface="Apple SD Gothic Neo"/>
                          <a:ea typeface="Apple SD Gothic Neo"/>
                        </a:rPr>
                        <a:t>Playwright·axe, 두 DB에서 통과</a:t>
                      </a:r>
                    </a:p>
                  </a:txBody>
                  <a:tcPr anchor="ctr" marL="73152" marR="73152">
                    <a:solidFill>
                      <a:srgbClr val="FFFFFF"/>
                    </a:solidFill>
                  </a:tcPr>
                </a:tc>
              </a:tr>
            </a:tbl>
          </a:graphicData>
        </a:graphic>
      </p:graphicFrame>
      <p:sp>
        <p:nvSpPr>
          <p:cNvPr id="7" name="Rounded Rectangle 6"/>
          <p:cNvSpPr/>
          <p:nvPr/>
        </p:nvSpPr>
        <p:spPr>
          <a:xfrm>
            <a:off x="7772400" y="1371600"/>
            <a:ext cx="3931920" cy="2743200"/>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lnSpc>
                <a:spcPct val="110000"/>
              </a:lnSpc>
            </a:pPr>
            <a:r>
              <a:rPr sz="1700" b="1">
                <a:solidFill>
                  <a:srgbClr val="6B4300"/>
                </a:solidFill>
                <a:latin typeface="Helvetica Neue"/>
                <a:cs typeface="Apple SD Gothic Neo"/>
                <a:ea typeface="Apple SD Gothic Neo"/>
              </a:rPr>
              <a:t>12월 결정 관문 (VLM)</a:t>
            </a:r>
          </a:p>
          <a:p>
            <a:pPr algn="l" marL="256032" indent="-256032">
              <a:lnSpc>
                <a:spcPct val="110000"/>
              </a:lnSpc>
              <a:spcBef>
                <a:spcPts val="600"/>
              </a:spcBef>
              <a:buChar char="•"/>
            </a:pPr>
            <a:r>
              <a:rPr sz="1300" b="0">
                <a:solidFill>
                  <a:srgbClr val="1B2433"/>
                </a:solidFill>
                <a:latin typeface="Helvetica Neue"/>
                <a:cs typeface="Apple SD Gothic Neo"/>
                <a:ea typeface="Apple SD Gothic Neo"/>
              </a:rPr>
              <a:t>사람 확인이 줄고 거짓 상한은 유지</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합의를 쓰는 곳에서 오류가 독립</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속도·장비가 맞음</a:t>
            </a:r>
          </a:p>
          <a:p>
            <a:pPr algn="l" marL="256032" indent="-256032">
              <a:lnSpc>
                <a:spcPct val="110000"/>
              </a:lnSpc>
              <a:spcBef>
                <a:spcPts val="400"/>
              </a:spcBef>
              <a:buChar char="•"/>
            </a:pPr>
            <a:r>
              <a:rPr sz="1300" b="0">
                <a:solidFill>
                  <a:srgbClr val="1B2433"/>
                </a:solidFill>
                <a:latin typeface="Helvetica Neue"/>
                <a:cs typeface="Apple SD Gothic Neo"/>
                <a:ea typeface="Apple SD Gothic Neo"/>
              </a:rPr>
              <a:t>판정 논리는 그대로</a:t>
            </a:r>
          </a:p>
          <a:p>
            <a:pPr algn="l">
              <a:lnSpc>
                <a:spcPct val="110000"/>
              </a:lnSpc>
              <a:spcBef>
                <a:spcPts val="800"/>
              </a:spcBef>
            </a:pPr>
            <a:r>
              <a:rPr sz="1300" b="1">
                <a:solidFill>
                  <a:srgbClr val="1B2433"/>
                </a:solidFill>
                <a:latin typeface="Helvetica Neue"/>
                <a:cs typeface="Apple SD Gothic Neo"/>
                <a:ea typeface="Apple SD Gothic Neo"/>
              </a:rPr>
              <a:t>아니면: 현재 구조 유지, 결과는 음성·불확정으로 보고</a:t>
            </a:r>
          </a:p>
        </p:txBody>
      </p:sp>
      <p:sp>
        <p:nvSpPr>
          <p:cNvPr id="8" name="Rounded Rectangle 7"/>
          <p:cNvSpPr/>
          <p:nvPr/>
        </p:nvSpPr>
        <p:spPr>
          <a:xfrm>
            <a:off x="548640" y="5257800"/>
            <a:ext cx="11155680" cy="1005840"/>
          </a:xfrm>
          <a:prstGeom prst="roundRect">
            <a:avLst>
              <a:gd name="adj" fmla="val 8000"/>
            </a:avLst>
          </a:prstGeom>
          <a:solidFill>
            <a:srgbClr val="F4F7FB"/>
          </a:solidFill>
          <a:ln w="15875">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lnSpc>
                <a:spcPct val="110000"/>
              </a:lnSpc>
            </a:pPr>
            <a:r>
              <a:rPr sz="1400" b="1">
                <a:solidFill>
                  <a:srgbClr val="6B4300"/>
                </a:solidFill>
                <a:latin typeface="Helvetica Neue"/>
                <a:cs typeface="Apple SD Gothic Neo"/>
                <a:ea typeface="Apple SD Gothic Neo"/>
              </a:rPr>
              <a:t>완료: D3 병합. hold-out 3 한 번 판정에서 스캔 제출 1건당 확인 항목 7.68 → 4.28, 거짓 ‘제출 가능’ 0건 (n=14, 상한 21%).</a:t>
            </a:r>
          </a:p>
          <a:p>
            <a:pPr algn="l">
              <a:lnSpc>
                <a:spcPct val="110000"/>
              </a:lnSpc>
              <a:spcBef>
                <a:spcPts val="400"/>
              </a:spcBef>
            </a:pPr>
            <a:r>
              <a:rPr sz="1300" b="0">
                <a:solidFill>
                  <a:srgbClr val="1B2433"/>
                </a:solidFill>
                <a:latin typeface="Helvetica Neue"/>
                <a:cs typeface="Apple SD Gothic Neo"/>
                <a:ea typeface="Apple SD Gothic Neo"/>
              </a:rPr>
              <a:t>격리 PoC 요건: 별도 환경 · paddlepaddle(-gpu) ≥ 3.2.1 · paddleocr[doc-parser] ≥ 3.4.0 · NVIDIA GPU(CC ≥ 7.0, vLLM은 ≥ 8.0) 또는 측정된 CPU/MLX · 개발 Mac은 M3 Pro 18 GB, NVIDIA GPU 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064240" y="6419088"/>
            <a:ext cx="822960" cy="320040"/>
          </a:xfrm>
          <a:prstGeom prst="rect">
            <a:avLst/>
          </a:prstGeom>
          <a:noFill/>
        </p:spPr>
        <p:txBody>
          <a:bodyPr wrap="square" anchor="t" lIns="0" rIns="0" tIns="0" bIns="0">
            <a:spAutoFit/>
          </a:bodyPr>
          <a:lstStyle/>
          <a:p>
            <a:pPr algn="r">
              <a:lnSpc>
                <a:spcPct val="110000"/>
              </a:lnSpc>
            </a:pPr>
            <a:r>
              <a:rPr sz="1200" b="0">
                <a:solidFill>
                  <a:srgbClr val="4A5872"/>
                </a:solidFill>
                <a:latin typeface="Helvetica Neue"/>
                <a:cs typeface="Apple SD Gothic Neo"/>
                <a:ea typeface="Apple SD Gothic Neo"/>
              </a:rPr>
              <a:t>18</a:t>
            </a:r>
          </a:p>
        </p:txBody>
      </p:sp>
      <p:sp>
        <p:nvSpPr>
          <p:cNvPr id="4" name="TextBox 3"/>
          <p:cNvSpPr txBox="1"/>
          <p:nvPr/>
        </p:nvSpPr>
        <p:spPr>
          <a:xfrm>
            <a:off x="640080" y="6419088"/>
            <a:ext cx="5486400" cy="320040"/>
          </a:xfrm>
          <a:prstGeom prst="rect">
            <a:avLst/>
          </a:prstGeom>
          <a:noFill/>
        </p:spPr>
        <p:txBody>
          <a:bodyPr wrap="square" anchor="t" lIns="0" rIns="0" tIns="0" bIns="0">
            <a:spAutoFit/>
          </a:bodyPr>
          <a:lstStyle/>
          <a:p>
            <a:pPr algn="l">
              <a:lnSpc>
                <a:spcPct val="110000"/>
              </a:lnSpc>
            </a:pPr>
            <a:r>
              <a:rPr sz="1200" b="0">
                <a:solidFill>
                  <a:srgbClr val="4A5872"/>
                </a:solidFill>
                <a:latin typeface="Helvetica Neue"/>
                <a:cs typeface="Apple SD Gothic Neo"/>
                <a:ea typeface="Apple SD Gothic Neo"/>
              </a:rPr>
              <a:t>ADVS · 중간 발표 2026-10-15</a:t>
            </a:r>
          </a:p>
        </p:txBody>
      </p:sp>
      <p:sp>
        <p:nvSpPr>
          <p:cNvPr id="5" name="TextBox 4"/>
          <p:cNvSpPr txBox="1"/>
          <p:nvPr/>
        </p:nvSpPr>
        <p:spPr>
          <a:xfrm>
            <a:off x="822960" y="1005840"/>
            <a:ext cx="10607040" cy="914400"/>
          </a:xfrm>
          <a:prstGeom prst="rect">
            <a:avLst/>
          </a:prstGeom>
          <a:noFill/>
        </p:spPr>
        <p:txBody>
          <a:bodyPr wrap="square" anchor="t" lIns="0" rIns="0" tIns="0" bIns="0">
            <a:spAutoFit/>
          </a:bodyPr>
          <a:lstStyle/>
          <a:p>
            <a:pPr algn="l">
              <a:lnSpc>
                <a:spcPct val="110000"/>
              </a:lnSpc>
            </a:pPr>
            <a:r>
              <a:rPr sz="4000" b="1">
                <a:solidFill>
                  <a:srgbClr val="17325C"/>
                </a:solidFill>
                <a:latin typeface="Helvetica Neue"/>
                <a:cs typeface="Apple SD Gothic Neo"/>
                <a:ea typeface="Apple SD Gothic Neo"/>
              </a:rPr>
              <a:t>감사합니다 · 질의 (2분)</a:t>
            </a:r>
          </a:p>
        </p:txBody>
      </p:sp>
      <p:sp>
        <p:nvSpPr>
          <p:cNvPr id="6" name="Rounded Rectangle 5"/>
          <p:cNvSpPr/>
          <p:nvPr/>
        </p:nvSpPr>
        <p:spPr>
          <a:xfrm>
            <a:off x="822960" y="214884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실제 서류에서도 되나요?</a:t>
            </a:r>
          </a:p>
        </p:txBody>
      </p:sp>
      <p:sp>
        <p:nvSpPr>
          <p:cNvPr id="7" name="TextBox 6"/>
          <p:cNvSpPr txBox="1"/>
          <p:nvPr/>
        </p:nvSpPr>
        <p:spPr>
          <a:xfrm>
            <a:off x="4389120" y="214884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가상 서류로만 시험했습니다. 실사진 말뭉치와 읽기 전용 실제 서류 파일럿이 다음 단계입니다.</a:t>
            </a:r>
          </a:p>
        </p:txBody>
      </p:sp>
      <p:sp>
        <p:nvSpPr>
          <p:cNvPr id="8" name="Rounded Rectangle 7"/>
          <p:cNvSpPr/>
          <p:nvPr/>
        </p:nvSpPr>
        <p:spPr>
          <a:xfrm>
            <a:off x="822960" y="315468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PDF를 위조하면요?</a:t>
            </a:r>
          </a:p>
        </p:txBody>
      </p:sp>
      <p:sp>
        <p:nvSpPr>
          <p:cNvPr id="9" name="TextBox 8"/>
          <p:cNvSpPr txBox="1"/>
          <p:nvPr/>
        </p:nvSpPr>
        <p:spPr>
          <a:xfrm>
            <a:off x="4389120" y="315468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보이지 않는·흰색·초소형 숨은 글자는 읽지 않고 ‘확인 필요’로 표시합니다(조작 705건 중 0건 놓침). 위·변조 여부 자체는 발급기관 확인이 필요합니다.</a:t>
            </a:r>
          </a:p>
        </p:txBody>
      </p:sp>
      <p:sp>
        <p:nvSpPr>
          <p:cNvPr id="10" name="Rounded Rectangle 9"/>
          <p:cNvSpPr/>
          <p:nvPr/>
        </p:nvSpPr>
        <p:spPr>
          <a:xfrm>
            <a:off x="822960" y="416052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LLM·VLM은 왜 안 쓰나요?</a:t>
            </a:r>
          </a:p>
        </p:txBody>
      </p:sp>
      <p:sp>
        <p:nvSpPr>
          <p:cNvPr id="11" name="TextBox 10"/>
          <p:cNvSpPr txBox="1"/>
          <p:nvPr/>
        </p:nvSpPr>
        <p:spPr>
          <a:xfrm>
            <a:off x="4389120" y="416052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아직 통합하지 않았습니다. 2차 중간발표에서 같은 데이터로 선택적 검증을 비교한 뒤 12월에 결정합니다.</a:t>
            </a:r>
          </a:p>
        </p:txBody>
      </p:sp>
      <p:sp>
        <p:nvSpPr>
          <p:cNvPr id="12" name="Rounded Rectangle 11"/>
          <p:cNvSpPr/>
          <p:nvPr/>
        </p:nvSpPr>
        <p:spPr>
          <a:xfrm>
            <a:off x="822960" y="5166360"/>
            <a:ext cx="3383280" cy="868680"/>
          </a:xfrm>
          <a:prstGeom prst="roundRect">
            <a:avLst>
              <a:gd name="adj" fmla="val 8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10000"/>
              </a:lnSpc>
            </a:pPr>
            <a:r>
              <a:rPr sz="1600" b="1">
                <a:solidFill>
                  <a:srgbClr val="17325C"/>
                </a:solidFill>
                <a:latin typeface="Helvetica Neue"/>
                <a:cs typeface="Apple SD Gothic Neo"/>
                <a:ea typeface="Apple SD Gothic Neo"/>
              </a:rPr>
              <a:t>0건이면 안전한가요?</a:t>
            </a:r>
          </a:p>
        </p:txBody>
      </p:sp>
      <p:sp>
        <p:nvSpPr>
          <p:cNvPr id="13" name="TextBox 12"/>
          <p:cNvSpPr txBox="1"/>
          <p:nvPr/>
        </p:nvSpPr>
        <p:spPr>
          <a:xfrm>
            <a:off x="4389120" y="5166360"/>
            <a:ext cx="7223760" cy="868680"/>
          </a:xfrm>
          <a:prstGeom prst="rect">
            <a:avLst/>
          </a:prstGeom>
          <a:noFill/>
        </p:spPr>
        <p:txBody>
          <a:bodyPr wrap="square" anchor="ctr" lIns="0" rIns="0" tIns="0" bIns="0">
            <a:spAutoFit/>
          </a:bodyPr>
          <a:lstStyle/>
          <a:p>
            <a:pPr algn="l">
              <a:lnSpc>
                <a:spcPct val="110000"/>
              </a:lnSpc>
            </a:pPr>
            <a:r>
              <a:rPr sz="1400" b="0">
                <a:solidFill>
                  <a:srgbClr val="1B2433"/>
                </a:solidFill>
                <a:latin typeface="Helvetica Neue"/>
                <a:cs typeface="Apple SD Gothic Neo"/>
                <a:ea typeface="Apple SD Gothic Neo"/>
              </a:rPr>
              <a:t>아닙니다. 40건 중 0건의 95% 상한은 7.5%입니다. 표본과 실제 위험은 다릅니다.</a:t>
            </a:r>
          </a:p>
        </p:txBody>
      </p:sp>
      <p:sp>
        <p:nvSpPr>
          <p:cNvPr id="14" name="TextBox 13"/>
          <p:cNvSpPr txBox="1"/>
          <p:nvPr/>
        </p:nvSpPr>
        <p:spPr>
          <a:xfrm>
            <a:off x="822960" y="6217920"/>
            <a:ext cx="10607040" cy="365760"/>
          </a:xfrm>
          <a:prstGeom prst="rect">
            <a:avLst/>
          </a:prstGeom>
          <a:noFill/>
        </p:spPr>
        <p:txBody>
          <a:bodyPr wrap="square" anchor="t" lIns="0" rIns="0" tIns="0" bIns="0">
            <a:spAutoFit/>
          </a:bodyPr>
          <a:lstStyle/>
          <a:p>
            <a:pPr algn="l">
              <a:lnSpc>
                <a:spcPct val="110000"/>
              </a:lnSpc>
            </a:pPr>
            <a:r>
              <a:rPr sz="1400" b="0">
                <a:solidFill>
                  <a:srgbClr val="4A5872"/>
                </a:solidFill>
                <a:latin typeface="Helvetica Neue"/>
                <a:cs typeface="Apple SD Gothic Neo"/>
                <a:ea typeface="Apple SD Gothic Neo"/>
              </a:rPr>
              <a:t>올림조노바 무니라 · 굴로모프 하비빌로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