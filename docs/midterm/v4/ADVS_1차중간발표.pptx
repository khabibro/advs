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사람이 확인할 항목 수 (스캔 1건당)</c:v>
                </c:pt>
              </c:strCache>
            </c:strRef>
          </c:tx>
          <c:spPr>
            <a:solidFill>
              <a:srgbClr val="17325C"/>
            </a:solidFill>
          </c:spPr>
          <c:dPt>
            <c:idx val="0"/>
            <c:spPr>
              <a:solidFill>
                <a:srgbClr val="D3DAE6"/>
              </a:solidFill>
            </c:spPr>
          </c:dPt>
          <c:dPt>
            <c:idx val="1"/>
            <c:spPr>
              <a:solidFill>
                <a:srgbClr val="17325C"/>
              </a:solidFill>
            </c:spPr>
          </c:dPt>
          <c:dPt>
            <c:idx val="2"/>
            <c:spPr>
              <a:solidFill>
                <a:srgbClr val="6B4300"/>
              </a:solidFill>
            </c:spPr>
          </c:dPt>
          <c:dPt>
            <c:idx val="3"/>
            <c:spPr>
              <a:solidFill>
                <a:srgbClr val="0B5D3B"/>
              </a:solidFill>
            </c:spPr>
          </c:dPt>
          <c:cat>
            <c:strRef>
              <c:f>Sheet1!$A$2:$A$5</c:f>
              <c:strCache>
                <c:ptCount val="4"/>
                <c:pt idx="0">
                  <c:v>기준선
(모두 사람 확인)</c:v>
                </c:pt>
                <c:pt idx="1">
                  <c:v>Phase D</c:v>
                </c:pt>
                <c:pt idx="2">
                  <c:v>D2 (안전 강화)</c:v>
                </c:pt>
                <c:pt idx="3">
                  <c:v>Phase G (현재)</c:v>
                </c:pt>
              </c:strCache>
            </c:strRef>
          </c:cat>
          <c:val>
            <c:numRef>
              <c:f>Sheet1!$B$2:$B$5</c:f>
              <c:numCache>
                <c:formatCode>General</c:formatCode>
                <c:ptCount val="4"/>
                <c:pt idx="0">
                  <c:v>11.64</c:v>
                </c:pt>
                <c:pt idx="1">
                  <c:v>3.82</c:v>
                </c:pt>
                <c:pt idx="2">
                  <c:v>7.23</c:v>
                </c:pt>
                <c:pt idx="3">
                  <c:v>3.73</c:v>
                </c:pt>
              </c:numCache>
            </c:numRef>
          </c:val>
        </c:ser>
        <c:dLbls>
          <c:numFmt formatCode="0.00" sourceLinked="0"/>
          <c:txPr>
            <a:bodyPr/>
            <a:lstStyle/>
            <a:p>
              <a:pPr>
                <a:defRPr sz="20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4.0"/>
          <c:min val="0.0"/>
        </c:scaling>
        <c:delete val="0"/>
        <c:axPos val="l"/>
        <c:majorGridlines>
          <c:spPr>
            <a:ln>
              <a:solidFill>
                <a:srgbClr val="C9D2E0"/>
              </a:solidFill>
            </a:ln>
          </c:spPr>
        </c:majorGridlines>
        <c:title>
          <c:tx>
            <c:rich>
              <a:bodyPr/>
              <a:lstStyle/>
              <a:p>
                <a:r>
                  <a:rPr sz="1400"/>
                  <a:t>항목 수 (스캔 제출 1건당)</a:t>
                </a:r>
              </a:p>
            </c:rich>
          </c:tx>
          <c:layout/>
          <c:overlay val="0"/>
        </c:title>
        <c:majorTickMark val="out"/>
        <c:minorTickMark val="none"/>
        <c:tickLblPos val="nextTo"/>
        <c:crossAx val="-2068027336"/>
        <c:crosses val="autoZero"/>
        <c:majorUnit val="2.0"/>
      </c:valAx>
    </c:plotArea>
    <c:dispBlanksAs val="gap"/>
  </c:chart>
  <c:txPr>
    <a:bodyPr/>
    <a:lstStyle/>
    <a:p>
      <a:pPr>
        <a:defRPr sz="1400">
          <a:latin typeface="Apple SD Gothic Ne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Phase G 이전</c:v>
                </c:pt>
              </c:strCache>
            </c:strRef>
          </c:tx>
          <c:spPr>
            <a:solidFill>
              <a:srgbClr val="D3DAE6"/>
            </a:solidFill>
          </c:spPr>
          <c:cat>
            <c:strRef>
              <c:f>Sheet1!$A$2:$A$5</c:f>
              <c:strCache>
                <c:ptCount val="4"/>
                <c:pt idx="0">
                  <c:v>스캔 필드
257 → 268 / 275</c:v>
                </c:pt>
                <c:pt idx="1">
                  <c:v>사진 필드
264 → 273 / 275</c:v>
                </c:pt>
                <c:pt idx="2">
                  <c:v>대학명 (스캔)
9 → 19 / 20</c:v>
                </c:pt>
                <c:pt idx="3">
                  <c:v>대학명 (사진)
11 → 20 / 20</c:v>
                </c:pt>
              </c:strCache>
            </c:strRef>
          </c:cat>
          <c:val>
            <c:numRef>
              <c:f>Sheet1!$B$2:$B$5</c:f>
              <c:numCache>
                <c:formatCode>General</c:formatCode>
                <c:ptCount val="4"/>
                <c:pt idx="0">
                  <c:v>93.5</c:v>
                </c:pt>
                <c:pt idx="1">
                  <c:v>96.0</c:v>
                </c:pt>
                <c:pt idx="2">
                  <c:v>45.0</c:v>
                </c:pt>
                <c:pt idx="3">
                  <c:v>55.0</c:v>
                </c:pt>
              </c:numCache>
            </c:numRef>
          </c:val>
        </c:ser>
        <c:ser>
          <c:idx val="1"/>
          <c:order val="1"/>
          <c:tx>
            <c:strRef>
              <c:f>Sheet1!$C$1</c:f>
              <c:strCache>
                <c:ptCount val="1"/>
                <c:pt idx="0">
                  <c:v>Phase G 이후</c:v>
                </c:pt>
              </c:strCache>
            </c:strRef>
          </c:tx>
          <c:spPr>
            <a:solidFill>
              <a:srgbClr val="17325C"/>
            </a:solidFill>
          </c:spPr>
          <c:cat>
            <c:strRef>
              <c:f>Sheet1!$A$2:$A$5</c:f>
              <c:strCache>
                <c:ptCount val="4"/>
                <c:pt idx="0">
                  <c:v>스캔 필드
257 → 268 / 275</c:v>
                </c:pt>
                <c:pt idx="1">
                  <c:v>사진 필드
264 → 273 / 275</c:v>
                </c:pt>
                <c:pt idx="2">
                  <c:v>대학명 (스캔)
9 → 19 / 20</c:v>
                </c:pt>
                <c:pt idx="3">
                  <c:v>대학명 (사진)
11 → 20 / 20</c:v>
                </c:pt>
              </c:strCache>
            </c:strRef>
          </c:cat>
          <c:val>
            <c:numRef>
              <c:f>Sheet1!$C$2:$C$5</c:f>
              <c:numCache>
                <c:formatCode>General</c:formatCode>
                <c:ptCount val="4"/>
                <c:pt idx="0">
                  <c:v>97.5</c:v>
                </c:pt>
                <c:pt idx="1">
                  <c:v>99.3</c:v>
                </c:pt>
                <c:pt idx="2">
                  <c:v>95.0</c:v>
                </c:pt>
                <c:pt idx="3">
                  <c:v>100.0</c:v>
                </c:pt>
              </c:numCache>
            </c:numRef>
          </c:val>
        </c:ser>
        <c:dLbls>
          <c:numFmt formatCode="0.0&quot;%&quot;" sourceLinked="0"/>
          <c:txPr>
            <a:bodyPr/>
            <a:lstStyle/>
            <a:p>
              <a:pPr>
                <a:defRPr sz="1600" b="1"/>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txPr>
          <a:bodyPr/>
          <a:lstStyle/>
          <a:p>
            <a:pPr>
              <a:defRPr sz="1500"/>
            </a:pPr>
          </a:p>
        </c:txPr>
        <c:crossAx val="-2113994440"/>
        <c:crosses val="autoZero"/>
        <c:auto val="1"/>
        <c:lblAlgn val="ctr"/>
        <c:lblOffset val="100"/>
        <c:noMultiLvlLbl val="0"/>
      </c:catAx>
      <c:valAx>
        <c:axId val="-2113994440"/>
        <c:scaling>
          <c:max val="110.0"/>
          <c:min val="0.0"/>
        </c:scaling>
        <c:delete val="0"/>
        <c:axPos val="l"/>
        <c:majorGridlines>
          <c:spPr>
            <a:ln>
              <a:solidFill>
                <a:srgbClr val="C9D2E0"/>
              </a:solidFill>
            </a:ln>
          </c:spPr>
        </c:majorGridlines>
        <c:title>
          <c:tx>
            <c:rich>
              <a:bodyPr/>
              <a:lstStyle/>
              <a:p>
                <a:r>
                  <a:rPr sz="1400"/>
                  <a:t>정확한 필드 (%)</a:t>
                </a:r>
              </a:p>
            </c:rich>
          </c:tx>
          <c:layout/>
          <c:overlay val="0"/>
        </c:title>
        <c:majorTickMark val="out"/>
        <c:minorTickMark val="none"/>
        <c:tickLblPos val="nextTo"/>
        <c:crossAx val="-2068027336"/>
        <c:crosses val="autoZero"/>
        <c:majorUnit val="20.0"/>
      </c:valAx>
    </c:plotArea>
    <c:legend>
      <c:legendPos val="t"/>
      <c:overlay val="0"/>
      <c:txPr>
        <a:bodyPr/>
        <a:lstStyle/>
        <a:p>
          <a:pPr>
            <a:defRPr sz="1600"/>
          </a:pPr>
        </a:p>
      </c:txPr>
    </c:legend>
    <c:dispBlanksAs val="gap"/>
  </c:chart>
  <c:txPr>
    <a:bodyPr/>
    <a:lstStyle/>
    <a:p>
      <a:pPr>
        <a:defRPr sz="1400">
          <a:latin typeface="Apple SD Gothic Ne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10초</a:t>
            </a:r>
          </a:p>
          <a:p/>
          <a:p>
            <a:r>
              <a:t>ADVS는 행정 서류를 제출하기 전에 점검하는 시스템입니다. 오늘은 만든 것, 결과, 그리고 어떻게 달성했는지를 화면으로 보여 드리겠습니다.</a:t>
            </a:r>
          </a:p>
          <a:p/>
          <a:p>
            <a:r>
              <a:t>[English] ADVS checks administrative documents before submission; today: what we built, the results and how we got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15초</a:t>
            </a:r>
          </a:p>
          <a:p/>
          <a:p>
            <a:r>
              <a:t>서류를 제출할 때 누락, 만료, 회사명 불일치, 중복, 비슷한 다른 서류가 자주 생깁니다. 제출 후에 발견하면 처음부터 다시 해야 합니다.</a:t>
            </a:r>
          </a:p>
          <a:p/>
          <a:p>
            <a:r>
              <a:t>[English] Typical problems: missing, expired, mismatched, duplicate and look-alike documents; found after submission they cost a resubmission.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20초</a:t>
            </a:r>
          </a:p>
          <a:p/>
          <a:p>
            <a:r>
              <a:t>서류를 올리면 ADVS가 세 가지 중 하나로 알려줍니다. 초록은 문제가 발견되지 않음, 빨강은 고쳐야 할 문제, 노랑은 사람이 확인해야 함입니다. 제출 가능은 공식 승인이 아닙니다.</a:t>
            </a:r>
          </a:p>
          <a:p/>
          <a:p>
            <a:r>
              <a:t>[English] Upload documents and ADVS answers with one of three results; 'ready' is never an official approval.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30초</a:t>
            </a:r>
          </a:p>
          <a:p/>
          <a:p>
            <a:r>
              <a:t>회색 막대가 수행계획서의 월별 계획이고 초록 막대가 실제 작업 기간입니다. 분류·추출과 규칙 검증, 화면은 계획보다 앞서 10월 초에 마쳤고, 평가와 안전성 작업도 시작했습니다. 로그인·DB·배포만 12월 예정입니다. 월 단위 계획이라 막대의 길이는 대략적인 비교입니다.</a:t>
            </a:r>
          </a:p>
          <a:p/>
          <a:p>
            <a:r>
              <a:t>[English] Grey = monthly plan, green = actual work periods from the commit history: classification, rules and UI finished early in October; login, DB and deployment remain for December. The plan is monthly, so the comparison is approximate; no per-module percentages are claimed.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25초</a:t>
            </a:r>
          </a:p>
          <a:p/>
          <a:p>
            <a:r>
              <a:t>하비빌로는 백엔드와 문서 분석, OCR, 점검 로직, 그리고 평가 체계와 안전성을 맡았고, 무니라는 사용자 화면과 UX를 맡았습니다. 요구사항 분석, 통합 테스트, 멘토링, 발표는 함께 했습니다. 기여도는 커밋 수가 아니라 담당 영역과 결과물로 설명했습니다.</a:t>
            </a:r>
          </a:p>
          <a:p/>
          <a:p>
            <a:r>
              <a:t>[English] Habibillo: backend, document analysis, OCR, validation logic, evaluation and safety. Munira: UI/UX and frontend. Shared: requirements, integration tests, mentoring, presentation. Roles are described by area and deliverable, not by commit counts.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25초</a:t>
            </a:r>
          </a:p>
          <a:p/>
          <a:p>
            <a:r>
              <a:t>디지털 PDF는 글자층을 읽고 숨은 텍스트를 검사합니다. 스캔과 사진은 기존 OCR로 읽습니다. 그다음 규칙으로 분류하고 항목을 뽑아 서류끼리 비교합니다. 불확실한 값은 사람이 확인합니다. 새 모델은 쓰지 않고 검증 가능한 규칙에 집중했습니다.</a:t>
            </a:r>
          </a:p>
          <a:p/>
          <a:p>
            <a:r>
              <a:t>[English] Digital PDFs: text layer plus a hidden-text check; scans and photos: the existing OCR. Then rule-based classification, extraction and cross-document checks; uncertain values go to a person. Traditional OCR 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15초</a:t>
            </a:r>
          </a:p>
          <a:p/>
          <a:p>
            <a:r>
              <a:t>서류를 올리면 칸마다 상태가 보입니다. 두 서류는 제출되었고 두 서류는 빠져 있어서 상단 배너가 보완 필요로 알려 줍니다. 빠진 칸에서 바로 업로드할 수 있습니다.</a:t>
            </a:r>
          </a:p>
          <a:p/>
          <a:p>
            <a:r>
              <a:t>[English] Two documents are in, two are missing; the banner says so and the missing slots have an upload button.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20초</a:t>
            </a:r>
          </a:p>
          <a:p/>
          <a:p>
            <a:r>
              <a:t>네 서류가 모두 있고 유효하며 서로 일치하면 초록 배너로 제출 가능을 알려 줍니다. 공식 승인이 아니라는 문구를 항상 함께 보여 줍니다.</a:t>
            </a:r>
          </a:p>
          <a:p/>
          <a:p>
            <a:r>
              <a:t>[English] All four required documents are present, valid and consistent: green banner, with the 'not an official approval' note.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15초</a:t>
            </a:r>
          </a:p>
          <a:p/>
          <a:p>
            <a:r>
              <a:t>왼쪽 원본 서류에서 읽은 위치가 표시되고, 오른쪽에는 읽은 값과 그 출처, 그리고 통과한 규칙이 나옵니다. 사람이 몇 초 안에 확인할 수 있습니다.</a:t>
            </a:r>
          </a:p>
          <a:p/>
          <a:p>
            <a:r>
              <a:t>[English] The value read, where it came from on the original, and the rule it passed.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20초</a:t>
            </a:r>
          </a:p>
          <a:p/>
          <a:p>
            <a:r>
              <a:t>납세증명서의 유효기간 종료일이 점검 기준일보다 이전이면 보완 필요로 알려 주고, 어느 날짜가 문제인지 문장으로 보여 줍니다.</a:t>
            </a:r>
          </a:p>
          <a:p/>
          <a:p>
            <a:r>
              <a:t>[English] An expired tax certificate is caught, with the two dates that matter written 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15초</a:t>
            </a:r>
          </a:p>
          <a:p/>
          <a:p>
            <a:r>
              <a:t>사업자등록증과 납세증명서의 회사명이 다르면 두 값을 나란히 보여 주며 보완 필요로 알려 줍니다. 서류 하나가 아니라 제출 전체를 비교합니다.</a:t>
            </a:r>
          </a:p>
          <a:p/>
          <a:p>
            <a:r>
              <a:t>[English] Company names differ between two documents; both values are quoted. The submission is checked as a whole.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25초</a:t>
            </a:r>
          </a:p>
          <a:p/>
          <a:p>
            <a:r>
              <a:t>스캔 서류는 값이 맞다는 독립적인 증거가 없으면 사람에게 넘깁니다. 읽은 값과 원본의 해당 부분을 나란히 보여 주고, 같으면 확인 버튼 하나로 끝납니다.</a:t>
            </a:r>
          </a:p>
          <a:p/>
          <a:p>
            <a:r>
              <a:t>[English] No independent confirmation for a scanned value, so it goes to a person: the value next to the original crop, one key to confirm.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15초</a:t>
            </a:r>
          </a:p>
          <a:p/>
          <a:p>
            <a:r>
              <a:t>마지막 항목을 확인하면 점검 버튼을 누르지 않아도 상태가 제출 가능으로 바뀝니다. 사람의 확인이 결과에 반영됩니다.</a:t>
            </a:r>
          </a:p>
          <a:p/>
          <a:p>
            <a:r>
              <a:t>[English] After the last confirmation the check re-runs by itself and the status changes.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20초</a:t>
            </a:r>
          </a:p>
          <a:p/>
          <a:p>
            <a:r>
              <a:t>가장 중요한 안전 지표는 잘못된 제출 가능입니다. 처음 보는 문서에서 열네 건 중 0건이었고 개발 문서에서는 마흔 건 중 0건입니다. 디지털 PDF는 거의 모두 맞고, 스캔도 틀린 값은 없었으며 불확실한 값만 사람에게 넘깁니다. 숨은 글자로 조작한 PDF 열두 건은 모두 확인 필요로 막았습니다. 표본이 작아서 0건이 위험이 없다는 뜻은 아닙니다.</a:t>
            </a:r>
          </a:p>
          <a:p/>
          <a:p>
            <a:r>
              <a:t>[English] Safety: 0 wrong 'ready' on unseen documents (0/14) and on development documents (0/40); digital PDFs nearly perfect; scans have no wrong values, uncertain ones go to a person; all 12 tampered PDFs were held. Small samples: zero events is not zero risk.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30초</a:t>
            </a:r>
          </a:p>
          <a:p/>
          <a:p>
            <a:r>
              <a:t>문제는 스캔 서류의 값을 전부 사람이 확인해야 한다는 점이었고, 한 건당 11.64개였습니다. 다른 서류와 대조하고 검증숫자를 쓰는 독립 확인으로 3.82개까지 줄였습니다. 그런데 처음 보는 문서에서 잘못된 제출 가능이 나와 안전 규칙을 강화했고 그래서 7.23개로 늘었습니다. 이후 GPA 재계산과 날짜 쌍 같은 내부 검증을 더해 다시 3.73개로 줄였습니다. 오른쪽은 처음 보는 문서에서의 같은 개선입니다.</a:t>
            </a:r>
          </a:p>
          <a:p/>
          <a:p>
            <a:r>
              <a:t>[English] Problem: every scanned value needed a person (11.64 per submission). Independent confirmation cut it to 3.82; tightening safety after a false 'ready' on unseen data raised it to 7.23 (owner-approved); internal checks brought it to 3.73. Right: the same improvement on unseen documents.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20초</a:t>
            </a:r>
          </a:p>
          <a:p/>
          <a:p>
            <a:r>
              <a:t>같은 처음 보는 문서로 개선 전후를 비교했습니다. 스캔 필드는 275개 중 257개에서 268개로, 사진은 264개에서 273개로 늘었고, 대학명은 스캔 9개에서 19개, 사진 11개에서 20개로 올랐습니다. 틀린 값은 0개입니다.</a:t>
            </a:r>
          </a:p>
          <a:p/>
          <a:p>
            <a:r>
              <a:t>[English] Same unseen documents before and after: scans 257 to 268 of 275, photos 264 to 273, university name 9 to 19 and 11 to 20 of 20; no wrong values.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30초</a:t>
            </a:r>
          </a:p>
          <a:p/>
          <a:p>
            <a:r>
              <a:t>네 가지 어려움이 있었습니다. 도장이 글자를 가리는 문제는 도장 영역을 따로 읽어 해결했습니다. 대학명이 붙거나 잘리는 문제는 추출 규칙을 고쳐 스캔 58개 중 21개에서 56개로 올렸습니다. PDF에 숨은 글자로 날짜를 바꾸는 조작은 화면과 비교해 막았습니다. 마지막으로 개발 문서에서 완벽하던 디지털 추출이 처음 보는 문서에서는 275개 중 174개였던 과적합을 찾아 고쳤습니다.</a:t>
            </a:r>
          </a:p>
          <a:p/>
          <a:p>
            <a:r>
              <a:t>[English] Four difficulties: seals over text (read the seal area separately), university names glued or cut (21/58 to 56/58), hidden text manipulating dates (blocked by comparing with the rendered page) and overfitting found on unseen documents (174/275 to 275/275 on the next unseen set).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25초</a:t>
            </a:r>
          </a:p>
          <a:p/>
          <a:p>
            <a:r>
              <a:t>검증 원칙은 두 가지입니다. 개발은 개발용 문서로 하고, 판정은 처음 보는 문서로 딱 한 번 합니다. 거기에 일부러 OCR 오류를 넣은 시험, 조작한 PDF, 그리고 자동 테스트를 더했습니다. 모두 TEST SAMPLE 가상 문서입니다.</a:t>
            </a:r>
          </a:p>
          <a:p/>
          <a:p>
            <a:r>
              <a:t>[English] Develop on development documents, judge once on unseen documents; plus injected OCR errors, tampered PDFs and automated tests; all documents are fictional TEST SAMPLE files.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15초</a:t>
            </a:r>
          </a:p>
          <a:p/>
          <a:p>
            <a:r>
              <a:t>한계도 말씀드립니다. OCR은 진위를 보증하지 못하고 오독을 없애지 못합니다. 지금까지는 가상 문서로만 검증했습니다. 스캔과 사진은 독립 확인이 없으면 사람이 확인합니다. 로그인은 없고 SQLite로만 시험했습니다. OCR은 진위를 보증하지 못합니다.</a:t>
            </a:r>
          </a:p>
          <a:p/>
          <a:p>
            <a:r>
              <a:t>[English] Limits: only fictional documents so far; scans and photos still need a person for unconfirmed values; no login, SQLite only; OCR cannot guarantee authenticity.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30초</a:t>
            </a:r>
          </a:p>
          <a:p/>
          <a:p>
            <a:r>
              <a:t>다음 단계의 핵심은 실제 스캔과 사진으로 검증하는 것입니다. 11월에는 촬영 품질 검사와 재촬영 안내, 이미지 보정, 검토 대기열과 관리자 화면을 만들고 새 처음 보는 문서로 판정합니다. 12월에는 로그인과 권한, 개인정보 보호, 감사 로그, PostgreSQL, 배포를 마치고, 선택으로 국세청 조회를 검토합니다. 각 단계의 목표는 잘못된 제출 가능 0을 유지하고 사람 확인 항목을 더 줄이는 것입니다.</a:t>
            </a:r>
          </a:p>
          <a:p/>
          <a:p>
            <a:r>
              <a:t>[English] Next: validate on real scans and photos. November: photo quality check and retake guidance, image correction, reviewer queue and admin screen, a new unseen set. December: login and roles, privacy, audit log, PostgreSQL, deployment, optional National Tax Service lookup. Goals: keep false 'ready' at 0 and reduce review items further.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10초</a:t>
            </a:r>
          </a:p>
          <a:p/>
          <a:p>
            <a:r>
              <a:t>질문 받겠습니다. (준비한 답변) 1) 실제 문서에서도 되나요? 가상 테스트 문서로만 검증했고, 실제 스캔·사진과 읽기 전용 파일럿이 다음 단계입니다. 2) OCR이 틀리면요? 독립 확인이 없는 값은 자동으로 받아들이지 않고 사람이 원본과 대조합니다. 처음 보는 문서에서 틀린 값은 0개였지만 실제 문서는 측정하지 않았습니다. 3) 왜 잘못된 승인이 0이라고 확신하나요? 확신하지 않습니다. 열네 건 중 0건은 95퍼센트 상한이 약 21퍼센트이고, 가상 문서 기준입니다. 4) 위·변조 서류는요? 화면과 다른 숨은 글자는 읽지 않고 확인 필요로 막았고 진위 자체는 발급기관 확인이 필요합니다. 5) 역할은 어떻게 나눴나요? 하비빌로는 백엔드·문서 분석·평가, 무니라는 UI/UX와 프론트엔드이고, 요구사항·테스트·멘토링·발표는 함께 했습니다.</a:t>
            </a:r>
          </a:p>
          <a:p/>
          <a:p>
            <a:r>
              <a:t>[English] Prepared answers: (1) real documents: only fictional tests so far, real scans and a read-only pilot next; (2) wrong OCR: values without independent confirmation are never accepted automatically and a person compares them; 0 wrong values on unseen documents, real documents not measured; (3) why trust 0: we do not; 0/14 has a 95% upper bound of about 21%, on synthetic data; (4) tampered PDFs: hidden text is not read and is flagged, authenticity needs the issuer; (5) roles: Habibillo backend, document analysis and evaluation; Munira UI/UX and frontend; shared requirements, testing, mentoring and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0초</a:t>
            </a:r>
          </a:p>
          <a:p/>
          <a:p>
            <a:r>
              <a:t>질의응답용 전체 수치 표입니다. 모든 값은 분모와 함께 적었습니다.</a:t>
            </a:r>
          </a:p>
          <a:p/>
          <a:p>
            <a:r>
              <a:t>[English] Full numbers table for Q&amp;A, with denominators.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0초</a:t>
            </a:r>
          </a:p>
          <a:p/>
          <a:p>
            <a:r>
              <a:t>멘토님이 정의하신 서류 6종과 각각의 점검 항목입니다.</a:t>
            </a:r>
          </a:p>
          <a:p/>
          <a:p>
            <a:r>
              <a:t>[English] The six mentor-defined document types and their checks.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0초</a:t>
            </a:r>
          </a:p>
          <a:p/>
          <a:p>
            <a:r>
              <a:t>질의응답용 화면입니다.</a:t>
            </a:r>
          </a:p>
          <a:p/>
          <a:p>
            <a:r>
              <a:t>[English] Backup screenshot for Q&amp;A.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0초</a:t>
            </a:r>
          </a:p>
          <a:p/>
          <a:p>
            <a:r>
              <a:t>질의응답용 화면입니다.</a:t>
            </a:r>
          </a:p>
          <a:p/>
          <a:p>
            <a:r>
              <a:t>[English] Backup screenshot for Q&amp;A.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0초</a:t>
            </a:r>
          </a:p>
          <a:p/>
          <a:p>
            <a:r>
              <a:t>질의응답용 화면입니다.</a:t>
            </a:r>
          </a:p>
          <a:p/>
          <a:p>
            <a:r>
              <a:t>[English] Backup screenshot for Q&amp;A.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0초</a:t>
            </a:r>
          </a:p>
          <a:p/>
          <a:p>
            <a:r>
              <a:t>질의응답용 화면입니다.</a:t>
            </a:r>
          </a:p>
          <a:p/>
          <a:p>
            <a:r>
              <a:t>[English] Backup screenshot for Q&amp;A.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0초</a:t>
            </a:r>
          </a:p>
          <a:p/>
          <a:p>
            <a:r>
              <a:t>시연 시나리오와 기대 결과입니다. 리허설은 세 번 통과했습니다.</a:t>
            </a:r>
          </a:p>
          <a:p/>
          <a:p>
            <a:r>
              <a:t>[English] Demo scenarios and expected results; the rehearsal passed three times in a row.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시간 0초</a:t>
            </a:r>
          </a:p>
          <a:p/>
          <a:p>
            <a:r>
              <a:t>슬라이드별 출처 요약입니다. 전체 표는 slides_sources.md에 있습니다.</a:t>
            </a:r>
          </a:p>
          <a:p/>
          <a:p>
            <a:r>
              <a:t>[English] Per-slide source summary; the full table is slides_sources.md.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khabibro/ADVS"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github.com/khabibro/ADVS" TargetMode="Externa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22960"/>
            <a:ext cx="10515600" cy="457200"/>
          </a:xfrm>
          <a:prstGeom prst="rect">
            <a:avLst/>
          </a:prstGeom>
          <a:noFill/>
        </p:spPr>
        <p:txBody>
          <a:bodyPr wrap="square" anchor="t" lIns="0" rIns="0" tIns="0" bIns="0">
            <a:spAutoFit/>
          </a:bodyPr>
          <a:lstStyle/>
          <a:p>
            <a:pPr algn="l">
              <a:lnSpc>
                <a:spcPct val="105000"/>
              </a:lnSpc>
            </a:pPr>
            <a:r>
              <a:rPr sz="2000" b="0">
                <a:solidFill>
                  <a:srgbClr val="C7D3E8"/>
                </a:solidFill>
                <a:latin typeface="Helvetica Neue"/>
                <a:cs typeface="Apple SD Gothic Neo"/>
                <a:ea typeface="Apple SD Gothic Neo"/>
              </a:rPr>
              <a:t>KNU 종합설계프로젝트 1 · 플래시21 · 1차 중간발표</a:t>
            </a:r>
          </a:p>
        </p:txBody>
      </p:sp>
      <p:sp>
        <p:nvSpPr>
          <p:cNvPr id="5" name="TextBox 4"/>
          <p:cNvSpPr txBox="1"/>
          <p:nvPr/>
        </p:nvSpPr>
        <p:spPr>
          <a:xfrm>
            <a:off x="822960" y="1554480"/>
            <a:ext cx="10789920" cy="2103120"/>
          </a:xfrm>
          <a:prstGeom prst="rect">
            <a:avLst/>
          </a:prstGeom>
          <a:noFill/>
        </p:spPr>
        <p:txBody>
          <a:bodyPr wrap="square" anchor="t" lIns="0" rIns="0" tIns="0" bIns="0">
            <a:spAutoFit/>
          </a:bodyPr>
          <a:lstStyle/>
          <a:p>
            <a:pPr algn="l">
              <a:lnSpc>
                <a:spcPct val="100000"/>
              </a:lnSpc>
            </a:pPr>
            <a:r>
              <a:rPr sz="4400" b="1">
                <a:solidFill>
                  <a:srgbClr val="FFFFFF"/>
                </a:solidFill>
                <a:latin typeface="Helvetica Neue"/>
                <a:cs typeface="Apple SD Gothic Neo"/>
                <a:ea typeface="Apple SD Gothic Neo"/>
              </a:rPr>
              <a:t>AI 기반 행정 제출서류</a:t>
            </a:r>
          </a:p>
          <a:p>
            <a:pPr algn="l">
              <a:lnSpc>
                <a:spcPct val="100000"/>
              </a:lnSpc>
            </a:pPr>
            <a:r>
              <a:rPr sz="4400" b="1">
                <a:solidFill>
                  <a:srgbClr val="FFFFFF"/>
                </a:solidFill>
                <a:latin typeface="Helvetica Neue"/>
                <a:cs typeface="Apple SD Gothic Neo"/>
                <a:ea typeface="Apple SD Gothic Neo"/>
              </a:rPr>
              <a:t>분석 및 자동 점검 시스템 (ADVS)</a:t>
            </a:r>
          </a:p>
        </p:txBody>
      </p:sp>
      <p:sp>
        <p:nvSpPr>
          <p:cNvPr id="6" name="TextBox 5"/>
          <p:cNvSpPr txBox="1"/>
          <p:nvPr/>
        </p:nvSpPr>
        <p:spPr>
          <a:xfrm>
            <a:off x="822960" y="3794760"/>
            <a:ext cx="10515600" cy="548640"/>
          </a:xfrm>
          <a:prstGeom prst="rect">
            <a:avLst/>
          </a:prstGeom>
          <a:noFill/>
        </p:spPr>
        <p:txBody>
          <a:bodyPr wrap="square" anchor="t" lIns="0" rIns="0" tIns="0" bIns="0">
            <a:spAutoFit/>
          </a:bodyPr>
          <a:lstStyle/>
          <a:p>
            <a:pPr algn="l">
              <a:lnSpc>
                <a:spcPct val="105000"/>
              </a:lnSpc>
            </a:pPr>
            <a:r>
              <a:rPr sz="2400" b="0">
                <a:solidFill>
                  <a:srgbClr val="FFFFFF"/>
                </a:solidFill>
                <a:latin typeface="Helvetica Neue"/>
                <a:cs typeface="Apple SD Gothic Neo"/>
                <a:ea typeface="Apple SD Gothic Neo"/>
              </a:rPr>
              <a:t>제출 전에, 설정된 기준으로, 근거와 함께 점검합니다</a:t>
            </a:r>
          </a:p>
        </p:txBody>
      </p:sp>
      <p:sp>
        <p:nvSpPr>
          <p:cNvPr id="7" name="TextBox 6"/>
          <p:cNvSpPr txBox="1"/>
          <p:nvPr/>
        </p:nvSpPr>
        <p:spPr>
          <a:xfrm>
            <a:off x="822960" y="4709160"/>
            <a:ext cx="10515600" cy="1371600"/>
          </a:xfrm>
          <a:prstGeom prst="rect">
            <a:avLst/>
          </a:prstGeom>
          <a:noFill/>
        </p:spPr>
        <p:txBody>
          <a:bodyPr wrap="square" anchor="t" lIns="0" rIns="0" tIns="0" bIns="0">
            <a:spAutoFit/>
          </a:bodyPr>
          <a:lstStyle/>
          <a:p>
            <a:pPr algn="l">
              <a:lnSpc>
                <a:spcPct val="105000"/>
              </a:lnSpc>
            </a:pPr>
            <a:r>
              <a:rPr sz="2200" b="0">
                <a:solidFill>
                  <a:srgbClr val="FFFFFF"/>
                </a:solidFill>
                <a:latin typeface="Helvetica Neue"/>
                <a:cs typeface="Apple SD Gothic Neo"/>
                <a:ea typeface="Apple SD Gothic Neo"/>
              </a:rPr>
              <a:t>팀 올림조노바 무니라 · 굴로모프 하비빌로</a:t>
            </a:r>
          </a:p>
          <a:p>
            <a:pPr algn="l">
              <a:lnSpc>
                <a:spcPct val="105000"/>
              </a:lnSpc>
              <a:spcBef>
                <a:spcPts val="600"/>
              </a:spcBef>
            </a:pPr>
            <a:r>
              <a:rPr sz="2200" b="0">
                <a:solidFill>
                  <a:srgbClr val="FFFFFF"/>
                </a:solidFill>
                <a:latin typeface="Helvetica Neue"/>
                <a:cs typeface="Apple SD Gothic Neo"/>
                <a:ea typeface="Apple SD Gothic Neo"/>
              </a:rPr>
              <a:t>멘토 이현지 (플래시21)   지도교수 김동균</a:t>
            </a:r>
          </a:p>
          <a:p>
            <a:pPr algn="l">
              <a:lnSpc>
                <a:spcPct val="105000"/>
              </a:lnSpc>
              <a:spcBef>
                <a:spcPts val="600"/>
              </a:spcBef>
            </a:pPr>
            <a:r>
              <a:rPr sz="2000" b="0">
                <a:solidFill>
                  <a:srgbClr val="C7D3E8"/>
                </a:solidFill>
                <a:latin typeface="Helvetica Neue"/>
                <a:cs typeface="Apple SD Gothic Neo"/>
                <a:ea typeface="Apple SD Gothic Neo"/>
              </a:rPr>
              <a:t>2026년 10월 15일</a:t>
            </a:r>
          </a:p>
        </p:txBody>
      </p:sp>
      <p:sp>
        <p:nvSpPr>
          <p:cNvPr id="8" name="TextBox 7">
            <a:hlinkClick r:id="rId2"/>
          </p:cNvPr>
          <p:cNvSpPr txBox="1"/>
          <p:nvPr/>
        </p:nvSpPr>
        <p:spPr>
          <a:xfrm>
            <a:off x="822960" y="5989320"/>
            <a:ext cx="10515600" cy="411480"/>
          </a:xfrm>
          <a:prstGeom prst="rect">
            <a:avLst/>
          </a:prstGeom>
          <a:noFill/>
        </p:spPr>
        <p:txBody>
          <a:bodyPr wrap="square" anchor="t" lIns="0" rIns="0" tIns="0" bIns="0">
            <a:spAutoFit/>
          </a:bodyPr>
          <a:lstStyle/>
          <a:p>
            <a:pPr algn="l">
              <a:lnSpc>
                <a:spcPct val="105000"/>
              </a:lnSpc>
            </a:pPr>
            <a:r>
              <a:rPr sz="1600" b="0" u="sng">
                <a:solidFill>
                  <a:srgbClr val="FFFFFF"/>
                </a:solidFill>
                <a:latin typeface="Helvetica Neue"/>
                <a:cs typeface="Apple SD Gothic Neo"/>
                <a:ea typeface="Apple SD Gothic Neo"/>
              </a:rPr>
              <a:t>GitHub: github.com/khabibro/ADVS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서류 제출은 반복적이고 실수가 잦습니다</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ectangle 5"/>
          <p:cNvSpPr/>
          <p:nvPr/>
        </p:nvSpPr>
        <p:spPr>
          <a:xfrm>
            <a:off x="914400" y="2103120"/>
            <a:ext cx="1737360" cy="2377440"/>
          </a:xfrm>
          <a:prstGeom prst="rect">
            <a:avLst/>
          </a:prstGeom>
          <a:solidFill>
            <a:srgbClr val="FFFFFF"/>
          </a:solidFill>
          <a:ln w="1905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468880"/>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816352"/>
            <a:ext cx="914399"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3163824"/>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80" y="3511296"/>
            <a:ext cx="914399"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3858768"/>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3000" y="2286000"/>
            <a:ext cx="1737360" cy="2377440"/>
          </a:xfrm>
          <a:prstGeom prst="rect">
            <a:avLst/>
          </a:prstGeom>
          <a:solidFill>
            <a:srgbClr val="FFFFFF"/>
          </a:solidFill>
          <a:ln w="1905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25880" y="2651760"/>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25880" y="2999232"/>
            <a:ext cx="914399"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325880" y="3346704"/>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25880" y="3694176"/>
            <a:ext cx="914399"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25880" y="4041648"/>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371600" y="2468879"/>
            <a:ext cx="1737360" cy="2377440"/>
          </a:xfrm>
          <a:prstGeom prst="rect">
            <a:avLst/>
          </a:prstGeom>
          <a:solidFill>
            <a:srgbClr val="FFFFFF"/>
          </a:solidFill>
          <a:ln w="1905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554480" y="2834640"/>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554480" y="3182112"/>
            <a:ext cx="914399"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554480" y="3529584"/>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54480" y="3877056"/>
            <a:ext cx="914399"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554480" y="4224528"/>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00200" y="2651760"/>
            <a:ext cx="1737360" cy="2377440"/>
          </a:xfrm>
          <a:prstGeom prst="rect">
            <a:avLst/>
          </a:prstGeom>
          <a:solidFill>
            <a:srgbClr val="F3F6FB"/>
          </a:solidFill>
          <a:ln w="1905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783080" y="3017520"/>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783080" y="3364992"/>
            <a:ext cx="914399"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783080" y="3712464"/>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783080" y="4059936"/>
            <a:ext cx="914399"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783080" y="4407408"/>
            <a:ext cx="1280160" cy="91440"/>
          </a:xfrm>
          <a:prstGeom prst="rect">
            <a:avLst/>
          </a:prstGeom>
          <a:solidFill>
            <a:srgbClr val="D3DA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212080"/>
            <a:ext cx="3108960" cy="457200"/>
          </a:xfrm>
          <a:prstGeom prst="rect">
            <a:avLst/>
          </a:prstGeom>
          <a:noFill/>
        </p:spPr>
        <p:txBody>
          <a:bodyPr wrap="square" anchor="t" lIns="0" rIns="0" tIns="0" bIns="0">
            <a:spAutoFit/>
          </a:bodyPr>
          <a:lstStyle/>
          <a:p>
            <a:pPr algn="ctr">
              <a:lnSpc>
                <a:spcPct val="105000"/>
              </a:lnSpc>
            </a:pPr>
            <a:r>
              <a:rPr sz="1800" b="1">
                <a:solidFill>
                  <a:srgbClr val="4A5872"/>
                </a:solidFill>
                <a:latin typeface="Helvetica Neue"/>
                <a:cs typeface="Apple SD Gothic Neo"/>
                <a:ea typeface="Apple SD Gothic Neo"/>
              </a:rPr>
              <a:t>제출 서류 더미</a:t>
            </a:r>
          </a:p>
        </p:txBody>
      </p:sp>
      <p:sp>
        <p:nvSpPr>
          <p:cNvPr id="31" name="Right Arrow 30"/>
          <p:cNvSpPr/>
          <p:nvPr/>
        </p:nvSpPr>
        <p:spPr>
          <a:xfrm>
            <a:off x="3977639" y="3200400"/>
            <a:ext cx="822960" cy="64008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029200" y="1371600"/>
            <a:ext cx="6492240" cy="694944"/>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0" y="1371600"/>
            <a:ext cx="1920240" cy="694944"/>
          </a:xfrm>
          <a:prstGeom prst="rect">
            <a:avLst/>
          </a:prstGeom>
          <a:noFill/>
        </p:spPr>
        <p:txBody>
          <a:bodyPr wrap="square" anchor="ctr" lIns="0" rIns="0" tIns="0" bIns="0">
            <a:spAutoFit/>
          </a:bodyPr>
          <a:lstStyle/>
          <a:p>
            <a:pPr algn="l">
              <a:lnSpc>
                <a:spcPct val="105000"/>
              </a:lnSpc>
            </a:pPr>
            <a:r>
              <a:rPr sz="2400" b="1">
                <a:solidFill>
                  <a:srgbClr val="6B4300"/>
                </a:solidFill>
                <a:latin typeface="Helvetica Neue"/>
                <a:cs typeface="Apple SD Gothic Neo"/>
                <a:ea typeface="Apple SD Gothic Neo"/>
              </a:rPr>
              <a:t>⚠ 누락</a:t>
            </a:r>
          </a:p>
        </p:txBody>
      </p:sp>
      <p:sp>
        <p:nvSpPr>
          <p:cNvPr id="34" name="TextBox 33"/>
          <p:cNvSpPr txBox="1"/>
          <p:nvPr/>
        </p:nvSpPr>
        <p:spPr>
          <a:xfrm>
            <a:off x="7223760" y="1371600"/>
            <a:ext cx="4206240" cy="694944"/>
          </a:xfrm>
          <a:prstGeom prst="rect">
            <a:avLst/>
          </a:prstGeom>
          <a:noFill/>
        </p:spPr>
        <p:txBody>
          <a:bodyPr wrap="square" anchor="ctr" lIns="0" rIns="0" tIns="0" bIns="0">
            <a:spAutoFit/>
          </a:bodyPr>
          <a:lstStyle/>
          <a:p>
            <a:pPr algn="l">
              <a:lnSpc>
                <a:spcPct val="105000"/>
              </a:lnSpc>
            </a:pPr>
            <a:r>
              <a:rPr sz="2000" b="0">
                <a:solidFill>
                  <a:srgbClr val="1B2433"/>
                </a:solidFill>
                <a:latin typeface="Helvetica Neue"/>
                <a:cs typeface="Apple SD Gothic Neo"/>
                <a:ea typeface="Apple SD Gothic Neo"/>
              </a:rPr>
              <a:t>필수 서류가 빠짐</a:t>
            </a:r>
          </a:p>
        </p:txBody>
      </p:sp>
      <p:sp>
        <p:nvSpPr>
          <p:cNvPr id="35" name="Rounded Rectangle 34"/>
          <p:cNvSpPr/>
          <p:nvPr/>
        </p:nvSpPr>
        <p:spPr>
          <a:xfrm>
            <a:off x="5029200" y="2194560"/>
            <a:ext cx="6492240" cy="694944"/>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0" y="2194560"/>
            <a:ext cx="1920240" cy="694944"/>
          </a:xfrm>
          <a:prstGeom prst="rect">
            <a:avLst/>
          </a:prstGeom>
          <a:noFill/>
        </p:spPr>
        <p:txBody>
          <a:bodyPr wrap="square" anchor="ctr" lIns="0" rIns="0" tIns="0" bIns="0">
            <a:spAutoFit/>
          </a:bodyPr>
          <a:lstStyle/>
          <a:p>
            <a:pPr algn="l">
              <a:lnSpc>
                <a:spcPct val="105000"/>
              </a:lnSpc>
            </a:pPr>
            <a:r>
              <a:rPr sz="2400" b="1">
                <a:solidFill>
                  <a:srgbClr val="6B4300"/>
                </a:solidFill>
                <a:latin typeface="Helvetica Neue"/>
                <a:cs typeface="Apple SD Gothic Neo"/>
                <a:ea typeface="Apple SD Gothic Neo"/>
              </a:rPr>
              <a:t>⚠ 만료</a:t>
            </a:r>
          </a:p>
        </p:txBody>
      </p:sp>
      <p:sp>
        <p:nvSpPr>
          <p:cNvPr id="37" name="TextBox 36"/>
          <p:cNvSpPr txBox="1"/>
          <p:nvPr/>
        </p:nvSpPr>
        <p:spPr>
          <a:xfrm>
            <a:off x="7223760" y="2194560"/>
            <a:ext cx="4206240" cy="694944"/>
          </a:xfrm>
          <a:prstGeom prst="rect">
            <a:avLst/>
          </a:prstGeom>
          <a:noFill/>
        </p:spPr>
        <p:txBody>
          <a:bodyPr wrap="square" anchor="ctr" lIns="0" rIns="0" tIns="0" bIns="0">
            <a:spAutoFit/>
          </a:bodyPr>
          <a:lstStyle/>
          <a:p>
            <a:pPr algn="l">
              <a:lnSpc>
                <a:spcPct val="105000"/>
              </a:lnSpc>
            </a:pPr>
            <a:r>
              <a:rPr sz="2000" b="0">
                <a:solidFill>
                  <a:srgbClr val="1B2433"/>
                </a:solidFill>
                <a:latin typeface="Helvetica Neue"/>
                <a:cs typeface="Apple SD Gothic Neo"/>
                <a:ea typeface="Apple SD Gothic Neo"/>
              </a:rPr>
              <a:t>유효기간이 지남</a:t>
            </a:r>
          </a:p>
        </p:txBody>
      </p:sp>
      <p:sp>
        <p:nvSpPr>
          <p:cNvPr id="38" name="Rounded Rectangle 37"/>
          <p:cNvSpPr/>
          <p:nvPr/>
        </p:nvSpPr>
        <p:spPr>
          <a:xfrm>
            <a:off x="5029200" y="3017520"/>
            <a:ext cx="6492240" cy="694944"/>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12080" y="3017520"/>
            <a:ext cx="1920240" cy="694944"/>
          </a:xfrm>
          <a:prstGeom prst="rect">
            <a:avLst/>
          </a:prstGeom>
          <a:noFill/>
        </p:spPr>
        <p:txBody>
          <a:bodyPr wrap="square" anchor="ctr" lIns="0" rIns="0" tIns="0" bIns="0">
            <a:spAutoFit/>
          </a:bodyPr>
          <a:lstStyle/>
          <a:p>
            <a:pPr algn="l">
              <a:lnSpc>
                <a:spcPct val="105000"/>
              </a:lnSpc>
            </a:pPr>
            <a:r>
              <a:rPr sz="2400" b="1">
                <a:solidFill>
                  <a:srgbClr val="6B4300"/>
                </a:solidFill>
                <a:latin typeface="Helvetica Neue"/>
                <a:cs typeface="Apple SD Gothic Neo"/>
                <a:ea typeface="Apple SD Gothic Neo"/>
              </a:rPr>
              <a:t>⚠ 불일치</a:t>
            </a:r>
          </a:p>
        </p:txBody>
      </p:sp>
      <p:sp>
        <p:nvSpPr>
          <p:cNvPr id="40" name="TextBox 39"/>
          <p:cNvSpPr txBox="1"/>
          <p:nvPr/>
        </p:nvSpPr>
        <p:spPr>
          <a:xfrm>
            <a:off x="7223760" y="3017520"/>
            <a:ext cx="4206240" cy="694944"/>
          </a:xfrm>
          <a:prstGeom prst="rect">
            <a:avLst/>
          </a:prstGeom>
          <a:noFill/>
        </p:spPr>
        <p:txBody>
          <a:bodyPr wrap="square" anchor="ctr" lIns="0" rIns="0" tIns="0" bIns="0">
            <a:spAutoFit/>
          </a:bodyPr>
          <a:lstStyle/>
          <a:p>
            <a:pPr algn="l">
              <a:lnSpc>
                <a:spcPct val="105000"/>
              </a:lnSpc>
            </a:pPr>
            <a:r>
              <a:rPr sz="2000" b="0">
                <a:solidFill>
                  <a:srgbClr val="1B2433"/>
                </a:solidFill>
                <a:latin typeface="Helvetica Neue"/>
                <a:cs typeface="Apple SD Gothic Neo"/>
                <a:ea typeface="Apple SD Gothic Neo"/>
              </a:rPr>
              <a:t>서류마다 회사명이 다름</a:t>
            </a:r>
          </a:p>
        </p:txBody>
      </p:sp>
      <p:sp>
        <p:nvSpPr>
          <p:cNvPr id="41" name="Rounded Rectangle 40"/>
          <p:cNvSpPr/>
          <p:nvPr/>
        </p:nvSpPr>
        <p:spPr>
          <a:xfrm>
            <a:off x="5029200" y="3840480"/>
            <a:ext cx="6492240" cy="694944"/>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12080" y="3840480"/>
            <a:ext cx="1920240" cy="694944"/>
          </a:xfrm>
          <a:prstGeom prst="rect">
            <a:avLst/>
          </a:prstGeom>
          <a:noFill/>
        </p:spPr>
        <p:txBody>
          <a:bodyPr wrap="square" anchor="ctr" lIns="0" rIns="0" tIns="0" bIns="0">
            <a:spAutoFit/>
          </a:bodyPr>
          <a:lstStyle/>
          <a:p>
            <a:pPr algn="l">
              <a:lnSpc>
                <a:spcPct val="105000"/>
              </a:lnSpc>
            </a:pPr>
            <a:r>
              <a:rPr sz="2400" b="1">
                <a:solidFill>
                  <a:srgbClr val="6B4300"/>
                </a:solidFill>
                <a:latin typeface="Helvetica Neue"/>
                <a:cs typeface="Apple SD Gothic Neo"/>
                <a:ea typeface="Apple SD Gothic Neo"/>
              </a:rPr>
              <a:t>⚠ 중복</a:t>
            </a:r>
          </a:p>
        </p:txBody>
      </p:sp>
      <p:sp>
        <p:nvSpPr>
          <p:cNvPr id="43" name="TextBox 42"/>
          <p:cNvSpPr txBox="1"/>
          <p:nvPr/>
        </p:nvSpPr>
        <p:spPr>
          <a:xfrm>
            <a:off x="7223760" y="3840480"/>
            <a:ext cx="4206240" cy="694944"/>
          </a:xfrm>
          <a:prstGeom prst="rect">
            <a:avLst/>
          </a:prstGeom>
          <a:noFill/>
        </p:spPr>
        <p:txBody>
          <a:bodyPr wrap="square" anchor="ctr" lIns="0" rIns="0" tIns="0" bIns="0">
            <a:spAutoFit/>
          </a:bodyPr>
          <a:lstStyle/>
          <a:p>
            <a:pPr algn="l">
              <a:lnSpc>
                <a:spcPct val="105000"/>
              </a:lnSpc>
            </a:pPr>
            <a:r>
              <a:rPr sz="2000" b="0">
                <a:solidFill>
                  <a:srgbClr val="1B2433"/>
                </a:solidFill>
                <a:latin typeface="Helvetica Neue"/>
                <a:cs typeface="Apple SD Gothic Neo"/>
                <a:ea typeface="Apple SD Gothic Neo"/>
              </a:rPr>
              <a:t>같은 서류를 두 번</a:t>
            </a:r>
          </a:p>
        </p:txBody>
      </p:sp>
      <p:sp>
        <p:nvSpPr>
          <p:cNvPr id="44" name="Rounded Rectangle 43"/>
          <p:cNvSpPr/>
          <p:nvPr/>
        </p:nvSpPr>
        <p:spPr>
          <a:xfrm>
            <a:off x="5029200" y="4663440"/>
            <a:ext cx="6492240" cy="694944"/>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0" y="4663440"/>
            <a:ext cx="1920240" cy="694944"/>
          </a:xfrm>
          <a:prstGeom prst="rect">
            <a:avLst/>
          </a:prstGeom>
          <a:noFill/>
        </p:spPr>
        <p:txBody>
          <a:bodyPr wrap="square" anchor="ctr" lIns="0" rIns="0" tIns="0" bIns="0">
            <a:spAutoFit/>
          </a:bodyPr>
          <a:lstStyle/>
          <a:p>
            <a:pPr algn="l">
              <a:lnSpc>
                <a:spcPct val="105000"/>
              </a:lnSpc>
            </a:pPr>
            <a:r>
              <a:rPr sz="2400" b="1">
                <a:solidFill>
                  <a:srgbClr val="6B4300"/>
                </a:solidFill>
                <a:latin typeface="Helvetica Neue"/>
                <a:cs typeface="Apple SD Gothic Neo"/>
                <a:ea typeface="Apple SD Gothic Neo"/>
              </a:rPr>
              <a:t>⚠ 유사 서류</a:t>
            </a:r>
          </a:p>
        </p:txBody>
      </p:sp>
      <p:sp>
        <p:nvSpPr>
          <p:cNvPr id="46" name="TextBox 45"/>
          <p:cNvSpPr txBox="1"/>
          <p:nvPr/>
        </p:nvSpPr>
        <p:spPr>
          <a:xfrm>
            <a:off x="7223760" y="4663440"/>
            <a:ext cx="4206240" cy="694944"/>
          </a:xfrm>
          <a:prstGeom prst="rect">
            <a:avLst/>
          </a:prstGeom>
          <a:noFill/>
        </p:spPr>
        <p:txBody>
          <a:bodyPr wrap="square" anchor="ctr" lIns="0" rIns="0" tIns="0" bIns="0">
            <a:spAutoFit/>
          </a:bodyPr>
          <a:lstStyle/>
          <a:p>
            <a:pPr algn="l">
              <a:lnSpc>
                <a:spcPct val="105000"/>
              </a:lnSpc>
            </a:pPr>
            <a:r>
              <a:rPr sz="2000" b="0">
                <a:solidFill>
                  <a:srgbClr val="1B2433"/>
                </a:solidFill>
                <a:latin typeface="Helvetica Neue"/>
                <a:cs typeface="Apple SD Gothic Neo"/>
                <a:ea typeface="Apple SD Gothic Neo"/>
              </a:rPr>
              <a:t>비슷하지만 다른 서류</a:t>
            </a:r>
          </a:p>
        </p:txBody>
      </p:sp>
      <p:sp>
        <p:nvSpPr>
          <p:cNvPr id="47" name="TextBox 46"/>
          <p:cNvSpPr txBox="1"/>
          <p:nvPr/>
        </p:nvSpPr>
        <p:spPr>
          <a:xfrm>
            <a:off x="822960" y="5760720"/>
            <a:ext cx="10789920" cy="457200"/>
          </a:xfrm>
          <a:prstGeom prst="rect">
            <a:avLst/>
          </a:prstGeom>
          <a:noFill/>
        </p:spPr>
        <p:txBody>
          <a:bodyPr wrap="square" anchor="t" lIns="0" rIns="0" tIns="0" bIns="0">
            <a:spAutoFit/>
          </a:bodyPr>
          <a:lstStyle/>
          <a:p>
            <a:pPr algn="l">
              <a:lnSpc>
                <a:spcPct val="105000"/>
              </a:lnSpc>
            </a:pPr>
            <a:r>
              <a:rPr sz="2000" b="1">
                <a:solidFill>
                  <a:srgbClr val="17325C"/>
                </a:solidFill>
                <a:latin typeface="Helvetica Neue"/>
                <a:cs typeface="Apple SD Gothic Neo"/>
                <a:ea typeface="Apple SD Gothic Neo"/>
              </a:rPr>
              <a:t>제출 후에 발견하면 다시 준비해 재제출해야 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ADVS: 업로드하면 세 가지 결과로 자동 점검합니다</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3</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ectangle 5"/>
          <p:cNvSpPr/>
          <p:nvPr/>
        </p:nvSpPr>
        <p:spPr>
          <a:xfrm>
            <a:off x="640080" y="2194560"/>
            <a:ext cx="2194560" cy="2560320"/>
          </a:xfrm>
          <a:prstGeom prst="rect">
            <a:avLst/>
          </a:prstGeom>
          <a:solidFill>
            <a:srgbClr val="F3F6FB"/>
          </a:solidFill>
          <a:ln w="1905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94560"/>
            <a:ext cx="2194560" cy="2560320"/>
          </a:xfrm>
          <a:prstGeom prst="rect">
            <a:avLst/>
          </a:prstGeom>
          <a:noFill/>
        </p:spPr>
        <p:txBody>
          <a:bodyPr wrap="square" anchor="ctr" lIns="0" rIns="0" tIns="0" bIns="0">
            <a:spAutoFit/>
          </a:bodyPr>
          <a:lstStyle/>
          <a:p>
            <a:pPr algn="ctr">
              <a:lnSpc>
                <a:spcPct val="105000"/>
              </a:lnSpc>
            </a:pPr>
            <a:r>
              <a:rPr sz="2600" b="1">
                <a:solidFill>
                  <a:srgbClr val="17325C"/>
                </a:solidFill>
                <a:latin typeface="Helvetica Neue"/>
                <a:cs typeface="Apple SD Gothic Neo"/>
                <a:ea typeface="Apple SD Gothic Neo"/>
              </a:rPr>
              <a:t>PDF · 사진</a:t>
            </a:r>
          </a:p>
          <a:p>
            <a:pPr algn="ctr">
              <a:lnSpc>
                <a:spcPct val="105000"/>
              </a:lnSpc>
              <a:spcBef>
                <a:spcPts val="800"/>
              </a:spcBef>
            </a:pPr>
            <a:r>
              <a:rPr sz="2000" b="0">
                <a:solidFill>
                  <a:srgbClr val="4A5872"/>
                </a:solidFill>
                <a:latin typeface="Helvetica Neue"/>
                <a:cs typeface="Apple SD Gothic Neo"/>
                <a:ea typeface="Apple SD Gothic Neo"/>
              </a:rPr>
              <a:t>서류 업로드</a:t>
            </a:r>
          </a:p>
        </p:txBody>
      </p:sp>
      <p:sp>
        <p:nvSpPr>
          <p:cNvPr id="8" name="Right Arrow 7"/>
          <p:cNvSpPr/>
          <p:nvPr/>
        </p:nvSpPr>
        <p:spPr>
          <a:xfrm>
            <a:off x="2971800" y="3154680"/>
            <a:ext cx="640080" cy="54864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49039" y="2194560"/>
            <a:ext cx="2377440" cy="256032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2194560"/>
            <a:ext cx="2377440" cy="2560320"/>
          </a:xfrm>
          <a:prstGeom prst="rect">
            <a:avLst/>
          </a:prstGeom>
          <a:noFill/>
        </p:spPr>
        <p:txBody>
          <a:bodyPr wrap="square" anchor="ctr" lIns="0" rIns="0" tIns="0" bIns="0">
            <a:spAutoFit/>
          </a:bodyPr>
          <a:lstStyle/>
          <a:p>
            <a:pPr algn="ctr">
              <a:lnSpc>
                <a:spcPct val="105000"/>
              </a:lnSpc>
            </a:pPr>
            <a:r>
              <a:rPr sz="4000" b="1">
                <a:solidFill>
                  <a:srgbClr val="FFFFFF"/>
                </a:solidFill>
                <a:latin typeface="Helvetica Neue"/>
                <a:cs typeface="Apple SD Gothic Neo"/>
                <a:ea typeface="Apple SD Gothic Neo"/>
              </a:rPr>
              <a:t>ADVS</a:t>
            </a:r>
          </a:p>
          <a:p>
            <a:pPr algn="ctr">
              <a:lnSpc>
                <a:spcPct val="105000"/>
              </a:lnSpc>
              <a:spcBef>
                <a:spcPts val="600"/>
              </a:spcBef>
            </a:pPr>
            <a:r>
              <a:rPr sz="2200" b="0">
                <a:solidFill>
                  <a:srgbClr val="FFFFFF"/>
                </a:solidFill>
                <a:latin typeface="Helvetica Neue"/>
                <a:cs typeface="Apple SD Gothic Neo"/>
                <a:ea typeface="Apple SD Gothic Neo"/>
              </a:rPr>
              <a:t>자동 점검</a:t>
            </a:r>
          </a:p>
        </p:txBody>
      </p:sp>
      <p:sp>
        <p:nvSpPr>
          <p:cNvPr id="11" name="Right Arrow 10"/>
          <p:cNvSpPr/>
          <p:nvPr/>
        </p:nvSpPr>
        <p:spPr>
          <a:xfrm>
            <a:off x="6263640" y="3154680"/>
            <a:ext cx="640080" cy="54864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0" y="1508760"/>
            <a:ext cx="4663440" cy="1371600"/>
          </a:xfrm>
          <a:prstGeom prst="roundRect">
            <a:avLst>
              <a:gd name="adj" fmla="val 8000"/>
            </a:avLst>
          </a:prstGeom>
          <a:solidFill>
            <a:srgbClr val="E3F5EC"/>
          </a:solidFill>
          <a:ln w="2540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0" y="1508760"/>
            <a:ext cx="914400" cy="1371600"/>
          </a:xfrm>
          <a:prstGeom prst="rect">
            <a:avLst/>
          </a:prstGeom>
          <a:noFill/>
        </p:spPr>
        <p:txBody>
          <a:bodyPr wrap="square" anchor="ctr" lIns="0" rIns="0" tIns="0" bIns="0">
            <a:spAutoFit/>
          </a:bodyPr>
          <a:lstStyle/>
          <a:p>
            <a:pPr algn="ctr">
              <a:lnSpc>
                <a:spcPct val="105000"/>
              </a:lnSpc>
            </a:pPr>
            <a:r>
              <a:rPr sz="4400" b="1">
                <a:solidFill>
                  <a:srgbClr val="0B5D3B"/>
                </a:solidFill>
                <a:latin typeface="Helvetica Neue"/>
                <a:cs typeface="Apple SD Gothic Neo"/>
                <a:ea typeface="Apple SD Gothic Neo"/>
              </a:rPr>
              <a:t>✓</a:t>
            </a:r>
          </a:p>
        </p:txBody>
      </p:sp>
      <p:sp>
        <p:nvSpPr>
          <p:cNvPr id="14" name="TextBox 13"/>
          <p:cNvSpPr txBox="1"/>
          <p:nvPr/>
        </p:nvSpPr>
        <p:spPr>
          <a:xfrm>
            <a:off x="8138160" y="1618488"/>
            <a:ext cx="3474720" cy="548640"/>
          </a:xfrm>
          <a:prstGeom prst="rect">
            <a:avLst/>
          </a:prstGeom>
          <a:noFill/>
        </p:spPr>
        <p:txBody>
          <a:bodyPr wrap="square" anchor="t" lIns="0" rIns="0" tIns="0" bIns="0">
            <a:spAutoFit/>
          </a:bodyPr>
          <a:lstStyle/>
          <a:p>
            <a:pPr algn="l">
              <a:lnSpc>
                <a:spcPct val="105000"/>
              </a:lnSpc>
            </a:pPr>
            <a:r>
              <a:rPr sz="2800" b="1">
                <a:solidFill>
                  <a:srgbClr val="0B5D3B"/>
                </a:solidFill>
                <a:latin typeface="Helvetica Neue"/>
                <a:cs typeface="Apple SD Gothic Neo"/>
                <a:ea typeface="Apple SD Gothic Neo"/>
              </a:rPr>
              <a:t>제출 가능</a:t>
            </a:r>
          </a:p>
        </p:txBody>
      </p:sp>
      <p:sp>
        <p:nvSpPr>
          <p:cNvPr id="15" name="TextBox 14"/>
          <p:cNvSpPr txBox="1"/>
          <p:nvPr/>
        </p:nvSpPr>
        <p:spPr>
          <a:xfrm>
            <a:off x="8138160" y="2221991"/>
            <a:ext cx="3474720" cy="548640"/>
          </a:xfrm>
          <a:prstGeom prst="rect">
            <a:avLst/>
          </a:prstGeom>
          <a:noFill/>
        </p:spPr>
        <p:txBody>
          <a:bodyPr wrap="square" anchor="t" lIns="0" rIns="0" tIns="0" bIns="0">
            <a:spAutoFit/>
          </a:bodyPr>
          <a:lstStyle/>
          <a:p>
            <a:pPr algn="l">
              <a:lnSpc>
                <a:spcPct val="105000"/>
              </a:lnSpc>
            </a:pPr>
            <a:r>
              <a:rPr sz="1800" b="0">
                <a:solidFill>
                  <a:srgbClr val="1B2433"/>
                </a:solidFill>
                <a:latin typeface="Helvetica Neue"/>
                <a:cs typeface="Apple SD Gothic Neo"/>
                <a:ea typeface="Apple SD Gothic Neo"/>
              </a:rPr>
              <a:t>문제 없음 · 공식 승인 아님</a:t>
            </a:r>
          </a:p>
        </p:txBody>
      </p:sp>
      <p:sp>
        <p:nvSpPr>
          <p:cNvPr id="16" name="Rounded Rectangle 15"/>
          <p:cNvSpPr/>
          <p:nvPr/>
        </p:nvSpPr>
        <p:spPr>
          <a:xfrm>
            <a:off x="7040880" y="3063239"/>
            <a:ext cx="4663440" cy="1371600"/>
          </a:xfrm>
          <a:prstGeom prst="roundRect">
            <a:avLst>
              <a:gd name="adj" fmla="val 8000"/>
            </a:avLst>
          </a:prstGeom>
          <a:solidFill>
            <a:srgbClr val="FCE8E6"/>
          </a:solidFill>
          <a:ln w="25400">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3063239"/>
            <a:ext cx="914400" cy="1371600"/>
          </a:xfrm>
          <a:prstGeom prst="rect">
            <a:avLst/>
          </a:prstGeom>
          <a:noFill/>
        </p:spPr>
        <p:txBody>
          <a:bodyPr wrap="square" anchor="ctr" lIns="0" rIns="0" tIns="0" bIns="0">
            <a:spAutoFit/>
          </a:bodyPr>
          <a:lstStyle/>
          <a:p>
            <a:pPr algn="ctr">
              <a:lnSpc>
                <a:spcPct val="105000"/>
              </a:lnSpc>
            </a:pPr>
            <a:r>
              <a:rPr sz="4400" b="1">
                <a:solidFill>
                  <a:srgbClr val="8C1D18"/>
                </a:solidFill>
                <a:latin typeface="Helvetica Neue"/>
                <a:cs typeface="Apple SD Gothic Neo"/>
                <a:ea typeface="Apple SD Gothic Neo"/>
              </a:rPr>
              <a:t>✕</a:t>
            </a:r>
          </a:p>
        </p:txBody>
      </p:sp>
      <p:sp>
        <p:nvSpPr>
          <p:cNvPr id="18" name="TextBox 17"/>
          <p:cNvSpPr txBox="1"/>
          <p:nvPr/>
        </p:nvSpPr>
        <p:spPr>
          <a:xfrm>
            <a:off x="8138160" y="3172968"/>
            <a:ext cx="3474720" cy="548640"/>
          </a:xfrm>
          <a:prstGeom prst="rect">
            <a:avLst/>
          </a:prstGeom>
          <a:noFill/>
        </p:spPr>
        <p:txBody>
          <a:bodyPr wrap="square" anchor="t" lIns="0" rIns="0" tIns="0" bIns="0">
            <a:spAutoFit/>
          </a:bodyPr>
          <a:lstStyle/>
          <a:p>
            <a:pPr algn="l">
              <a:lnSpc>
                <a:spcPct val="105000"/>
              </a:lnSpc>
            </a:pPr>
            <a:r>
              <a:rPr sz="2800" b="1">
                <a:solidFill>
                  <a:srgbClr val="8C1D18"/>
                </a:solidFill>
                <a:latin typeface="Helvetica Neue"/>
                <a:cs typeface="Apple SD Gothic Neo"/>
                <a:ea typeface="Apple SD Gothic Neo"/>
              </a:rPr>
              <a:t>보완 필요</a:t>
            </a:r>
          </a:p>
        </p:txBody>
      </p:sp>
      <p:sp>
        <p:nvSpPr>
          <p:cNvPr id="19" name="TextBox 18"/>
          <p:cNvSpPr txBox="1"/>
          <p:nvPr/>
        </p:nvSpPr>
        <p:spPr>
          <a:xfrm>
            <a:off x="8138160" y="3776472"/>
            <a:ext cx="3474720" cy="548640"/>
          </a:xfrm>
          <a:prstGeom prst="rect">
            <a:avLst/>
          </a:prstGeom>
          <a:noFill/>
        </p:spPr>
        <p:txBody>
          <a:bodyPr wrap="square" anchor="t" lIns="0" rIns="0" tIns="0" bIns="0">
            <a:spAutoFit/>
          </a:bodyPr>
          <a:lstStyle/>
          <a:p>
            <a:pPr algn="l">
              <a:lnSpc>
                <a:spcPct val="105000"/>
              </a:lnSpc>
            </a:pPr>
            <a:r>
              <a:rPr sz="1800" b="0">
                <a:solidFill>
                  <a:srgbClr val="1B2433"/>
                </a:solidFill>
                <a:latin typeface="Helvetica Neue"/>
                <a:cs typeface="Apple SD Gothic Neo"/>
                <a:ea typeface="Apple SD Gothic Neo"/>
              </a:rPr>
              <a:t>고쳐야 할 문제가 확인됨</a:t>
            </a:r>
          </a:p>
        </p:txBody>
      </p:sp>
      <p:sp>
        <p:nvSpPr>
          <p:cNvPr id="20" name="Rounded Rectangle 19"/>
          <p:cNvSpPr/>
          <p:nvPr/>
        </p:nvSpPr>
        <p:spPr>
          <a:xfrm>
            <a:off x="7040880" y="4617720"/>
            <a:ext cx="4663440" cy="1371600"/>
          </a:xfrm>
          <a:prstGeom prst="roundRect">
            <a:avLst>
              <a:gd name="adj" fmla="val 8000"/>
            </a:avLst>
          </a:prstGeom>
          <a:solidFill>
            <a:srgbClr val="FFF1CC"/>
          </a:solidFill>
          <a:ln w="25400">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4617720"/>
            <a:ext cx="914400" cy="1371600"/>
          </a:xfrm>
          <a:prstGeom prst="rect">
            <a:avLst/>
          </a:prstGeom>
          <a:noFill/>
        </p:spPr>
        <p:txBody>
          <a:bodyPr wrap="square" anchor="ctr" lIns="0" rIns="0" tIns="0" bIns="0">
            <a:spAutoFit/>
          </a:bodyPr>
          <a:lstStyle/>
          <a:p>
            <a:pPr algn="ctr">
              <a:lnSpc>
                <a:spcPct val="105000"/>
              </a:lnSpc>
            </a:pPr>
            <a:r>
              <a:rPr sz="4400" b="1">
                <a:solidFill>
                  <a:srgbClr val="6B4300"/>
                </a:solidFill>
                <a:latin typeface="Helvetica Neue"/>
                <a:cs typeface="Apple SD Gothic Neo"/>
                <a:ea typeface="Apple SD Gothic Neo"/>
              </a:rPr>
              <a:t>⚠</a:t>
            </a:r>
          </a:p>
        </p:txBody>
      </p:sp>
      <p:sp>
        <p:nvSpPr>
          <p:cNvPr id="22" name="TextBox 21"/>
          <p:cNvSpPr txBox="1"/>
          <p:nvPr/>
        </p:nvSpPr>
        <p:spPr>
          <a:xfrm>
            <a:off x="8138160" y="4727448"/>
            <a:ext cx="3474720" cy="548640"/>
          </a:xfrm>
          <a:prstGeom prst="rect">
            <a:avLst/>
          </a:prstGeom>
          <a:noFill/>
        </p:spPr>
        <p:txBody>
          <a:bodyPr wrap="square" anchor="t" lIns="0" rIns="0" tIns="0" bIns="0">
            <a:spAutoFit/>
          </a:bodyPr>
          <a:lstStyle/>
          <a:p>
            <a:pPr algn="l">
              <a:lnSpc>
                <a:spcPct val="105000"/>
              </a:lnSpc>
            </a:pPr>
            <a:r>
              <a:rPr sz="2800" b="1">
                <a:solidFill>
                  <a:srgbClr val="6B4300"/>
                </a:solidFill>
                <a:latin typeface="Helvetica Neue"/>
                <a:cs typeface="Apple SD Gothic Neo"/>
                <a:ea typeface="Apple SD Gothic Neo"/>
              </a:rPr>
              <a:t>확인 필요</a:t>
            </a:r>
          </a:p>
        </p:txBody>
      </p:sp>
      <p:sp>
        <p:nvSpPr>
          <p:cNvPr id="23" name="TextBox 22"/>
          <p:cNvSpPr txBox="1"/>
          <p:nvPr/>
        </p:nvSpPr>
        <p:spPr>
          <a:xfrm>
            <a:off x="8138160" y="5330952"/>
            <a:ext cx="3474720" cy="548640"/>
          </a:xfrm>
          <a:prstGeom prst="rect">
            <a:avLst/>
          </a:prstGeom>
          <a:noFill/>
        </p:spPr>
        <p:txBody>
          <a:bodyPr wrap="square" anchor="t" lIns="0" rIns="0" tIns="0" bIns="0">
            <a:spAutoFit/>
          </a:bodyPr>
          <a:lstStyle/>
          <a:p>
            <a:pPr algn="l">
              <a:lnSpc>
                <a:spcPct val="105000"/>
              </a:lnSpc>
            </a:pPr>
            <a:r>
              <a:rPr sz="1800" b="0">
                <a:solidFill>
                  <a:srgbClr val="1B2433"/>
                </a:solidFill>
                <a:latin typeface="Helvetica Neue"/>
                <a:cs typeface="Apple SD Gothic Neo"/>
                <a:ea typeface="Apple SD Gothic Neo"/>
              </a:rPr>
              <a:t>사람이 원본과 대조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계획 대비 진행: 핵심 기능이 계획보다 앞서 완료되었습니다</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4</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ectangle 5"/>
          <p:cNvSpPr/>
          <p:nvPr/>
        </p:nvSpPr>
        <p:spPr>
          <a:xfrm>
            <a:off x="3246120" y="1280160"/>
            <a:ext cx="2068642" cy="36576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9월</a:t>
            </a:r>
          </a:p>
        </p:txBody>
      </p:sp>
      <p:sp>
        <p:nvSpPr>
          <p:cNvPr id="7" name="Rectangle 6"/>
          <p:cNvSpPr/>
          <p:nvPr/>
        </p:nvSpPr>
        <p:spPr>
          <a:xfrm>
            <a:off x="5314762" y="1280160"/>
            <a:ext cx="2137597" cy="365760"/>
          </a:xfrm>
          <a:prstGeom prst="rect">
            <a:avLst/>
          </a:prstGeom>
          <a:solidFill>
            <a:srgbClr val="2F4C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10월</a:t>
            </a:r>
          </a:p>
        </p:txBody>
      </p:sp>
      <p:sp>
        <p:nvSpPr>
          <p:cNvPr id="8" name="Rectangle 7"/>
          <p:cNvSpPr/>
          <p:nvPr/>
        </p:nvSpPr>
        <p:spPr>
          <a:xfrm>
            <a:off x="7452359" y="1280160"/>
            <a:ext cx="2068642" cy="36576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11월</a:t>
            </a:r>
          </a:p>
        </p:txBody>
      </p:sp>
      <p:sp>
        <p:nvSpPr>
          <p:cNvPr id="9" name="Rectangle 8"/>
          <p:cNvSpPr/>
          <p:nvPr/>
        </p:nvSpPr>
        <p:spPr>
          <a:xfrm>
            <a:off x="9521002" y="1280160"/>
            <a:ext cx="2068642" cy="365760"/>
          </a:xfrm>
          <a:prstGeom prst="rect">
            <a:avLst/>
          </a:prstGeom>
          <a:solidFill>
            <a:srgbClr val="2F4C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12월</a:t>
            </a:r>
          </a:p>
        </p:txBody>
      </p:sp>
      <p:sp>
        <p:nvSpPr>
          <p:cNvPr id="10" name="Rectangle 9"/>
          <p:cNvSpPr/>
          <p:nvPr/>
        </p:nvSpPr>
        <p:spPr>
          <a:xfrm>
            <a:off x="548640" y="1783080"/>
            <a:ext cx="11247120" cy="53035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83080"/>
            <a:ext cx="2560320" cy="530352"/>
          </a:xfrm>
          <a:prstGeom prst="rect">
            <a:avLst/>
          </a:prstGeom>
          <a:noFill/>
        </p:spPr>
        <p:txBody>
          <a:bodyPr wrap="square" anchor="ctr" lIns="0" rIns="0" tIns="0" bIns="0">
            <a:spAutoFit/>
          </a:bodyPr>
          <a:lstStyle/>
          <a:p>
            <a:pPr algn="l">
              <a:lnSpc>
                <a:spcPct val="105000"/>
              </a:lnSpc>
            </a:pPr>
            <a:r>
              <a:rPr sz="1800" b="1">
                <a:solidFill>
                  <a:srgbClr val="1B2433"/>
                </a:solidFill>
                <a:latin typeface="Helvetica Neue"/>
                <a:cs typeface="Apple SD Gothic Neo"/>
                <a:ea typeface="Apple SD Gothic Neo"/>
              </a:rPr>
              <a:t>요구사항·설계</a:t>
            </a:r>
          </a:p>
        </p:txBody>
      </p:sp>
      <p:sp>
        <p:nvSpPr>
          <p:cNvPr id="12" name="Rectangle 11"/>
          <p:cNvSpPr/>
          <p:nvPr/>
        </p:nvSpPr>
        <p:spPr>
          <a:xfrm>
            <a:off x="3246120" y="1837943"/>
            <a:ext cx="1999687" cy="182880"/>
          </a:xfrm>
          <a:prstGeom prst="rect">
            <a:avLst/>
          </a:prstGeom>
          <a:solidFill>
            <a:srgbClr val="D3DAE6"/>
          </a:solidFill>
          <a:ln w="1270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1939" y="2057400"/>
            <a:ext cx="689547" cy="201168"/>
          </a:xfrm>
          <a:prstGeom prst="rect">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7206" y="1965960"/>
            <a:ext cx="457200" cy="365760"/>
          </a:xfrm>
          <a:prstGeom prst="rect">
            <a:avLst/>
          </a:prstGeom>
          <a:noFill/>
        </p:spPr>
        <p:txBody>
          <a:bodyPr wrap="square" anchor="ctr" lIns="0" rIns="0" tIns="0" bIns="0">
            <a:spAutoFit/>
          </a:bodyPr>
          <a:lstStyle/>
          <a:p>
            <a:pPr algn="l">
              <a:lnSpc>
                <a:spcPct val="105000"/>
              </a:lnSpc>
            </a:pPr>
            <a:r>
              <a:rPr sz="2000" b="1">
                <a:solidFill>
                  <a:srgbClr val="0B5D3B"/>
                </a:solidFill>
                <a:latin typeface="Helvetica Neue"/>
                <a:cs typeface="Apple SD Gothic Neo"/>
                <a:ea typeface="Apple SD Gothic Neo"/>
              </a:rPr>
              <a:t>✔</a:t>
            </a:r>
          </a:p>
        </p:txBody>
      </p:sp>
      <p:sp>
        <p:nvSpPr>
          <p:cNvPr id="15" name="Rectangle 14"/>
          <p:cNvSpPr/>
          <p:nvPr/>
        </p:nvSpPr>
        <p:spPr>
          <a:xfrm>
            <a:off x="548640" y="2368296"/>
            <a:ext cx="1124712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368296"/>
            <a:ext cx="2560320" cy="530352"/>
          </a:xfrm>
          <a:prstGeom prst="rect">
            <a:avLst/>
          </a:prstGeom>
          <a:noFill/>
        </p:spPr>
        <p:txBody>
          <a:bodyPr wrap="square" anchor="ctr" lIns="0" rIns="0" tIns="0" bIns="0">
            <a:spAutoFit/>
          </a:bodyPr>
          <a:lstStyle/>
          <a:p>
            <a:pPr algn="l">
              <a:lnSpc>
                <a:spcPct val="105000"/>
              </a:lnSpc>
            </a:pPr>
            <a:r>
              <a:rPr sz="1800" b="1">
                <a:solidFill>
                  <a:srgbClr val="1B2433"/>
                </a:solidFill>
                <a:latin typeface="Helvetica Neue"/>
                <a:cs typeface="Apple SD Gothic Neo"/>
                <a:ea typeface="Apple SD Gothic Neo"/>
              </a:rPr>
              <a:t>PDF·OCR 처리</a:t>
            </a:r>
          </a:p>
        </p:txBody>
      </p:sp>
      <p:sp>
        <p:nvSpPr>
          <p:cNvPr id="17" name="Rectangle 16"/>
          <p:cNvSpPr/>
          <p:nvPr/>
        </p:nvSpPr>
        <p:spPr>
          <a:xfrm>
            <a:off x="5314762" y="2423160"/>
            <a:ext cx="2068642" cy="182880"/>
          </a:xfrm>
          <a:prstGeom prst="rect">
            <a:avLst/>
          </a:prstGeom>
          <a:solidFill>
            <a:srgbClr val="D3DAE6"/>
          </a:solidFill>
          <a:ln w="1270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11486" y="2642615"/>
            <a:ext cx="1172230" cy="201168"/>
          </a:xfrm>
          <a:prstGeom prst="rect">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29437" y="2551176"/>
            <a:ext cx="457200" cy="365760"/>
          </a:xfrm>
          <a:prstGeom prst="rect">
            <a:avLst/>
          </a:prstGeom>
          <a:noFill/>
        </p:spPr>
        <p:txBody>
          <a:bodyPr wrap="square" anchor="ctr" lIns="0" rIns="0" tIns="0" bIns="0">
            <a:spAutoFit/>
          </a:bodyPr>
          <a:lstStyle/>
          <a:p>
            <a:pPr algn="l">
              <a:lnSpc>
                <a:spcPct val="105000"/>
              </a:lnSpc>
            </a:pPr>
            <a:r>
              <a:rPr sz="2000" b="1">
                <a:solidFill>
                  <a:srgbClr val="0B5D3B"/>
                </a:solidFill>
                <a:latin typeface="Helvetica Neue"/>
                <a:cs typeface="Apple SD Gothic Neo"/>
                <a:ea typeface="Apple SD Gothic Neo"/>
              </a:rPr>
              <a:t>✔</a:t>
            </a:r>
          </a:p>
        </p:txBody>
      </p:sp>
      <p:sp>
        <p:nvSpPr>
          <p:cNvPr id="20" name="Rectangle 19"/>
          <p:cNvSpPr/>
          <p:nvPr/>
        </p:nvSpPr>
        <p:spPr>
          <a:xfrm>
            <a:off x="548640" y="2953512"/>
            <a:ext cx="11247120" cy="53035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953512"/>
            <a:ext cx="2560320" cy="530352"/>
          </a:xfrm>
          <a:prstGeom prst="rect">
            <a:avLst/>
          </a:prstGeom>
          <a:noFill/>
        </p:spPr>
        <p:txBody>
          <a:bodyPr wrap="square" anchor="ctr" lIns="0" rIns="0" tIns="0" bIns="0">
            <a:spAutoFit/>
          </a:bodyPr>
          <a:lstStyle/>
          <a:p>
            <a:pPr algn="l">
              <a:lnSpc>
                <a:spcPct val="105000"/>
              </a:lnSpc>
            </a:pPr>
            <a:r>
              <a:rPr sz="1800" b="1">
                <a:solidFill>
                  <a:srgbClr val="1B2433"/>
                </a:solidFill>
                <a:latin typeface="Helvetica Neue"/>
                <a:cs typeface="Apple SD Gothic Neo"/>
                <a:ea typeface="Apple SD Gothic Neo"/>
              </a:rPr>
              <a:t>문서 분류·정보 추출</a:t>
            </a:r>
          </a:p>
        </p:txBody>
      </p:sp>
      <p:sp>
        <p:nvSpPr>
          <p:cNvPr id="22" name="Rectangle 21"/>
          <p:cNvSpPr/>
          <p:nvPr/>
        </p:nvSpPr>
        <p:spPr>
          <a:xfrm>
            <a:off x="5314762" y="3008376"/>
            <a:ext cx="2068642" cy="182880"/>
          </a:xfrm>
          <a:prstGeom prst="rect">
            <a:avLst/>
          </a:prstGeom>
          <a:solidFill>
            <a:srgbClr val="D3DAE6"/>
          </a:solidFill>
          <a:ln w="1270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94169" y="3227832"/>
            <a:ext cx="965366" cy="201168"/>
          </a:xfrm>
          <a:prstGeom prst="rect">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05256" y="3136392"/>
            <a:ext cx="457200" cy="365760"/>
          </a:xfrm>
          <a:prstGeom prst="rect">
            <a:avLst/>
          </a:prstGeom>
          <a:noFill/>
        </p:spPr>
        <p:txBody>
          <a:bodyPr wrap="square" anchor="ctr" lIns="0" rIns="0" tIns="0" bIns="0">
            <a:spAutoFit/>
          </a:bodyPr>
          <a:lstStyle/>
          <a:p>
            <a:pPr algn="l">
              <a:lnSpc>
                <a:spcPct val="105000"/>
              </a:lnSpc>
            </a:pPr>
            <a:r>
              <a:rPr sz="2000" b="1">
                <a:solidFill>
                  <a:srgbClr val="0B5D3B"/>
                </a:solidFill>
                <a:latin typeface="Helvetica Neue"/>
                <a:cs typeface="Apple SD Gothic Neo"/>
                <a:ea typeface="Apple SD Gothic Neo"/>
              </a:rPr>
              <a:t>✔</a:t>
            </a:r>
          </a:p>
        </p:txBody>
      </p:sp>
      <p:sp>
        <p:nvSpPr>
          <p:cNvPr id="25" name="Rectangle 24"/>
          <p:cNvSpPr/>
          <p:nvPr/>
        </p:nvSpPr>
        <p:spPr>
          <a:xfrm>
            <a:off x="548640" y="3538728"/>
            <a:ext cx="1124712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538728"/>
            <a:ext cx="2560320" cy="530352"/>
          </a:xfrm>
          <a:prstGeom prst="rect">
            <a:avLst/>
          </a:prstGeom>
          <a:noFill/>
        </p:spPr>
        <p:txBody>
          <a:bodyPr wrap="square" anchor="ctr" lIns="0" rIns="0" tIns="0" bIns="0">
            <a:spAutoFit/>
          </a:bodyPr>
          <a:lstStyle/>
          <a:p>
            <a:pPr algn="l">
              <a:lnSpc>
                <a:spcPct val="105000"/>
              </a:lnSpc>
            </a:pPr>
            <a:r>
              <a:rPr sz="1800" b="1">
                <a:solidFill>
                  <a:srgbClr val="1B2433"/>
                </a:solidFill>
                <a:latin typeface="Helvetica Neue"/>
                <a:cs typeface="Apple SD Gothic Neo"/>
                <a:ea typeface="Apple SD Gothic Neo"/>
              </a:rPr>
              <a:t>규칙 검증·자동 점검</a:t>
            </a:r>
          </a:p>
        </p:txBody>
      </p:sp>
      <p:sp>
        <p:nvSpPr>
          <p:cNvPr id="27" name="Rectangle 26"/>
          <p:cNvSpPr/>
          <p:nvPr/>
        </p:nvSpPr>
        <p:spPr>
          <a:xfrm>
            <a:off x="7452359" y="3593592"/>
            <a:ext cx="1999687" cy="182880"/>
          </a:xfrm>
          <a:prstGeom prst="rect">
            <a:avLst/>
          </a:prstGeom>
          <a:solidFill>
            <a:srgbClr val="D3DAE6"/>
          </a:solidFill>
          <a:ln w="1270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76853" y="3813048"/>
            <a:ext cx="413728" cy="201168"/>
          </a:xfrm>
          <a:prstGeom prst="rect">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36301" y="3721608"/>
            <a:ext cx="457200" cy="365760"/>
          </a:xfrm>
          <a:prstGeom prst="rect">
            <a:avLst/>
          </a:prstGeom>
          <a:noFill/>
        </p:spPr>
        <p:txBody>
          <a:bodyPr wrap="square" anchor="ctr" lIns="0" rIns="0" tIns="0" bIns="0">
            <a:spAutoFit/>
          </a:bodyPr>
          <a:lstStyle/>
          <a:p>
            <a:pPr algn="l">
              <a:lnSpc>
                <a:spcPct val="105000"/>
              </a:lnSpc>
            </a:pPr>
            <a:r>
              <a:rPr sz="2000" b="1">
                <a:solidFill>
                  <a:srgbClr val="0B5D3B"/>
                </a:solidFill>
                <a:latin typeface="Helvetica Neue"/>
                <a:cs typeface="Apple SD Gothic Neo"/>
                <a:ea typeface="Apple SD Gothic Neo"/>
              </a:rPr>
              <a:t>✔</a:t>
            </a:r>
          </a:p>
        </p:txBody>
      </p:sp>
      <p:sp>
        <p:nvSpPr>
          <p:cNvPr id="30" name="Rectangle 29"/>
          <p:cNvSpPr/>
          <p:nvPr/>
        </p:nvSpPr>
        <p:spPr>
          <a:xfrm>
            <a:off x="548640" y="4123944"/>
            <a:ext cx="11247120" cy="53035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123944"/>
            <a:ext cx="2560320" cy="530352"/>
          </a:xfrm>
          <a:prstGeom prst="rect">
            <a:avLst/>
          </a:prstGeom>
          <a:noFill/>
        </p:spPr>
        <p:txBody>
          <a:bodyPr wrap="square" anchor="ctr" lIns="0" rIns="0" tIns="0" bIns="0">
            <a:spAutoFit/>
          </a:bodyPr>
          <a:lstStyle/>
          <a:p>
            <a:pPr algn="l">
              <a:lnSpc>
                <a:spcPct val="105000"/>
              </a:lnSpc>
            </a:pPr>
            <a:r>
              <a:rPr sz="1800" b="1">
                <a:solidFill>
                  <a:srgbClr val="1B2433"/>
                </a:solidFill>
                <a:latin typeface="Helvetica Neue"/>
                <a:cs typeface="Apple SD Gothic Neo"/>
                <a:ea typeface="Apple SD Gothic Neo"/>
              </a:rPr>
              <a:t>화면(UI)·통합</a:t>
            </a:r>
          </a:p>
        </p:txBody>
      </p:sp>
      <p:sp>
        <p:nvSpPr>
          <p:cNvPr id="32" name="Rectangle 31"/>
          <p:cNvSpPr/>
          <p:nvPr/>
        </p:nvSpPr>
        <p:spPr>
          <a:xfrm>
            <a:off x="7452359" y="4178807"/>
            <a:ext cx="1999687" cy="182880"/>
          </a:xfrm>
          <a:prstGeom prst="rect">
            <a:avLst/>
          </a:prstGeom>
          <a:solidFill>
            <a:srgbClr val="D3DAE6"/>
          </a:solidFill>
          <a:ln w="1270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176853" y="4398264"/>
            <a:ext cx="758502" cy="201168"/>
          </a:xfrm>
          <a:prstGeom prst="rect">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81075" y="4306824"/>
            <a:ext cx="457200" cy="365760"/>
          </a:xfrm>
          <a:prstGeom prst="rect">
            <a:avLst/>
          </a:prstGeom>
          <a:noFill/>
        </p:spPr>
        <p:txBody>
          <a:bodyPr wrap="square" anchor="ctr" lIns="0" rIns="0" tIns="0" bIns="0">
            <a:spAutoFit/>
          </a:bodyPr>
          <a:lstStyle/>
          <a:p>
            <a:pPr algn="l">
              <a:lnSpc>
                <a:spcPct val="105000"/>
              </a:lnSpc>
            </a:pPr>
            <a:r>
              <a:rPr sz="2000" b="1">
                <a:solidFill>
                  <a:srgbClr val="0B5D3B"/>
                </a:solidFill>
                <a:latin typeface="Helvetica Neue"/>
                <a:cs typeface="Apple SD Gothic Neo"/>
                <a:ea typeface="Apple SD Gothic Neo"/>
              </a:rPr>
              <a:t>✔</a:t>
            </a:r>
          </a:p>
        </p:txBody>
      </p:sp>
      <p:sp>
        <p:nvSpPr>
          <p:cNvPr id="35" name="Rectangle 34"/>
          <p:cNvSpPr/>
          <p:nvPr/>
        </p:nvSpPr>
        <p:spPr>
          <a:xfrm>
            <a:off x="548640" y="4709159"/>
            <a:ext cx="1124712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709159"/>
            <a:ext cx="2560320" cy="530352"/>
          </a:xfrm>
          <a:prstGeom prst="rect">
            <a:avLst/>
          </a:prstGeom>
          <a:noFill/>
        </p:spPr>
        <p:txBody>
          <a:bodyPr wrap="square" anchor="ctr" lIns="0" rIns="0" tIns="0" bIns="0">
            <a:spAutoFit/>
          </a:bodyPr>
          <a:lstStyle/>
          <a:p>
            <a:pPr algn="l">
              <a:lnSpc>
                <a:spcPct val="105000"/>
              </a:lnSpc>
            </a:pPr>
            <a:r>
              <a:rPr sz="1800" b="1">
                <a:solidFill>
                  <a:srgbClr val="1B2433"/>
                </a:solidFill>
                <a:latin typeface="Helvetica Neue"/>
                <a:cs typeface="Apple SD Gothic Neo"/>
                <a:ea typeface="Apple SD Gothic Neo"/>
              </a:rPr>
              <a:t>평가·안전성</a:t>
            </a:r>
          </a:p>
        </p:txBody>
      </p:sp>
      <p:sp>
        <p:nvSpPr>
          <p:cNvPr id="37" name="Rectangle 36"/>
          <p:cNvSpPr/>
          <p:nvPr/>
        </p:nvSpPr>
        <p:spPr>
          <a:xfrm>
            <a:off x="9521002" y="4764023"/>
            <a:ext cx="2068642" cy="182880"/>
          </a:xfrm>
          <a:prstGeom prst="rect">
            <a:avLst/>
          </a:prstGeom>
          <a:solidFill>
            <a:srgbClr val="D3DAE6"/>
          </a:solidFill>
          <a:ln w="1270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21626" y="4983479"/>
            <a:ext cx="482683" cy="201168"/>
          </a:xfrm>
          <a:prstGeom prst="rect">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50030" y="4892040"/>
            <a:ext cx="457200" cy="365760"/>
          </a:xfrm>
          <a:prstGeom prst="rect">
            <a:avLst/>
          </a:prstGeom>
          <a:noFill/>
        </p:spPr>
        <p:txBody>
          <a:bodyPr wrap="square" anchor="ctr" lIns="0" rIns="0" tIns="0" bIns="0">
            <a:spAutoFit/>
          </a:bodyPr>
          <a:lstStyle/>
          <a:p>
            <a:pPr algn="l">
              <a:lnSpc>
                <a:spcPct val="105000"/>
              </a:lnSpc>
            </a:pPr>
            <a:r>
              <a:rPr sz="2000" b="1">
                <a:solidFill>
                  <a:srgbClr val="0B5D3B"/>
                </a:solidFill>
                <a:latin typeface="Helvetica Neue"/>
                <a:cs typeface="Apple SD Gothic Neo"/>
                <a:ea typeface="Apple SD Gothic Neo"/>
              </a:rPr>
              <a:t>✔</a:t>
            </a:r>
          </a:p>
        </p:txBody>
      </p:sp>
      <p:sp>
        <p:nvSpPr>
          <p:cNvPr id="40" name="Rectangle 39"/>
          <p:cNvSpPr/>
          <p:nvPr/>
        </p:nvSpPr>
        <p:spPr>
          <a:xfrm>
            <a:off x="548640" y="5294375"/>
            <a:ext cx="11247120" cy="53035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294375"/>
            <a:ext cx="2560320" cy="530352"/>
          </a:xfrm>
          <a:prstGeom prst="rect">
            <a:avLst/>
          </a:prstGeom>
          <a:noFill/>
        </p:spPr>
        <p:txBody>
          <a:bodyPr wrap="square" anchor="ctr" lIns="0" rIns="0" tIns="0" bIns="0">
            <a:spAutoFit/>
          </a:bodyPr>
          <a:lstStyle/>
          <a:p>
            <a:pPr algn="l">
              <a:lnSpc>
                <a:spcPct val="105000"/>
              </a:lnSpc>
            </a:pPr>
            <a:r>
              <a:rPr sz="1800" b="1">
                <a:solidFill>
                  <a:srgbClr val="1B2433"/>
                </a:solidFill>
                <a:latin typeface="Helvetica Neue"/>
                <a:cs typeface="Apple SD Gothic Neo"/>
                <a:ea typeface="Apple SD Gothic Neo"/>
              </a:rPr>
              <a:t>로그인·DB·배포</a:t>
            </a:r>
          </a:p>
        </p:txBody>
      </p:sp>
      <p:sp>
        <p:nvSpPr>
          <p:cNvPr id="42" name="Rectangle 41"/>
          <p:cNvSpPr/>
          <p:nvPr/>
        </p:nvSpPr>
        <p:spPr>
          <a:xfrm>
            <a:off x="9521002" y="5349239"/>
            <a:ext cx="2068642" cy="182880"/>
          </a:xfrm>
          <a:prstGeom prst="rect">
            <a:avLst/>
          </a:prstGeom>
          <a:solidFill>
            <a:srgbClr val="D3DAE6"/>
          </a:solidFill>
          <a:ln w="1270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566722" y="5550407"/>
            <a:ext cx="1097280" cy="274320"/>
          </a:xfrm>
          <a:prstGeom prst="rect">
            <a:avLst/>
          </a:prstGeom>
          <a:noFill/>
        </p:spPr>
        <p:txBody>
          <a:bodyPr wrap="square" anchor="t" lIns="0" rIns="0" tIns="0" bIns="0">
            <a:spAutoFit/>
          </a:bodyPr>
          <a:lstStyle/>
          <a:p>
            <a:pPr algn="l">
              <a:lnSpc>
                <a:spcPct val="105000"/>
              </a:lnSpc>
            </a:pPr>
            <a:r>
              <a:rPr sz="1400" b="1">
                <a:solidFill>
                  <a:srgbClr val="6B4300"/>
                </a:solidFill>
                <a:latin typeface="Helvetica Neue"/>
                <a:cs typeface="Apple SD Gothic Neo"/>
                <a:ea typeface="Apple SD Gothic Neo"/>
              </a:rPr>
              <a:t>예정</a:t>
            </a:r>
          </a:p>
        </p:txBody>
      </p:sp>
      <p:cxnSp>
        <p:nvCxnSpPr>
          <p:cNvPr id="44" name="Connector 43"/>
          <p:cNvCxnSpPr/>
          <p:nvPr/>
        </p:nvCxnSpPr>
        <p:spPr>
          <a:xfrm>
            <a:off x="6280129" y="1691640"/>
            <a:ext cx="0" cy="4233671"/>
          </a:xfrm>
          <a:prstGeom prst="line">
            <a:avLst/>
          </a:prstGeom>
          <a:ln w="31750">
            <a:solidFill>
              <a:srgbClr val="8C1D18"/>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731489" y="5943599"/>
            <a:ext cx="1097280" cy="320040"/>
          </a:xfrm>
          <a:prstGeom prst="rect">
            <a:avLst/>
          </a:prstGeom>
          <a:noFill/>
        </p:spPr>
        <p:txBody>
          <a:bodyPr wrap="square" anchor="t" lIns="0" rIns="0" tIns="0" bIns="0">
            <a:spAutoFit/>
          </a:bodyPr>
          <a:lstStyle/>
          <a:p>
            <a:pPr algn="ctr">
              <a:lnSpc>
                <a:spcPct val="105000"/>
              </a:lnSpc>
            </a:pPr>
            <a:r>
              <a:rPr sz="1400" b="1">
                <a:solidFill>
                  <a:srgbClr val="8C1D18"/>
                </a:solidFill>
                <a:latin typeface="Helvetica Neue"/>
                <a:cs typeface="Apple SD Gothic Neo"/>
                <a:ea typeface="Apple SD Gothic Neo"/>
              </a:rPr>
              <a:t>오늘 10/15</a:t>
            </a:r>
          </a:p>
        </p:txBody>
      </p:sp>
      <p:sp>
        <p:nvSpPr>
          <p:cNvPr id="46" name="Rectangle 45"/>
          <p:cNvSpPr/>
          <p:nvPr/>
        </p:nvSpPr>
        <p:spPr>
          <a:xfrm>
            <a:off x="640080" y="5989320"/>
            <a:ext cx="457200" cy="182880"/>
          </a:xfrm>
          <a:prstGeom prst="rect">
            <a:avLst/>
          </a:prstGeom>
          <a:solidFill>
            <a:srgbClr val="D3DAE6"/>
          </a:solidFill>
          <a:ln w="12700">
            <a:solidFill>
              <a:srgbClr val="4A58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88720" y="5897880"/>
            <a:ext cx="1828800" cy="365760"/>
          </a:xfrm>
          <a:prstGeom prst="rect">
            <a:avLst/>
          </a:prstGeom>
          <a:noFill/>
        </p:spPr>
        <p:txBody>
          <a:bodyPr wrap="square" anchor="t" lIns="0" rIns="0" tIns="0" bIns="0">
            <a:spAutoFit/>
          </a:bodyPr>
          <a:lstStyle/>
          <a:p>
            <a:pPr algn="l">
              <a:lnSpc>
                <a:spcPct val="105000"/>
              </a:lnSpc>
            </a:pPr>
            <a:r>
              <a:rPr sz="1400" b="0">
                <a:solidFill>
                  <a:srgbClr val="1B2433"/>
                </a:solidFill>
                <a:latin typeface="Helvetica Neue"/>
                <a:cs typeface="Apple SD Gothic Neo"/>
                <a:ea typeface="Apple SD Gothic Neo"/>
              </a:rPr>
              <a:t>계획 (수행계획서)</a:t>
            </a:r>
          </a:p>
        </p:txBody>
      </p:sp>
      <p:sp>
        <p:nvSpPr>
          <p:cNvPr id="48" name="Rectangle 47"/>
          <p:cNvSpPr/>
          <p:nvPr/>
        </p:nvSpPr>
        <p:spPr>
          <a:xfrm>
            <a:off x="3200400" y="5989320"/>
            <a:ext cx="457200" cy="182880"/>
          </a:xfrm>
          <a:prstGeom prst="rect">
            <a:avLst/>
          </a:prstGeom>
          <a:solidFill>
            <a:srgbClr val="0B5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49039" y="5897880"/>
            <a:ext cx="2194560" cy="365760"/>
          </a:xfrm>
          <a:prstGeom prst="rect">
            <a:avLst/>
          </a:prstGeom>
          <a:noFill/>
        </p:spPr>
        <p:txBody>
          <a:bodyPr wrap="square" anchor="t" lIns="0" rIns="0" tIns="0" bIns="0">
            <a:spAutoFit/>
          </a:bodyPr>
          <a:lstStyle/>
          <a:p>
            <a:pPr algn="l">
              <a:lnSpc>
                <a:spcPct val="105000"/>
              </a:lnSpc>
            </a:pPr>
            <a:r>
              <a:rPr sz="1400" b="0">
                <a:solidFill>
                  <a:srgbClr val="1B2433"/>
                </a:solidFill>
                <a:latin typeface="Helvetica Neue"/>
                <a:cs typeface="Apple SD Gothic Neo"/>
                <a:ea typeface="Apple SD Gothic Neo"/>
              </a:rPr>
              <a:t>실제 (커밋 기록)</a:t>
            </a:r>
          </a:p>
        </p:txBody>
      </p:sp>
      <p:sp>
        <p:nvSpPr>
          <p:cNvPr id="50" name="TextBox 49"/>
          <p:cNvSpPr txBox="1"/>
          <p:nvPr/>
        </p:nvSpPr>
        <p:spPr>
          <a:xfrm>
            <a:off x="6035040" y="5852160"/>
            <a:ext cx="5760720" cy="457200"/>
          </a:xfrm>
          <a:prstGeom prst="rect">
            <a:avLst/>
          </a:prstGeom>
          <a:noFill/>
        </p:spPr>
        <p:txBody>
          <a:bodyPr wrap="square" anchor="t" lIns="0" rIns="0" tIns="0" bIns="0">
            <a:spAutoFit/>
          </a:bodyPr>
          <a:lstStyle/>
          <a:p>
            <a:pPr algn="r">
              <a:lnSpc>
                <a:spcPct val="105000"/>
              </a:lnSpc>
            </a:pPr>
            <a:r>
              <a:rPr sz="1600" b="1">
                <a:solidFill>
                  <a:srgbClr val="17325C"/>
                </a:solidFill>
                <a:latin typeface="Helvetica Neue"/>
                <a:cs typeface="Apple SD Gothic Neo"/>
                <a:ea typeface="Apple SD Gothic Neo"/>
              </a:rPr>
              <a:t>멘토 요구사항 11개 중 구현 8 · 일부 1 · 예정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역할 분담: 백엔드·AI·평가 / 프론트엔드·UX</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5</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ounded Rectangle 5"/>
          <p:cNvSpPr/>
          <p:nvPr/>
        </p:nvSpPr>
        <p:spPr>
          <a:xfrm>
            <a:off x="640080" y="1417320"/>
            <a:ext cx="5120640" cy="4114800"/>
          </a:xfrm>
          <a:prstGeom prst="roundRect">
            <a:avLst>
              <a:gd name="adj" fmla="val 8000"/>
            </a:avLst>
          </a:prstGeom>
          <a:solidFill>
            <a:srgbClr val="F3F6FB"/>
          </a:solidFill>
          <a:ln w="15875">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5120640" cy="105156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4663440" cy="548640"/>
          </a:xfrm>
          <a:prstGeom prst="rect">
            <a:avLst/>
          </a:prstGeom>
          <a:noFill/>
        </p:spPr>
        <p:txBody>
          <a:bodyPr wrap="square" anchor="ctr" lIns="0" rIns="0" tIns="0" bIns="0">
            <a:spAutoFit/>
          </a:bodyPr>
          <a:lstStyle/>
          <a:p>
            <a:pPr algn="l">
              <a:lnSpc>
                <a:spcPct val="105000"/>
              </a:lnSpc>
            </a:pPr>
            <a:r>
              <a:rPr sz="2600" b="1">
                <a:solidFill>
                  <a:srgbClr val="FFFFFF"/>
                </a:solidFill>
                <a:latin typeface="Helvetica Neue"/>
                <a:cs typeface="Apple SD Gothic Neo"/>
                <a:ea typeface="Apple SD Gothic Neo"/>
              </a:rPr>
              <a:t>굴로모프 하비빌로</a:t>
            </a:r>
          </a:p>
        </p:txBody>
      </p:sp>
      <p:sp>
        <p:nvSpPr>
          <p:cNvPr id="9" name="TextBox 8"/>
          <p:cNvSpPr txBox="1"/>
          <p:nvPr/>
        </p:nvSpPr>
        <p:spPr>
          <a:xfrm>
            <a:off x="868680" y="1965960"/>
            <a:ext cx="4663440" cy="457200"/>
          </a:xfrm>
          <a:prstGeom prst="rect">
            <a:avLst/>
          </a:prstGeom>
          <a:noFill/>
        </p:spPr>
        <p:txBody>
          <a:bodyPr wrap="square" anchor="ctr" lIns="0" rIns="0" tIns="0" bIns="0">
            <a:spAutoFit/>
          </a:bodyPr>
          <a:lstStyle/>
          <a:p>
            <a:pPr algn="l">
              <a:lnSpc>
                <a:spcPct val="105000"/>
              </a:lnSpc>
            </a:pPr>
            <a:r>
              <a:rPr sz="1700" b="0">
                <a:solidFill>
                  <a:srgbClr val="DCE5F4"/>
                </a:solidFill>
                <a:latin typeface="Helvetica Neue"/>
                <a:cs typeface="Apple SD Gothic Neo"/>
                <a:ea typeface="Apple SD Gothic Neo"/>
              </a:rPr>
              <a:t>Backend · 문서 분석 · OCR/AI · 점검 로직 · 평가</a:t>
            </a:r>
          </a:p>
        </p:txBody>
      </p:sp>
      <p:sp>
        <p:nvSpPr>
          <p:cNvPr id="10" name="Oval 9"/>
          <p:cNvSpPr/>
          <p:nvPr/>
        </p:nvSpPr>
        <p:spPr>
          <a:xfrm>
            <a:off x="914400" y="2743200"/>
            <a:ext cx="457200" cy="457200"/>
          </a:xfrm>
          <a:prstGeom prst="ellipse">
            <a:avLst/>
          </a:prstGeom>
          <a:solidFill>
            <a:srgbClr val="E3F5EC"/>
          </a:solidFill>
          <a:ln w="2540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43200"/>
            <a:ext cx="457200" cy="457200"/>
          </a:xfrm>
          <a:prstGeom prst="rect">
            <a:avLst/>
          </a:prstGeom>
          <a:noFill/>
        </p:spPr>
        <p:txBody>
          <a:bodyPr wrap="square" anchor="ctr" lIns="0" rIns="0" tIns="0" bIns="0">
            <a:spAutoFit/>
          </a:bodyPr>
          <a:lstStyle/>
          <a:p>
            <a:pPr algn="ctr">
              <a:lnSpc>
                <a:spcPct val="105000"/>
              </a:lnSpc>
            </a:pPr>
            <a:r>
              <a:rPr sz="2000" b="1">
                <a:solidFill>
                  <a:srgbClr val="0B5D3B"/>
                </a:solidFill>
                <a:latin typeface="Helvetica Neue"/>
                <a:cs typeface="Apple SD Gothic Neo"/>
                <a:ea typeface="Apple SD Gothic Neo"/>
              </a:rPr>
              <a:t>✔</a:t>
            </a:r>
          </a:p>
        </p:txBody>
      </p:sp>
      <p:sp>
        <p:nvSpPr>
          <p:cNvPr id="12" name="TextBox 11"/>
          <p:cNvSpPr txBox="1"/>
          <p:nvPr/>
        </p:nvSpPr>
        <p:spPr>
          <a:xfrm>
            <a:off x="1554480" y="2679192"/>
            <a:ext cx="411480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문서 분류·정보 추출·규칙 검증</a:t>
            </a:r>
          </a:p>
        </p:txBody>
      </p:sp>
      <p:sp>
        <p:nvSpPr>
          <p:cNvPr id="13" name="TextBox 12"/>
          <p:cNvSpPr txBox="1"/>
          <p:nvPr/>
        </p:nvSpPr>
        <p:spPr>
          <a:xfrm>
            <a:off x="1554480" y="3026664"/>
            <a:ext cx="4114800" cy="3200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6종 서류</a:t>
            </a:r>
          </a:p>
        </p:txBody>
      </p:sp>
      <p:sp>
        <p:nvSpPr>
          <p:cNvPr id="14" name="Oval 13"/>
          <p:cNvSpPr/>
          <p:nvPr/>
        </p:nvSpPr>
        <p:spPr>
          <a:xfrm>
            <a:off x="914400" y="3657600"/>
            <a:ext cx="457200" cy="457200"/>
          </a:xfrm>
          <a:prstGeom prst="ellipse">
            <a:avLst/>
          </a:prstGeom>
          <a:solidFill>
            <a:srgbClr val="E3F5EC"/>
          </a:solidFill>
          <a:ln w="2540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657600"/>
            <a:ext cx="457200" cy="457200"/>
          </a:xfrm>
          <a:prstGeom prst="rect">
            <a:avLst/>
          </a:prstGeom>
          <a:noFill/>
        </p:spPr>
        <p:txBody>
          <a:bodyPr wrap="square" anchor="ctr" lIns="0" rIns="0" tIns="0" bIns="0">
            <a:spAutoFit/>
          </a:bodyPr>
          <a:lstStyle/>
          <a:p>
            <a:pPr algn="ctr">
              <a:lnSpc>
                <a:spcPct val="105000"/>
              </a:lnSpc>
            </a:pPr>
            <a:r>
              <a:rPr sz="2000" b="1">
                <a:solidFill>
                  <a:srgbClr val="0B5D3B"/>
                </a:solidFill>
                <a:latin typeface="Helvetica Neue"/>
                <a:cs typeface="Apple SD Gothic Neo"/>
                <a:ea typeface="Apple SD Gothic Neo"/>
              </a:rPr>
              <a:t>✔</a:t>
            </a:r>
          </a:p>
        </p:txBody>
      </p:sp>
      <p:sp>
        <p:nvSpPr>
          <p:cNvPr id="16" name="TextBox 15"/>
          <p:cNvSpPr txBox="1"/>
          <p:nvPr/>
        </p:nvSpPr>
        <p:spPr>
          <a:xfrm>
            <a:off x="1554480" y="3593592"/>
            <a:ext cx="411480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평가 체계</a:t>
            </a:r>
          </a:p>
        </p:txBody>
      </p:sp>
      <p:sp>
        <p:nvSpPr>
          <p:cNvPr id="17" name="TextBox 16"/>
          <p:cNvSpPr txBox="1"/>
          <p:nvPr/>
        </p:nvSpPr>
        <p:spPr>
          <a:xfrm>
            <a:off x="1554480" y="3941064"/>
            <a:ext cx="4114800" cy="3200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고정 채점기 · 처음 보는 문서</a:t>
            </a:r>
          </a:p>
        </p:txBody>
      </p:sp>
      <p:sp>
        <p:nvSpPr>
          <p:cNvPr id="18" name="Oval 17"/>
          <p:cNvSpPr/>
          <p:nvPr/>
        </p:nvSpPr>
        <p:spPr>
          <a:xfrm>
            <a:off x="914400" y="4572000"/>
            <a:ext cx="457200" cy="457200"/>
          </a:xfrm>
          <a:prstGeom prst="ellipse">
            <a:avLst/>
          </a:prstGeom>
          <a:solidFill>
            <a:srgbClr val="E3F5EC"/>
          </a:solidFill>
          <a:ln w="2540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72000"/>
            <a:ext cx="457200" cy="457200"/>
          </a:xfrm>
          <a:prstGeom prst="rect">
            <a:avLst/>
          </a:prstGeom>
          <a:noFill/>
        </p:spPr>
        <p:txBody>
          <a:bodyPr wrap="square" anchor="ctr" lIns="0" rIns="0" tIns="0" bIns="0">
            <a:spAutoFit/>
          </a:bodyPr>
          <a:lstStyle/>
          <a:p>
            <a:pPr algn="ctr">
              <a:lnSpc>
                <a:spcPct val="105000"/>
              </a:lnSpc>
            </a:pPr>
            <a:r>
              <a:rPr sz="2000" b="1">
                <a:solidFill>
                  <a:srgbClr val="0B5D3B"/>
                </a:solidFill>
                <a:latin typeface="Helvetica Neue"/>
                <a:cs typeface="Apple SD Gothic Neo"/>
                <a:ea typeface="Apple SD Gothic Neo"/>
              </a:rPr>
              <a:t>✔</a:t>
            </a:r>
          </a:p>
        </p:txBody>
      </p:sp>
      <p:sp>
        <p:nvSpPr>
          <p:cNvPr id="20" name="TextBox 19"/>
          <p:cNvSpPr txBox="1"/>
          <p:nvPr/>
        </p:nvSpPr>
        <p:spPr>
          <a:xfrm>
            <a:off x="1554480" y="4507992"/>
            <a:ext cx="411480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안전성</a:t>
            </a:r>
          </a:p>
        </p:txBody>
      </p:sp>
      <p:sp>
        <p:nvSpPr>
          <p:cNvPr id="21" name="TextBox 20"/>
          <p:cNvSpPr txBox="1"/>
          <p:nvPr/>
        </p:nvSpPr>
        <p:spPr>
          <a:xfrm>
            <a:off x="1554480" y="4855464"/>
            <a:ext cx="4114800" cy="3200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독립 확인 · 숨은 글자 검사</a:t>
            </a:r>
          </a:p>
        </p:txBody>
      </p:sp>
      <p:sp>
        <p:nvSpPr>
          <p:cNvPr id="22" name="Rounded Rectangle 21"/>
          <p:cNvSpPr/>
          <p:nvPr/>
        </p:nvSpPr>
        <p:spPr>
          <a:xfrm>
            <a:off x="6446520" y="1417320"/>
            <a:ext cx="5120640" cy="4114800"/>
          </a:xfrm>
          <a:prstGeom prst="roundRect">
            <a:avLst>
              <a:gd name="adj" fmla="val 8000"/>
            </a:avLst>
          </a:prstGeom>
          <a:solidFill>
            <a:srgbClr val="F3F6FB"/>
          </a:solidFill>
          <a:ln w="15875">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46520" y="1417320"/>
            <a:ext cx="5120640" cy="105156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1463040"/>
            <a:ext cx="4663440" cy="548640"/>
          </a:xfrm>
          <a:prstGeom prst="rect">
            <a:avLst/>
          </a:prstGeom>
          <a:noFill/>
        </p:spPr>
        <p:txBody>
          <a:bodyPr wrap="square" anchor="ctr" lIns="0" rIns="0" tIns="0" bIns="0">
            <a:spAutoFit/>
          </a:bodyPr>
          <a:lstStyle/>
          <a:p>
            <a:pPr algn="l">
              <a:lnSpc>
                <a:spcPct val="105000"/>
              </a:lnSpc>
            </a:pPr>
            <a:r>
              <a:rPr sz="2600" b="1">
                <a:solidFill>
                  <a:srgbClr val="FFFFFF"/>
                </a:solidFill>
                <a:latin typeface="Helvetica Neue"/>
                <a:cs typeface="Apple SD Gothic Neo"/>
                <a:ea typeface="Apple SD Gothic Neo"/>
              </a:rPr>
              <a:t>올림조노바 무니라</a:t>
            </a:r>
          </a:p>
        </p:txBody>
      </p:sp>
      <p:sp>
        <p:nvSpPr>
          <p:cNvPr id="25" name="TextBox 24"/>
          <p:cNvSpPr txBox="1"/>
          <p:nvPr/>
        </p:nvSpPr>
        <p:spPr>
          <a:xfrm>
            <a:off x="6675120" y="1965960"/>
            <a:ext cx="4663440" cy="457200"/>
          </a:xfrm>
          <a:prstGeom prst="rect">
            <a:avLst/>
          </a:prstGeom>
          <a:noFill/>
        </p:spPr>
        <p:txBody>
          <a:bodyPr wrap="square" anchor="ctr" lIns="0" rIns="0" tIns="0" bIns="0">
            <a:spAutoFit/>
          </a:bodyPr>
          <a:lstStyle/>
          <a:p>
            <a:pPr algn="l">
              <a:lnSpc>
                <a:spcPct val="105000"/>
              </a:lnSpc>
            </a:pPr>
            <a:r>
              <a:rPr sz="1700" b="0">
                <a:solidFill>
                  <a:srgbClr val="DCE5F4"/>
                </a:solidFill>
                <a:latin typeface="Helvetica Neue"/>
                <a:cs typeface="Apple SD Gothic Neo"/>
                <a:ea typeface="Apple SD Gothic Neo"/>
              </a:rPr>
              <a:t>UI/UX · Frontend</a:t>
            </a:r>
          </a:p>
        </p:txBody>
      </p:sp>
      <p:sp>
        <p:nvSpPr>
          <p:cNvPr id="26" name="Oval 25"/>
          <p:cNvSpPr/>
          <p:nvPr/>
        </p:nvSpPr>
        <p:spPr>
          <a:xfrm>
            <a:off x="6720840" y="2743200"/>
            <a:ext cx="457200" cy="457200"/>
          </a:xfrm>
          <a:prstGeom prst="ellipse">
            <a:avLst/>
          </a:prstGeom>
          <a:solidFill>
            <a:srgbClr val="E3F5EC"/>
          </a:solidFill>
          <a:ln w="2540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2743200"/>
            <a:ext cx="457200" cy="457200"/>
          </a:xfrm>
          <a:prstGeom prst="rect">
            <a:avLst/>
          </a:prstGeom>
          <a:noFill/>
        </p:spPr>
        <p:txBody>
          <a:bodyPr wrap="square" anchor="ctr" lIns="0" rIns="0" tIns="0" bIns="0">
            <a:spAutoFit/>
          </a:bodyPr>
          <a:lstStyle/>
          <a:p>
            <a:pPr algn="ctr">
              <a:lnSpc>
                <a:spcPct val="105000"/>
              </a:lnSpc>
            </a:pPr>
            <a:r>
              <a:rPr sz="2000" b="1">
                <a:solidFill>
                  <a:srgbClr val="0B5D3B"/>
                </a:solidFill>
                <a:latin typeface="Helvetica Neue"/>
                <a:cs typeface="Apple SD Gothic Neo"/>
                <a:ea typeface="Apple SD Gothic Neo"/>
              </a:rPr>
              <a:t>✔</a:t>
            </a:r>
          </a:p>
        </p:txBody>
      </p:sp>
      <p:sp>
        <p:nvSpPr>
          <p:cNvPr id="28" name="TextBox 27"/>
          <p:cNvSpPr txBox="1"/>
          <p:nvPr/>
        </p:nvSpPr>
        <p:spPr>
          <a:xfrm>
            <a:off x="7360920" y="2679192"/>
            <a:ext cx="411480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점검 결과 화면</a:t>
            </a:r>
          </a:p>
        </p:txBody>
      </p:sp>
      <p:sp>
        <p:nvSpPr>
          <p:cNvPr id="29" name="TextBox 28"/>
          <p:cNvSpPr txBox="1"/>
          <p:nvPr/>
        </p:nvSpPr>
        <p:spPr>
          <a:xfrm>
            <a:off x="7360920" y="3026664"/>
            <a:ext cx="4114800" cy="3200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상태 · 체크리스트</a:t>
            </a:r>
          </a:p>
        </p:txBody>
      </p:sp>
      <p:sp>
        <p:nvSpPr>
          <p:cNvPr id="30" name="Oval 29"/>
          <p:cNvSpPr/>
          <p:nvPr/>
        </p:nvSpPr>
        <p:spPr>
          <a:xfrm>
            <a:off x="6720840" y="3657600"/>
            <a:ext cx="457200" cy="457200"/>
          </a:xfrm>
          <a:prstGeom prst="ellipse">
            <a:avLst/>
          </a:prstGeom>
          <a:solidFill>
            <a:srgbClr val="E3F5EC"/>
          </a:solidFill>
          <a:ln w="2540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3657600"/>
            <a:ext cx="457200" cy="457200"/>
          </a:xfrm>
          <a:prstGeom prst="rect">
            <a:avLst/>
          </a:prstGeom>
          <a:noFill/>
        </p:spPr>
        <p:txBody>
          <a:bodyPr wrap="square" anchor="ctr" lIns="0" rIns="0" tIns="0" bIns="0">
            <a:spAutoFit/>
          </a:bodyPr>
          <a:lstStyle/>
          <a:p>
            <a:pPr algn="ctr">
              <a:lnSpc>
                <a:spcPct val="105000"/>
              </a:lnSpc>
            </a:pPr>
            <a:r>
              <a:rPr sz="2000" b="1">
                <a:solidFill>
                  <a:srgbClr val="0B5D3B"/>
                </a:solidFill>
                <a:latin typeface="Helvetica Neue"/>
                <a:cs typeface="Apple SD Gothic Neo"/>
                <a:ea typeface="Apple SD Gothic Neo"/>
              </a:rPr>
              <a:t>✔</a:t>
            </a:r>
          </a:p>
        </p:txBody>
      </p:sp>
      <p:sp>
        <p:nvSpPr>
          <p:cNvPr id="32" name="TextBox 31"/>
          <p:cNvSpPr txBox="1"/>
          <p:nvPr/>
        </p:nvSpPr>
        <p:spPr>
          <a:xfrm>
            <a:off x="7360920" y="3593592"/>
            <a:ext cx="411480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근거·검토 화면</a:t>
            </a:r>
          </a:p>
        </p:txBody>
      </p:sp>
      <p:sp>
        <p:nvSpPr>
          <p:cNvPr id="33" name="TextBox 32"/>
          <p:cNvSpPr txBox="1"/>
          <p:nvPr/>
        </p:nvSpPr>
        <p:spPr>
          <a:xfrm>
            <a:off x="7360920" y="3941064"/>
            <a:ext cx="4114800" cy="3200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원본 옆에서 확인</a:t>
            </a:r>
          </a:p>
        </p:txBody>
      </p:sp>
      <p:sp>
        <p:nvSpPr>
          <p:cNvPr id="34" name="Oval 33"/>
          <p:cNvSpPr/>
          <p:nvPr/>
        </p:nvSpPr>
        <p:spPr>
          <a:xfrm>
            <a:off x="6720840" y="4572000"/>
            <a:ext cx="457200" cy="457200"/>
          </a:xfrm>
          <a:prstGeom prst="ellipse">
            <a:avLst/>
          </a:prstGeom>
          <a:solidFill>
            <a:srgbClr val="E3F5EC"/>
          </a:solidFill>
          <a:ln w="2540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20840" y="4572000"/>
            <a:ext cx="457200" cy="457200"/>
          </a:xfrm>
          <a:prstGeom prst="rect">
            <a:avLst/>
          </a:prstGeom>
          <a:noFill/>
        </p:spPr>
        <p:txBody>
          <a:bodyPr wrap="square" anchor="ctr" lIns="0" rIns="0" tIns="0" bIns="0">
            <a:spAutoFit/>
          </a:bodyPr>
          <a:lstStyle/>
          <a:p>
            <a:pPr algn="ctr">
              <a:lnSpc>
                <a:spcPct val="105000"/>
              </a:lnSpc>
            </a:pPr>
            <a:r>
              <a:rPr sz="2000" b="1">
                <a:solidFill>
                  <a:srgbClr val="0B5D3B"/>
                </a:solidFill>
                <a:latin typeface="Helvetica Neue"/>
                <a:cs typeface="Apple SD Gothic Neo"/>
                <a:ea typeface="Apple SD Gothic Neo"/>
              </a:rPr>
              <a:t>✔</a:t>
            </a:r>
          </a:p>
        </p:txBody>
      </p:sp>
      <p:sp>
        <p:nvSpPr>
          <p:cNvPr id="36" name="TextBox 35"/>
          <p:cNvSpPr txBox="1"/>
          <p:nvPr/>
        </p:nvSpPr>
        <p:spPr>
          <a:xfrm>
            <a:off x="7360920" y="4507992"/>
            <a:ext cx="411480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업로드 · 접근성</a:t>
            </a:r>
          </a:p>
        </p:txBody>
      </p:sp>
      <p:sp>
        <p:nvSpPr>
          <p:cNvPr id="37" name="TextBox 36"/>
          <p:cNvSpPr txBox="1"/>
          <p:nvPr/>
        </p:nvSpPr>
        <p:spPr>
          <a:xfrm>
            <a:off x="7360920" y="4855464"/>
            <a:ext cx="4114800" cy="3200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화면 점검 (axe)</a:t>
            </a:r>
          </a:p>
        </p:txBody>
      </p:sp>
      <p:sp>
        <p:nvSpPr>
          <p:cNvPr id="38" name="Rounded Rectangle 37"/>
          <p:cNvSpPr/>
          <p:nvPr/>
        </p:nvSpPr>
        <p:spPr>
          <a:xfrm>
            <a:off x="640080" y="5715000"/>
            <a:ext cx="10881360" cy="502920"/>
          </a:xfrm>
          <a:prstGeom prst="roundRect">
            <a:avLst>
              <a:gd name="adj" fmla="val 8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43891" bIns="43891"/>
          <a:lstStyle/>
          <a:p>
            <a:pPr algn="ctr">
              <a:lnSpc>
                <a:spcPct val="105000"/>
              </a:lnSpc>
            </a:pPr>
            <a:r>
              <a:rPr sz="2000" b="1">
                <a:solidFill>
                  <a:srgbClr val="17325C"/>
                </a:solidFill>
                <a:latin typeface="Helvetica Neue"/>
                <a:cs typeface="Apple SD Gothic Neo"/>
                <a:ea typeface="Apple SD Gothic Neo"/>
              </a:rPr>
              <a:t>함께: 요구사항 분석 · 통합 테스트 · 멘토링 · 발표와 문서화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구조: 기존 OCR + 규칙 기반 점검 + 사람 확인</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6</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ounded Rectangle 5"/>
          <p:cNvSpPr/>
          <p:nvPr/>
        </p:nvSpPr>
        <p:spPr>
          <a:xfrm>
            <a:off x="548640" y="2834640"/>
            <a:ext cx="1371600" cy="1097280"/>
          </a:xfrm>
          <a:prstGeom prst="roundRect">
            <a:avLst>
              <a:gd name="adj" fmla="val 8000"/>
            </a:avLst>
          </a:prstGeom>
          <a:solidFill>
            <a:srgbClr val="F3F6FB"/>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17325C"/>
                </a:solidFill>
                <a:latin typeface="Helvetica Neue"/>
                <a:cs typeface="Apple SD Gothic Neo"/>
                <a:ea typeface="Apple SD Gothic Neo"/>
              </a:rPr>
              <a:t>업로드</a:t>
            </a:r>
          </a:p>
          <a:p>
            <a:pPr algn="ctr">
              <a:lnSpc>
                <a:spcPct val="105000"/>
              </a:lnSpc>
              <a:spcBef>
                <a:spcPts val="200"/>
              </a:spcBef>
            </a:pPr>
            <a:r>
              <a:rPr sz="1400" b="0">
                <a:solidFill>
                  <a:srgbClr val="4A5872"/>
                </a:solidFill>
                <a:latin typeface="Helvetica Neue"/>
                <a:cs typeface="Apple SD Gothic Neo"/>
                <a:ea typeface="Apple SD Gothic Neo"/>
              </a:rPr>
              <a:t>PDF · 사진</a:t>
            </a:r>
          </a:p>
        </p:txBody>
      </p:sp>
      <p:sp>
        <p:nvSpPr>
          <p:cNvPr id="7" name="Right Arrow 6"/>
          <p:cNvSpPr/>
          <p:nvPr/>
        </p:nvSpPr>
        <p:spPr>
          <a:xfrm>
            <a:off x="1965960" y="3200400"/>
            <a:ext cx="365760" cy="36576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377440" y="1600200"/>
            <a:ext cx="2743200" cy="1234440"/>
          </a:xfrm>
          <a:prstGeom prst="roundRect">
            <a:avLst>
              <a:gd name="adj" fmla="val 8000"/>
            </a:avLst>
          </a:prstGeom>
          <a:solidFill>
            <a:srgbClr val="E3F5EC"/>
          </a:solidFill>
          <a:ln w="2540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0B5D3B"/>
                </a:solidFill>
                <a:latin typeface="Helvetica Neue"/>
                <a:cs typeface="Apple SD Gothic Neo"/>
                <a:ea typeface="Apple SD Gothic Neo"/>
              </a:rPr>
              <a:t>디지털 PDF</a:t>
            </a:r>
          </a:p>
          <a:p>
            <a:pPr algn="ctr">
              <a:lnSpc>
                <a:spcPct val="105000"/>
              </a:lnSpc>
              <a:spcBef>
                <a:spcPts val="200"/>
              </a:spcBef>
            </a:pPr>
            <a:r>
              <a:rPr sz="1400" b="0">
                <a:solidFill>
                  <a:srgbClr val="4A5872"/>
                </a:solidFill>
                <a:latin typeface="Helvetica Neue"/>
                <a:cs typeface="Apple SD Gothic Neo"/>
                <a:ea typeface="Apple SD Gothic Neo"/>
              </a:rPr>
              <a:t>텍스트 추출 + 숨은 텍스트 검사</a:t>
            </a:r>
          </a:p>
        </p:txBody>
      </p:sp>
      <p:sp>
        <p:nvSpPr>
          <p:cNvPr id="9" name="Rounded Rectangle 8"/>
          <p:cNvSpPr/>
          <p:nvPr/>
        </p:nvSpPr>
        <p:spPr>
          <a:xfrm>
            <a:off x="2377440" y="3931920"/>
            <a:ext cx="2743200" cy="1234440"/>
          </a:xfrm>
          <a:prstGeom prst="roundRect">
            <a:avLst>
              <a:gd name="adj" fmla="val 8000"/>
            </a:avLst>
          </a:prstGeom>
          <a:solidFill>
            <a:srgbClr val="FFF1CC"/>
          </a:solidFill>
          <a:ln w="25400">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6B4300"/>
                </a:solidFill>
                <a:latin typeface="Helvetica Neue"/>
                <a:cs typeface="Apple SD Gothic Neo"/>
                <a:ea typeface="Apple SD Gothic Neo"/>
              </a:rPr>
              <a:t>스캔 · 사진</a:t>
            </a:r>
          </a:p>
          <a:p>
            <a:pPr algn="ctr">
              <a:lnSpc>
                <a:spcPct val="105000"/>
              </a:lnSpc>
              <a:spcBef>
                <a:spcPts val="200"/>
              </a:spcBef>
            </a:pPr>
            <a:r>
              <a:rPr sz="1400" b="0">
                <a:solidFill>
                  <a:srgbClr val="4A5872"/>
                </a:solidFill>
                <a:latin typeface="Helvetica Neue"/>
                <a:cs typeface="Apple SD Gothic Neo"/>
                <a:ea typeface="Apple SD Gothic Neo"/>
              </a:rPr>
              <a:t>OCR (PaddleOCR PP-OCRv5)</a:t>
            </a:r>
          </a:p>
        </p:txBody>
      </p:sp>
      <p:cxnSp>
        <p:nvCxnSpPr>
          <p:cNvPr id="10" name="Connector 9"/>
          <p:cNvCxnSpPr/>
          <p:nvPr/>
        </p:nvCxnSpPr>
        <p:spPr>
          <a:xfrm flipV="1">
            <a:off x="1920240" y="2331720"/>
            <a:ext cx="457200" cy="1051560"/>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920240" y="3383280"/>
            <a:ext cx="457200" cy="1143000"/>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20640" y="2240280"/>
            <a:ext cx="457200" cy="1143000"/>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5120640" y="3383280"/>
            <a:ext cx="457200" cy="1143000"/>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577840" y="2834640"/>
            <a:ext cx="1325880" cy="1097280"/>
          </a:xfrm>
          <a:prstGeom prst="roundRect">
            <a:avLst>
              <a:gd name="adj" fmla="val 8000"/>
            </a:avLst>
          </a:prstGeom>
          <a:solidFill>
            <a:srgbClr val="F3F6FB"/>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17325C"/>
                </a:solidFill>
                <a:latin typeface="Helvetica Neue"/>
                <a:cs typeface="Apple SD Gothic Neo"/>
                <a:ea typeface="Apple SD Gothic Neo"/>
              </a:rPr>
              <a:t>문서 분류</a:t>
            </a:r>
          </a:p>
          <a:p>
            <a:pPr algn="ctr">
              <a:lnSpc>
                <a:spcPct val="105000"/>
              </a:lnSpc>
              <a:spcBef>
                <a:spcPts val="200"/>
              </a:spcBef>
            </a:pPr>
            <a:r>
              <a:rPr sz="1400" b="0">
                <a:solidFill>
                  <a:srgbClr val="4A5872"/>
                </a:solidFill>
                <a:latin typeface="Helvetica Neue"/>
                <a:cs typeface="Apple SD Gothic Neo"/>
                <a:ea typeface="Apple SD Gothic Neo"/>
              </a:rPr>
              <a:t>규칙 기반</a:t>
            </a:r>
          </a:p>
        </p:txBody>
      </p:sp>
      <p:sp>
        <p:nvSpPr>
          <p:cNvPr id="15" name="Right Arrow 14"/>
          <p:cNvSpPr/>
          <p:nvPr/>
        </p:nvSpPr>
        <p:spPr>
          <a:xfrm>
            <a:off x="6949440" y="3200400"/>
            <a:ext cx="320040" cy="36576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0" y="2834640"/>
            <a:ext cx="1325880" cy="1097280"/>
          </a:xfrm>
          <a:prstGeom prst="roundRect">
            <a:avLst>
              <a:gd name="adj" fmla="val 8000"/>
            </a:avLst>
          </a:prstGeom>
          <a:solidFill>
            <a:srgbClr val="F3F6FB"/>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17325C"/>
                </a:solidFill>
                <a:latin typeface="Helvetica Neue"/>
                <a:cs typeface="Apple SD Gothic Neo"/>
                <a:ea typeface="Apple SD Gothic Neo"/>
              </a:rPr>
              <a:t>항목 추출</a:t>
            </a:r>
          </a:p>
          <a:p>
            <a:pPr algn="ctr">
              <a:lnSpc>
                <a:spcPct val="105000"/>
              </a:lnSpc>
              <a:spcBef>
                <a:spcPts val="200"/>
              </a:spcBef>
            </a:pPr>
            <a:r>
              <a:rPr sz="1400" b="0">
                <a:solidFill>
                  <a:srgbClr val="4A5872"/>
                </a:solidFill>
                <a:latin typeface="Helvetica Neue"/>
                <a:cs typeface="Apple SD Gothic Neo"/>
                <a:ea typeface="Apple SD Gothic Neo"/>
              </a:rPr>
              <a:t>값 + 위치</a:t>
            </a:r>
          </a:p>
        </p:txBody>
      </p:sp>
      <p:sp>
        <p:nvSpPr>
          <p:cNvPr id="17" name="Right Arrow 16"/>
          <p:cNvSpPr/>
          <p:nvPr/>
        </p:nvSpPr>
        <p:spPr>
          <a:xfrm>
            <a:off x="8686800" y="3200400"/>
            <a:ext cx="320040" cy="36576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52560" y="2834640"/>
            <a:ext cx="1325880" cy="1097280"/>
          </a:xfrm>
          <a:prstGeom prst="roundRect">
            <a:avLst>
              <a:gd name="adj" fmla="val 8000"/>
            </a:avLst>
          </a:prstGeom>
          <a:solidFill>
            <a:srgbClr val="F3F6FB"/>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17325C"/>
                </a:solidFill>
                <a:latin typeface="Helvetica Neue"/>
                <a:cs typeface="Apple SD Gothic Neo"/>
                <a:ea typeface="Apple SD Gothic Neo"/>
              </a:rPr>
              <a:t>규칙 검증</a:t>
            </a:r>
          </a:p>
          <a:p>
            <a:pPr algn="ctr">
              <a:lnSpc>
                <a:spcPct val="105000"/>
              </a:lnSpc>
              <a:spcBef>
                <a:spcPts val="200"/>
              </a:spcBef>
            </a:pPr>
            <a:r>
              <a:rPr sz="1400" b="0">
                <a:solidFill>
                  <a:srgbClr val="4A5872"/>
                </a:solidFill>
                <a:latin typeface="Helvetica Neue"/>
                <a:cs typeface="Apple SD Gothic Neo"/>
                <a:ea typeface="Apple SD Gothic Neo"/>
              </a:rPr>
              <a:t>서류 간 비교</a:t>
            </a:r>
          </a:p>
        </p:txBody>
      </p:sp>
      <p:sp>
        <p:nvSpPr>
          <p:cNvPr id="19" name="Right Arrow 18"/>
          <p:cNvSpPr/>
          <p:nvPr/>
        </p:nvSpPr>
        <p:spPr>
          <a:xfrm>
            <a:off x="10424160" y="3200400"/>
            <a:ext cx="320040" cy="36576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789920" y="2834640"/>
            <a:ext cx="914400" cy="1097280"/>
          </a:xfrm>
          <a:prstGeom prst="roundRect">
            <a:avLst>
              <a:gd name="adj" fmla="val 8000"/>
            </a:avLst>
          </a:prstGeom>
          <a:solidFill>
            <a:srgbClr val="F3F6FB"/>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17325C"/>
                </a:solidFill>
                <a:latin typeface="Helvetica Neue"/>
                <a:cs typeface="Apple SD Gothic Neo"/>
                <a:ea typeface="Apple SD Gothic Neo"/>
              </a:rPr>
              <a:t>결과</a:t>
            </a:r>
          </a:p>
        </p:txBody>
      </p:sp>
      <p:sp>
        <p:nvSpPr>
          <p:cNvPr id="21" name="Rounded Rectangle 20"/>
          <p:cNvSpPr/>
          <p:nvPr/>
        </p:nvSpPr>
        <p:spPr>
          <a:xfrm>
            <a:off x="9052560" y="4572000"/>
            <a:ext cx="2651760" cy="822960"/>
          </a:xfrm>
          <a:prstGeom prst="roundRect">
            <a:avLst>
              <a:gd name="adj" fmla="val 8000"/>
            </a:avLst>
          </a:prstGeom>
          <a:solidFill>
            <a:srgbClr val="FFF1CC"/>
          </a:solidFill>
          <a:ln w="25400">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6B4300"/>
                </a:solidFill>
                <a:latin typeface="Helvetica Neue"/>
                <a:cs typeface="Apple SD Gothic Neo"/>
                <a:ea typeface="Apple SD Gothic Neo"/>
              </a:rPr>
              <a:t>불확실하면 사람 확인</a:t>
            </a:r>
          </a:p>
        </p:txBody>
      </p:sp>
      <p:cxnSp>
        <p:nvCxnSpPr>
          <p:cNvPr id="22" name="Connector 21"/>
          <p:cNvCxnSpPr/>
          <p:nvPr/>
        </p:nvCxnSpPr>
        <p:spPr>
          <a:xfrm>
            <a:off x="9692640" y="3931920"/>
            <a:ext cx="0" cy="640080"/>
          </a:xfrm>
          <a:prstGeom prst="line">
            <a:avLst/>
          </a:prstGeom>
          <a:ln w="28575">
            <a:solidFill>
              <a:srgbClr val="6B43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1247120" y="3931920"/>
            <a:ext cx="0" cy="640080"/>
          </a:xfrm>
          <a:prstGeom prst="line">
            <a:avLst/>
          </a:prstGeom>
          <a:ln w="28575">
            <a:solidFill>
              <a:srgbClr val="6B43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5715000"/>
            <a:ext cx="11155680" cy="457200"/>
          </a:xfrm>
          <a:prstGeom prst="roundRect">
            <a:avLst>
              <a:gd name="adj" fmla="val 800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7432" bIns="27432"/>
          <a:lstStyle/>
          <a:p>
            <a:pPr algn="ctr">
              <a:lnSpc>
                <a:spcPct val="105000"/>
              </a:lnSpc>
            </a:pPr>
            <a:r>
              <a:rPr sz="2000" b="1">
                <a:solidFill>
                  <a:srgbClr val="4A5872"/>
                </a:solidFill>
                <a:latin typeface="Helvetica Neue"/>
                <a:cs typeface="Apple SD Gothic Neo"/>
                <a:ea typeface="Apple SD Gothic Neo"/>
              </a:rPr>
              <a:t>Next.js  ·  FastAPI  ·  PaddleOCR  ·  Python  ·  SQLite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① 서류 제출: 빠진 서류는 바로 올립니다</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7</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1_upload_300_240_1320.jpg"/>
          <p:cNvPicPr>
            <a:picLocks noChangeAspect="1"/>
          </p:cNvPicPr>
          <p:nvPr/>
        </p:nvPicPr>
        <p:blipFill>
          <a:blip r:embed="rId2"/>
          <a:stretch>
            <a:fillRect/>
          </a:stretch>
        </p:blipFill>
        <p:spPr>
          <a:xfrm>
            <a:off x="929487" y="1097280"/>
            <a:ext cx="10332720" cy="5260294"/>
          </a:xfrm>
          <a:prstGeom prst="rect">
            <a:avLst/>
          </a:prstGeom>
          <a:ln w="12700">
            <a:solidFill>
              <a:srgbClr val="C9D2E0"/>
            </a:solidFill>
          </a:ln>
        </p:spPr>
      </p:pic>
      <p:sp>
        <p:nvSpPr>
          <p:cNvPr id="7" name="Rounded Rectangle 6"/>
          <p:cNvSpPr/>
          <p:nvPr/>
        </p:nvSpPr>
        <p:spPr>
          <a:xfrm>
            <a:off x="5234787" y="1269491"/>
            <a:ext cx="2974570"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누락 → 보완 필요</a:t>
            </a:r>
          </a:p>
        </p:txBody>
      </p:sp>
      <p:cxnSp>
        <p:nvCxnSpPr>
          <p:cNvPr id="8" name="Connector 7"/>
          <p:cNvCxnSpPr/>
          <p:nvPr/>
        </p:nvCxnSpPr>
        <p:spPr>
          <a:xfrm flipH="1" flipV="1">
            <a:off x="2534190" y="1465187"/>
            <a:ext cx="2700597" cy="14616"/>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333022" y="1264019"/>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1</a:t>
            </a:r>
          </a:p>
        </p:txBody>
      </p:sp>
      <p:sp>
        <p:nvSpPr>
          <p:cNvPr id="10" name="Rounded Rectangle 9"/>
          <p:cNvSpPr/>
          <p:nvPr/>
        </p:nvSpPr>
        <p:spPr>
          <a:xfrm>
            <a:off x="5626178" y="3445625"/>
            <a:ext cx="2974570"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제출됨 · 확인 완료</a:t>
            </a:r>
          </a:p>
        </p:txBody>
      </p:sp>
      <p:cxnSp>
        <p:nvCxnSpPr>
          <p:cNvPr id="11" name="Connector 10"/>
          <p:cNvCxnSpPr/>
          <p:nvPr/>
        </p:nvCxnSpPr>
        <p:spPr>
          <a:xfrm>
            <a:off x="8600749" y="3655937"/>
            <a:ext cx="1315073" cy="157595"/>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714654" y="3612364"/>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2</a:t>
            </a:r>
          </a:p>
        </p:txBody>
      </p:sp>
      <p:sp>
        <p:nvSpPr>
          <p:cNvPr id="13" name="Rounded Rectangle 12"/>
          <p:cNvSpPr/>
          <p:nvPr/>
        </p:nvSpPr>
        <p:spPr>
          <a:xfrm>
            <a:off x="6408960" y="5441719"/>
            <a:ext cx="2583180"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미제출 서류 칸</a:t>
            </a:r>
          </a:p>
        </p:txBody>
      </p:sp>
      <p:cxnSp>
        <p:nvCxnSpPr>
          <p:cNvPr id="14" name="Connector 13"/>
          <p:cNvCxnSpPr/>
          <p:nvPr/>
        </p:nvCxnSpPr>
        <p:spPr>
          <a:xfrm>
            <a:off x="8992140" y="5652031"/>
            <a:ext cx="1291590" cy="165423"/>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082562" y="5616286"/>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② 정상 서류: 제출 가능</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8</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2_ready_300_240_1320.jpg"/>
          <p:cNvPicPr>
            <a:picLocks noChangeAspect="1"/>
          </p:cNvPicPr>
          <p:nvPr/>
        </p:nvPicPr>
        <p:blipFill>
          <a:blip r:embed="rId2"/>
          <a:stretch>
            <a:fillRect/>
          </a:stretch>
        </p:blipFill>
        <p:spPr>
          <a:xfrm>
            <a:off x="929487" y="1097280"/>
            <a:ext cx="10332720" cy="5260294"/>
          </a:xfrm>
          <a:prstGeom prst="rect">
            <a:avLst/>
          </a:prstGeom>
          <a:ln w="12700">
            <a:solidFill>
              <a:srgbClr val="C9D2E0"/>
            </a:solidFill>
          </a:ln>
        </p:spPr>
      </p:pic>
      <p:sp>
        <p:nvSpPr>
          <p:cNvPr id="7" name="Rounded Rectangle 6"/>
          <p:cNvSpPr/>
          <p:nvPr/>
        </p:nvSpPr>
        <p:spPr>
          <a:xfrm>
            <a:off x="5234787" y="1269491"/>
            <a:ext cx="2818014"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결과: 제출 가능</a:t>
            </a:r>
          </a:p>
        </p:txBody>
      </p:sp>
      <p:cxnSp>
        <p:nvCxnSpPr>
          <p:cNvPr id="8" name="Connector 7"/>
          <p:cNvCxnSpPr/>
          <p:nvPr/>
        </p:nvCxnSpPr>
        <p:spPr>
          <a:xfrm flipH="1" flipV="1">
            <a:off x="2534190" y="1465187"/>
            <a:ext cx="2700597" cy="14616"/>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333022" y="1264019"/>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1</a:t>
            </a:r>
          </a:p>
        </p:txBody>
      </p:sp>
      <p:sp>
        <p:nvSpPr>
          <p:cNvPr id="10" name="Rounded Rectangle 9"/>
          <p:cNvSpPr/>
          <p:nvPr/>
        </p:nvSpPr>
        <p:spPr>
          <a:xfrm>
            <a:off x="5626178" y="1919200"/>
            <a:ext cx="2974570"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공식 승인은 아님</a:t>
            </a:r>
          </a:p>
        </p:txBody>
      </p:sp>
      <p:cxnSp>
        <p:nvCxnSpPr>
          <p:cNvPr id="11" name="Connector 10"/>
          <p:cNvCxnSpPr/>
          <p:nvPr/>
        </p:nvCxnSpPr>
        <p:spPr>
          <a:xfrm flipH="1" flipV="1">
            <a:off x="4725979" y="2020962"/>
            <a:ext cx="900199" cy="108550"/>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524811" y="1819794"/>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2</a:t>
            </a:r>
          </a:p>
        </p:txBody>
      </p:sp>
      <p:sp>
        <p:nvSpPr>
          <p:cNvPr id="13" name="Rounded Rectangle 12"/>
          <p:cNvSpPr/>
          <p:nvPr/>
        </p:nvSpPr>
        <p:spPr>
          <a:xfrm>
            <a:off x="5626178" y="3445625"/>
            <a:ext cx="2974570"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서류별 확인 완료</a:t>
            </a:r>
          </a:p>
        </p:txBody>
      </p:sp>
      <p:cxnSp>
        <p:nvCxnSpPr>
          <p:cNvPr id="14" name="Connector 13"/>
          <p:cNvCxnSpPr/>
          <p:nvPr/>
        </p:nvCxnSpPr>
        <p:spPr>
          <a:xfrm>
            <a:off x="8600749" y="3655937"/>
            <a:ext cx="1315073" cy="157595"/>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714654" y="3612364"/>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③ 결과마다 근거를 보여줍니다</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9</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3_evidence_300_240_1320.jpg"/>
          <p:cNvPicPr>
            <a:picLocks noChangeAspect="1"/>
          </p:cNvPicPr>
          <p:nvPr/>
        </p:nvPicPr>
        <p:blipFill>
          <a:blip r:embed="rId2"/>
          <a:stretch>
            <a:fillRect/>
          </a:stretch>
        </p:blipFill>
        <p:spPr>
          <a:xfrm>
            <a:off x="929487" y="1097280"/>
            <a:ext cx="10332720" cy="5260294"/>
          </a:xfrm>
          <a:prstGeom prst="rect">
            <a:avLst/>
          </a:prstGeom>
          <a:ln w="12700">
            <a:solidFill>
              <a:srgbClr val="C9D2E0"/>
            </a:solidFill>
          </a:ln>
        </p:spPr>
      </p:pic>
      <p:sp>
        <p:nvSpPr>
          <p:cNvPr id="7" name="Rounded Rectangle 6"/>
          <p:cNvSpPr/>
          <p:nvPr/>
        </p:nvSpPr>
        <p:spPr>
          <a:xfrm>
            <a:off x="2338494" y="1566949"/>
            <a:ext cx="3131127"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원본에서 읽은 위치</a:t>
            </a:r>
          </a:p>
        </p:txBody>
      </p:sp>
      <p:cxnSp>
        <p:nvCxnSpPr>
          <p:cNvPr id="8" name="Connector 7"/>
          <p:cNvCxnSpPr/>
          <p:nvPr/>
        </p:nvCxnSpPr>
        <p:spPr>
          <a:xfrm>
            <a:off x="3277833" y="1987573"/>
            <a:ext cx="0" cy="1559814"/>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3076665" y="3346219"/>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1</a:t>
            </a:r>
          </a:p>
        </p:txBody>
      </p:sp>
      <p:sp>
        <p:nvSpPr>
          <p:cNvPr id="10" name="Rounded Rectangle 9"/>
          <p:cNvSpPr/>
          <p:nvPr/>
        </p:nvSpPr>
        <p:spPr>
          <a:xfrm>
            <a:off x="8365914" y="3719599"/>
            <a:ext cx="2661458"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읽은 값 + 출처</a:t>
            </a:r>
          </a:p>
        </p:txBody>
      </p:sp>
      <p:cxnSp>
        <p:nvCxnSpPr>
          <p:cNvPr id="11" name="Connector 10"/>
          <p:cNvCxnSpPr/>
          <p:nvPr/>
        </p:nvCxnSpPr>
        <p:spPr>
          <a:xfrm flipV="1">
            <a:off x="8992140" y="3328208"/>
            <a:ext cx="0" cy="391391"/>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790972" y="3127040"/>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2</a:t>
            </a:r>
          </a:p>
        </p:txBody>
      </p:sp>
      <p:sp>
        <p:nvSpPr>
          <p:cNvPr id="13" name="Rounded Rectangle 12"/>
          <p:cNvSpPr/>
          <p:nvPr/>
        </p:nvSpPr>
        <p:spPr>
          <a:xfrm>
            <a:off x="8992140" y="4619798"/>
            <a:ext cx="1878676"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규칙 통과</a:t>
            </a:r>
          </a:p>
        </p:txBody>
      </p:sp>
      <p:cxnSp>
        <p:nvCxnSpPr>
          <p:cNvPr id="14" name="Connector 13"/>
          <p:cNvCxnSpPr/>
          <p:nvPr/>
        </p:nvCxnSpPr>
        <p:spPr>
          <a:xfrm>
            <a:off x="10596843" y="5040422"/>
            <a:ext cx="0" cy="565681"/>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395675" y="5404935"/>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④ 만료 서류: 보완 필요와 이유</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10</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4_expired_300_330_1320.jpg"/>
          <p:cNvPicPr>
            <a:picLocks noChangeAspect="1"/>
          </p:cNvPicPr>
          <p:nvPr/>
        </p:nvPicPr>
        <p:blipFill>
          <a:blip r:embed="rId2"/>
          <a:stretch>
            <a:fillRect/>
          </a:stretch>
        </p:blipFill>
        <p:spPr>
          <a:xfrm>
            <a:off x="929487" y="1097280"/>
            <a:ext cx="10332720" cy="5260294"/>
          </a:xfrm>
          <a:prstGeom prst="rect">
            <a:avLst/>
          </a:prstGeom>
          <a:ln w="12700">
            <a:solidFill>
              <a:srgbClr val="C9D2E0"/>
            </a:solidFill>
          </a:ln>
        </p:spPr>
      </p:pic>
      <p:sp>
        <p:nvSpPr>
          <p:cNvPr id="7" name="Rounded Rectangle 6"/>
          <p:cNvSpPr/>
          <p:nvPr/>
        </p:nvSpPr>
        <p:spPr>
          <a:xfrm>
            <a:off x="6565516" y="4698076"/>
            <a:ext cx="2191789"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보완 필요</a:t>
            </a:r>
          </a:p>
        </p:txBody>
      </p:sp>
      <p:cxnSp>
        <p:nvCxnSpPr>
          <p:cNvPr id="8" name="Connector 7"/>
          <p:cNvCxnSpPr/>
          <p:nvPr/>
        </p:nvCxnSpPr>
        <p:spPr>
          <a:xfrm>
            <a:off x="8757305" y="4908388"/>
            <a:ext cx="1526425" cy="204562"/>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082562" y="4911782"/>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1</a:t>
            </a:r>
          </a:p>
        </p:txBody>
      </p:sp>
      <p:sp>
        <p:nvSpPr>
          <p:cNvPr id="10" name="Rounded Rectangle 9"/>
          <p:cNvSpPr/>
          <p:nvPr/>
        </p:nvSpPr>
        <p:spPr>
          <a:xfrm>
            <a:off x="6095847" y="5402580"/>
            <a:ext cx="2661458"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만료일 &lt; 기준일</a:t>
            </a:r>
          </a:p>
        </p:txBody>
      </p:sp>
      <p:cxnSp>
        <p:nvCxnSpPr>
          <p:cNvPr id="11" name="Connector 10"/>
          <p:cNvCxnSpPr/>
          <p:nvPr/>
        </p:nvCxnSpPr>
        <p:spPr>
          <a:xfrm flipH="1">
            <a:off x="5704456" y="5612892"/>
            <a:ext cx="391391" cy="157595"/>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503288" y="5569319"/>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2</a:t>
            </a:r>
          </a:p>
        </p:txBody>
      </p:sp>
      <p:sp>
        <p:nvSpPr>
          <p:cNvPr id="13" name="Rounded Rectangle 12"/>
          <p:cNvSpPr/>
          <p:nvPr/>
        </p:nvSpPr>
        <p:spPr>
          <a:xfrm>
            <a:off x="4060614" y="5872249"/>
            <a:ext cx="2661458"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새 서류로 교체</a:t>
            </a:r>
          </a:p>
        </p:txBody>
      </p:sp>
      <p:cxnSp>
        <p:nvCxnSpPr>
          <p:cNvPr id="14" name="Connector 13"/>
          <p:cNvCxnSpPr/>
          <p:nvPr/>
        </p:nvCxnSpPr>
        <p:spPr>
          <a:xfrm flipH="1">
            <a:off x="2651607" y="6082561"/>
            <a:ext cx="1409007" cy="1039"/>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450439" y="5882432"/>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⑤ 서류 사이의 불일치도 잡습니다</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11</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5_mismatch_300_240_1320.jpg"/>
          <p:cNvPicPr>
            <a:picLocks noChangeAspect="1"/>
          </p:cNvPicPr>
          <p:nvPr/>
        </p:nvPicPr>
        <p:blipFill>
          <a:blip r:embed="rId2"/>
          <a:stretch>
            <a:fillRect/>
          </a:stretch>
        </p:blipFill>
        <p:spPr>
          <a:xfrm>
            <a:off x="929487" y="1097280"/>
            <a:ext cx="10332720" cy="5260294"/>
          </a:xfrm>
          <a:prstGeom prst="rect">
            <a:avLst/>
          </a:prstGeom>
          <a:ln w="12700">
            <a:solidFill>
              <a:srgbClr val="C9D2E0"/>
            </a:solidFill>
          </a:ln>
        </p:spPr>
      </p:pic>
      <p:sp>
        <p:nvSpPr>
          <p:cNvPr id="7" name="Rounded Rectangle 6"/>
          <p:cNvSpPr/>
          <p:nvPr/>
        </p:nvSpPr>
        <p:spPr>
          <a:xfrm>
            <a:off x="5234787" y="1269491"/>
            <a:ext cx="2818014"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결과: 보완 필요</a:t>
            </a:r>
          </a:p>
        </p:txBody>
      </p:sp>
      <p:cxnSp>
        <p:nvCxnSpPr>
          <p:cNvPr id="8" name="Connector 7"/>
          <p:cNvCxnSpPr/>
          <p:nvPr/>
        </p:nvCxnSpPr>
        <p:spPr>
          <a:xfrm flipH="1" flipV="1">
            <a:off x="2534190" y="1465187"/>
            <a:ext cx="2700597" cy="14616"/>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333022" y="1264019"/>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1</a:t>
            </a:r>
          </a:p>
        </p:txBody>
      </p:sp>
      <p:sp>
        <p:nvSpPr>
          <p:cNvPr id="10" name="Rounded Rectangle 9"/>
          <p:cNvSpPr/>
          <p:nvPr/>
        </p:nvSpPr>
        <p:spPr>
          <a:xfrm>
            <a:off x="6095847" y="3993572"/>
            <a:ext cx="3444240"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서류 간 회사명 불일치</a:t>
            </a:r>
          </a:p>
        </p:txBody>
      </p:sp>
      <p:cxnSp>
        <p:nvCxnSpPr>
          <p:cNvPr id="11" name="Connector 10"/>
          <p:cNvCxnSpPr/>
          <p:nvPr/>
        </p:nvCxnSpPr>
        <p:spPr>
          <a:xfrm flipH="1">
            <a:off x="5665317" y="4203884"/>
            <a:ext cx="430530" cy="188907"/>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464149" y="4191623"/>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⑥ 불확실하면 사람에게: 원본 이미지 옆에서 확인</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12</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7_review_300_150_1320.jpg"/>
          <p:cNvPicPr>
            <a:picLocks noChangeAspect="1"/>
          </p:cNvPicPr>
          <p:nvPr/>
        </p:nvPicPr>
        <p:blipFill>
          <a:blip r:embed="rId2"/>
          <a:stretch>
            <a:fillRect/>
          </a:stretch>
        </p:blipFill>
        <p:spPr>
          <a:xfrm>
            <a:off x="929487" y="1097280"/>
            <a:ext cx="10332720" cy="5260294"/>
          </a:xfrm>
          <a:prstGeom prst="rect">
            <a:avLst/>
          </a:prstGeom>
          <a:ln w="12700">
            <a:solidFill>
              <a:srgbClr val="C9D2E0"/>
            </a:solidFill>
          </a:ln>
        </p:spPr>
      </p:pic>
      <p:sp>
        <p:nvSpPr>
          <p:cNvPr id="7" name="Rounded Rectangle 6"/>
          <p:cNvSpPr/>
          <p:nvPr/>
        </p:nvSpPr>
        <p:spPr>
          <a:xfrm>
            <a:off x="2964720" y="1606088"/>
            <a:ext cx="2583180"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자동으로 읽은 값</a:t>
            </a:r>
          </a:p>
        </p:txBody>
      </p:sp>
      <p:cxnSp>
        <p:nvCxnSpPr>
          <p:cNvPr id="8" name="Connector 7"/>
          <p:cNvCxnSpPr/>
          <p:nvPr/>
        </p:nvCxnSpPr>
        <p:spPr>
          <a:xfrm flipH="1">
            <a:off x="2432428" y="1816400"/>
            <a:ext cx="532292" cy="40178"/>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231260" y="1655410"/>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1</a:t>
            </a:r>
          </a:p>
        </p:txBody>
      </p:sp>
      <p:sp>
        <p:nvSpPr>
          <p:cNvPr id="10" name="Rounded Rectangle 9"/>
          <p:cNvSpPr/>
          <p:nvPr/>
        </p:nvSpPr>
        <p:spPr>
          <a:xfrm>
            <a:off x="8365914" y="2835055"/>
            <a:ext cx="2661458"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원본 이미지 crop</a:t>
            </a:r>
          </a:p>
        </p:txBody>
      </p:sp>
      <p:cxnSp>
        <p:nvCxnSpPr>
          <p:cNvPr id="11" name="Connector 10"/>
          <p:cNvCxnSpPr/>
          <p:nvPr/>
        </p:nvCxnSpPr>
        <p:spPr>
          <a:xfrm flipV="1">
            <a:off x="10870816" y="2506287"/>
            <a:ext cx="0" cy="328768"/>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669648" y="2305119"/>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2</a:t>
            </a:r>
          </a:p>
        </p:txBody>
      </p:sp>
      <p:sp>
        <p:nvSpPr>
          <p:cNvPr id="13" name="Rounded Rectangle 12"/>
          <p:cNvSpPr/>
          <p:nvPr/>
        </p:nvSpPr>
        <p:spPr>
          <a:xfrm>
            <a:off x="4334588" y="2858539"/>
            <a:ext cx="3287683"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같으면 Enter로 확인</a:t>
            </a:r>
          </a:p>
        </p:txBody>
      </p:sp>
      <p:cxnSp>
        <p:nvCxnSpPr>
          <p:cNvPr id="14" name="Connector 13"/>
          <p:cNvCxnSpPr/>
          <p:nvPr/>
        </p:nvCxnSpPr>
        <p:spPr>
          <a:xfrm flipH="1">
            <a:off x="2745541" y="3068851"/>
            <a:ext cx="1589047" cy="282840"/>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544373" y="3150523"/>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⑦ 확인이 끝나면 자동으로 다시 점검합니다</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13</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8_after_review_300_240_1320.jpg"/>
          <p:cNvPicPr>
            <a:picLocks noChangeAspect="1"/>
          </p:cNvPicPr>
          <p:nvPr/>
        </p:nvPicPr>
        <p:blipFill>
          <a:blip r:embed="rId2"/>
          <a:stretch>
            <a:fillRect/>
          </a:stretch>
        </p:blipFill>
        <p:spPr>
          <a:xfrm>
            <a:off x="929487" y="1097280"/>
            <a:ext cx="10332720" cy="5260294"/>
          </a:xfrm>
          <a:prstGeom prst="rect">
            <a:avLst/>
          </a:prstGeom>
          <a:ln w="12700">
            <a:solidFill>
              <a:srgbClr val="C9D2E0"/>
            </a:solidFill>
          </a:ln>
        </p:spPr>
      </p:pic>
      <p:sp>
        <p:nvSpPr>
          <p:cNvPr id="7" name="Rounded Rectangle 6"/>
          <p:cNvSpPr/>
          <p:nvPr/>
        </p:nvSpPr>
        <p:spPr>
          <a:xfrm>
            <a:off x="5234787" y="1269491"/>
            <a:ext cx="3444240"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확인 필요 → 제출 가능</a:t>
            </a:r>
          </a:p>
        </p:txBody>
      </p:sp>
      <p:cxnSp>
        <p:nvCxnSpPr>
          <p:cNvPr id="8" name="Connector 7"/>
          <p:cNvCxnSpPr/>
          <p:nvPr/>
        </p:nvCxnSpPr>
        <p:spPr>
          <a:xfrm flipH="1" flipV="1">
            <a:off x="2534190" y="1465187"/>
            <a:ext cx="2700597" cy="14616"/>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333022" y="1264019"/>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1</a:t>
            </a:r>
          </a:p>
        </p:txBody>
      </p:sp>
      <p:sp>
        <p:nvSpPr>
          <p:cNvPr id="10" name="Rounded Rectangle 9"/>
          <p:cNvSpPr/>
          <p:nvPr/>
        </p:nvSpPr>
        <p:spPr>
          <a:xfrm>
            <a:off x="5626178" y="1919200"/>
            <a:ext cx="2661458" cy="420624"/>
          </a:xfrm>
          <a:prstGeom prst="roundRect">
            <a:avLst>
              <a:gd name="adj" fmla="val 25000"/>
            </a:avLst>
          </a:prstGeom>
          <a:solidFill>
            <a:srgbClr val="FFFFFF"/>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5000"/>
              </a:lnSpc>
            </a:pPr>
            <a:r>
              <a:rPr sz="1600" b="1">
                <a:solidFill>
                  <a:srgbClr val="17325C"/>
                </a:solidFill>
                <a:latin typeface="Helvetica Neue"/>
                <a:cs typeface="Apple SD Gothic Neo"/>
                <a:ea typeface="Apple SD Gothic Neo"/>
              </a:rPr>
              <a:t>자동 재점검</a:t>
            </a:r>
          </a:p>
        </p:txBody>
      </p:sp>
      <p:cxnSp>
        <p:nvCxnSpPr>
          <p:cNvPr id="11" name="Connector 10"/>
          <p:cNvCxnSpPr/>
          <p:nvPr/>
        </p:nvCxnSpPr>
        <p:spPr>
          <a:xfrm flipH="1" flipV="1">
            <a:off x="3982336" y="2020962"/>
            <a:ext cx="1643842" cy="108550"/>
          </a:xfrm>
          <a:prstGeom prst="line">
            <a:avLst/>
          </a:prstGeom>
          <a:ln w="28575">
            <a:solidFill>
              <a:srgbClr val="1732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781168" y="1819794"/>
            <a:ext cx="402336" cy="402336"/>
          </a:xfrm>
          <a:prstGeom prst="ellipse">
            <a:avLst/>
          </a:prstGeom>
          <a:solidFill>
            <a:srgbClr val="17325C"/>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Helvetica Neue"/>
                <a:cs typeface="Apple SD Gothic Neo"/>
                <a:ea typeface="Apple SD Gothic Neo"/>
              </a:rPr>
              <a:t>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결과: 잘못된 ‘제출 가능’ 0건</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14</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ounded Rectangle 5"/>
          <p:cNvSpPr/>
          <p:nvPr/>
        </p:nvSpPr>
        <p:spPr>
          <a:xfrm>
            <a:off x="548640" y="1463040"/>
            <a:ext cx="2697480" cy="4297680"/>
          </a:xfrm>
          <a:prstGeom prst="roundRect">
            <a:avLst>
              <a:gd name="adj" fmla="val 8000"/>
            </a:avLst>
          </a:prstGeom>
          <a:solidFill>
            <a:srgbClr val="E3F5EC"/>
          </a:solidFill>
          <a:ln w="3175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2514600" cy="1005840"/>
          </a:xfrm>
          <a:prstGeom prst="rect">
            <a:avLst/>
          </a:prstGeom>
          <a:noFill/>
        </p:spPr>
        <p:txBody>
          <a:bodyPr wrap="square" anchor="ctr" lIns="0" rIns="0" tIns="0" bIns="0">
            <a:spAutoFit/>
          </a:bodyPr>
          <a:lstStyle/>
          <a:p>
            <a:pPr algn="ctr">
              <a:lnSpc>
                <a:spcPct val="105000"/>
              </a:lnSpc>
            </a:pPr>
            <a:r>
              <a:rPr sz="4000" b="1">
                <a:solidFill>
                  <a:srgbClr val="0B5D3B"/>
                </a:solidFill>
                <a:latin typeface="Helvetica Neue"/>
                <a:cs typeface="Apple SD Gothic Neo"/>
                <a:ea typeface="Apple SD Gothic Neo"/>
              </a:rPr>
              <a:t>0 / 14</a:t>
            </a:r>
          </a:p>
        </p:txBody>
      </p:sp>
      <p:sp>
        <p:nvSpPr>
          <p:cNvPr id="8" name="TextBox 7"/>
          <p:cNvSpPr txBox="1"/>
          <p:nvPr/>
        </p:nvSpPr>
        <p:spPr>
          <a:xfrm>
            <a:off x="685800" y="2788920"/>
            <a:ext cx="2423160" cy="822960"/>
          </a:xfrm>
          <a:prstGeom prst="rect">
            <a:avLst/>
          </a:prstGeom>
          <a:noFill/>
        </p:spPr>
        <p:txBody>
          <a:bodyPr wrap="square" anchor="ctr" lIns="0" rIns="0" tIns="0" bIns="0">
            <a:spAutoFit/>
          </a:bodyPr>
          <a:lstStyle/>
          <a:p>
            <a:pPr algn="ctr">
              <a:lnSpc>
                <a:spcPct val="105000"/>
              </a:lnSpc>
            </a:pPr>
            <a:r>
              <a:rPr sz="2200" b="1">
                <a:solidFill>
                  <a:srgbClr val="1B2433"/>
                </a:solidFill>
                <a:latin typeface="Helvetica Neue"/>
                <a:cs typeface="Apple SD Gothic Neo"/>
                <a:ea typeface="Apple SD Gothic Neo"/>
              </a:rPr>
              <a:t>잘못된 ‘제출 가능’</a:t>
            </a:r>
          </a:p>
        </p:txBody>
      </p:sp>
      <p:sp>
        <p:nvSpPr>
          <p:cNvPr id="9" name="TextBox 8"/>
          <p:cNvSpPr txBox="1"/>
          <p:nvPr/>
        </p:nvSpPr>
        <p:spPr>
          <a:xfrm>
            <a:off x="685800" y="3657600"/>
            <a:ext cx="2423160" cy="731520"/>
          </a:xfrm>
          <a:prstGeom prst="rect">
            <a:avLst/>
          </a:prstGeom>
          <a:noFill/>
        </p:spPr>
        <p:txBody>
          <a:bodyPr wrap="square" anchor="ctr" lIns="0" rIns="0" tIns="0" bIns="0">
            <a:spAutoFit/>
          </a:bodyPr>
          <a:lstStyle/>
          <a:p>
            <a:pPr algn="ctr">
              <a:lnSpc>
                <a:spcPct val="105000"/>
              </a:lnSpc>
            </a:pPr>
            <a:r>
              <a:rPr sz="1600" b="1">
                <a:solidFill>
                  <a:srgbClr val="0B5D3B"/>
                </a:solidFill>
                <a:latin typeface="Helvetica Neue"/>
                <a:cs typeface="Apple SD Gothic Neo"/>
                <a:ea typeface="Apple SD Gothic Neo"/>
              </a:rPr>
              <a:t>처음 보는 문서 (hold-out 3)</a:t>
            </a:r>
          </a:p>
        </p:txBody>
      </p:sp>
      <p:sp>
        <p:nvSpPr>
          <p:cNvPr id="10" name="TextBox 9"/>
          <p:cNvSpPr txBox="1"/>
          <p:nvPr/>
        </p:nvSpPr>
        <p:spPr>
          <a:xfrm>
            <a:off x="685800" y="4526280"/>
            <a:ext cx="2423160" cy="1005840"/>
          </a:xfrm>
          <a:prstGeom prst="rect">
            <a:avLst/>
          </a:prstGeom>
          <a:noFill/>
        </p:spPr>
        <p:txBody>
          <a:bodyPr wrap="square" anchor="t" lIns="0" rIns="0" tIns="0" bIns="0">
            <a:spAutoFit/>
          </a:bodyPr>
          <a:lstStyle/>
          <a:p>
            <a:pPr algn="ctr">
              <a:lnSpc>
                <a:spcPct val="105000"/>
              </a:lnSpc>
            </a:pPr>
            <a:r>
              <a:rPr sz="1600" b="0">
                <a:solidFill>
                  <a:srgbClr val="4A5872"/>
                </a:solidFill>
                <a:latin typeface="Helvetica Neue"/>
                <a:cs typeface="Apple SD Gothic Neo"/>
                <a:ea typeface="Apple SD Gothic Neo"/>
              </a:rPr>
              <a:t>개발 문서: 0 / 40</a:t>
            </a:r>
          </a:p>
        </p:txBody>
      </p:sp>
      <p:sp>
        <p:nvSpPr>
          <p:cNvPr id="11" name="Rounded Rectangle 10"/>
          <p:cNvSpPr/>
          <p:nvPr/>
        </p:nvSpPr>
        <p:spPr>
          <a:xfrm>
            <a:off x="3401568" y="1463040"/>
            <a:ext cx="2697480" cy="4297680"/>
          </a:xfrm>
          <a:prstGeom prst="roundRect">
            <a:avLst>
              <a:gd name="adj" fmla="val 8000"/>
            </a:avLst>
          </a:prstGeom>
          <a:solidFill>
            <a:srgbClr val="E3F5EC"/>
          </a:solidFill>
          <a:ln w="3175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3008" y="1691640"/>
            <a:ext cx="2514600" cy="1005840"/>
          </a:xfrm>
          <a:prstGeom prst="rect">
            <a:avLst/>
          </a:prstGeom>
          <a:noFill/>
        </p:spPr>
        <p:txBody>
          <a:bodyPr wrap="square" anchor="ctr" lIns="0" rIns="0" tIns="0" bIns="0">
            <a:spAutoFit/>
          </a:bodyPr>
          <a:lstStyle/>
          <a:p>
            <a:pPr algn="ctr">
              <a:lnSpc>
                <a:spcPct val="105000"/>
              </a:lnSpc>
            </a:pPr>
            <a:r>
              <a:rPr sz="4000" b="1">
                <a:solidFill>
                  <a:srgbClr val="0B5D3B"/>
                </a:solidFill>
                <a:latin typeface="Helvetica Neue"/>
                <a:cs typeface="Apple SD Gothic Neo"/>
                <a:ea typeface="Apple SD Gothic Neo"/>
              </a:rPr>
              <a:t>790 / 790</a:t>
            </a:r>
          </a:p>
        </p:txBody>
      </p:sp>
      <p:sp>
        <p:nvSpPr>
          <p:cNvPr id="13" name="TextBox 12"/>
          <p:cNvSpPr txBox="1"/>
          <p:nvPr/>
        </p:nvSpPr>
        <p:spPr>
          <a:xfrm>
            <a:off x="3538728" y="2788920"/>
            <a:ext cx="2423160" cy="822960"/>
          </a:xfrm>
          <a:prstGeom prst="rect">
            <a:avLst/>
          </a:prstGeom>
          <a:noFill/>
        </p:spPr>
        <p:txBody>
          <a:bodyPr wrap="square" anchor="ctr" lIns="0" rIns="0" tIns="0" bIns="0">
            <a:spAutoFit/>
          </a:bodyPr>
          <a:lstStyle/>
          <a:p>
            <a:pPr algn="ctr">
              <a:lnSpc>
                <a:spcPct val="105000"/>
              </a:lnSpc>
            </a:pPr>
            <a:r>
              <a:rPr sz="2200" b="1">
                <a:solidFill>
                  <a:srgbClr val="1B2433"/>
                </a:solidFill>
                <a:latin typeface="Helvetica Neue"/>
                <a:cs typeface="Apple SD Gothic Neo"/>
                <a:ea typeface="Apple SD Gothic Neo"/>
              </a:rPr>
              <a:t>디지털 PDF 추출</a:t>
            </a:r>
          </a:p>
        </p:txBody>
      </p:sp>
      <p:sp>
        <p:nvSpPr>
          <p:cNvPr id="14" name="TextBox 13"/>
          <p:cNvSpPr txBox="1"/>
          <p:nvPr/>
        </p:nvSpPr>
        <p:spPr>
          <a:xfrm>
            <a:off x="3538728" y="3657600"/>
            <a:ext cx="2423160" cy="731520"/>
          </a:xfrm>
          <a:prstGeom prst="rect">
            <a:avLst/>
          </a:prstGeom>
          <a:noFill/>
        </p:spPr>
        <p:txBody>
          <a:bodyPr wrap="square" anchor="ctr" lIns="0" rIns="0" tIns="0" bIns="0">
            <a:spAutoFit/>
          </a:bodyPr>
          <a:lstStyle/>
          <a:p>
            <a:pPr algn="ctr">
              <a:lnSpc>
                <a:spcPct val="105000"/>
              </a:lnSpc>
            </a:pPr>
            <a:r>
              <a:rPr sz="1600" b="1">
                <a:solidFill>
                  <a:srgbClr val="0B5D3B"/>
                </a:solidFill>
                <a:latin typeface="Helvetica Neue"/>
                <a:cs typeface="Apple SD Gothic Neo"/>
                <a:ea typeface="Apple SD Gothic Neo"/>
              </a:rPr>
              <a:t>개발 문서</a:t>
            </a:r>
          </a:p>
        </p:txBody>
      </p:sp>
      <p:sp>
        <p:nvSpPr>
          <p:cNvPr id="15" name="TextBox 14"/>
          <p:cNvSpPr txBox="1"/>
          <p:nvPr/>
        </p:nvSpPr>
        <p:spPr>
          <a:xfrm>
            <a:off x="3538728" y="4526280"/>
            <a:ext cx="2423160" cy="1005840"/>
          </a:xfrm>
          <a:prstGeom prst="rect">
            <a:avLst/>
          </a:prstGeom>
          <a:noFill/>
        </p:spPr>
        <p:txBody>
          <a:bodyPr wrap="square" anchor="t" lIns="0" rIns="0" tIns="0" bIns="0">
            <a:spAutoFit/>
          </a:bodyPr>
          <a:lstStyle/>
          <a:p>
            <a:pPr algn="ctr">
              <a:lnSpc>
                <a:spcPct val="105000"/>
              </a:lnSpc>
            </a:pPr>
            <a:r>
              <a:rPr sz="1600" b="0">
                <a:solidFill>
                  <a:srgbClr val="4A5872"/>
                </a:solidFill>
                <a:latin typeface="Helvetica Neue"/>
                <a:cs typeface="Apple SD Gothic Neo"/>
                <a:ea typeface="Apple SD Gothic Neo"/>
              </a:rPr>
              <a:t>처음 보는 문서: 274 / 275</a:t>
            </a:r>
          </a:p>
        </p:txBody>
      </p:sp>
      <p:sp>
        <p:nvSpPr>
          <p:cNvPr id="16" name="Rounded Rectangle 15"/>
          <p:cNvSpPr/>
          <p:nvPr/>
        </p:nvSpPr>
        <p:spPr>
          <a:xfrm>
            <a:off x="6254496" y="1463040"/>
            <a:ext cx="2697480" cy="4297680"/>
          </a:xfrm>
          <a:prstGeom prst="roundRect">
            <a:avLst>
              <a:gd name="adj" fmla="val 8000"/>
            </a:avLst>
          </a:prstGeom>
          <a:solidFill>
            <a:srgbClr val="FFF1CC"/>
          </a:solidFill>
          <a:ln w="31750">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691640"/>
            <a:ext cx="2514600" cy="1005840"/>
          </a:xfrm>
          <a:prstGeom prst="rect">
            <a:avLst/>
          </a:prstGeom>
          <a:noFill/>
        </p:spPr>
        <p:txBody>
          <a:bodyPr wrap="square" anchor="ctr" lIns="0" rIns="0" tIns="0" bIns="0">
            <a:spAutoFit/>
          </a:bodyPr>
          <a:lstStyle/>
          <a:p>
            <a:pPr algn="ctr">
              <a:lnSpc>
                <a:spcPct val="105000"/>
              </a:lnSpc>
            </a:pPr>
            <a:r>
              <a:rPr sz="4000" b="1">
                <a:solidFill>
                  <a:srgbClr val="6B4300"/>
                </a:solidFill>
                <a:latin typeface="Helvetica Neue"/>
                <a:cs typeface="Apple SD Gothic Neo"/>
                <a:ea typeface="Apple SD Gothic Neo"/>
              </a:rPr>
              <a:t>268 / 275</a:t>
            </a:r>
          </a:p>
        </p:txBody>
      </p:sp>
      <p:sp>
        <p:nvSpPr>
          <p:cNvPr id="18" name="TextBox 17"/>
          <p:cNvSpPr txBox="1"/>
          <p:nvPr/>
        </p:nvSpPr>
        <p:spPr>
          <a:xfrm>
            <a:off x="6391656" y="2788920"/>
            <a:ext cx="2423160" cy="822960"/>
          </a:xfrm>
          <a:prstGeom prst="rect">
            <a:avLst/>
          </a:prstGeom>
          <a:noFill/>
        </p:spPr>
        <p:txBody>
          <a:bodyPr wrap="square" anchor="ctr" lIns="0" rIns="0" tIns="0" bIns="0">
            <a:spAutoFit/>
          </a:bodyPr>
          <a:lstStyle/>
          <a:p>
            <a:pPr algn="ctr">
              <a:lnSpc>
                <a:spcPct val="105000"/>
              </a:lnSpc>
            </a:pPr>
            <a:r>
              <a:rPr sz="2200" b="1">
                <a:solidFill>
                  <a:srgbClr val="1B2433"/>
                </a:solidFill>
                <a:latin typeface="Helvetica Neue"/>
                <a:cs typeface="Apple SD Gothic Neo"/>
                <a:ea typeface="Apple SD Gothic Neo"/>
              </a:rPr>
              <a:t>스캔 필드 정확도</a:t>
            </a:r>
          </a:p>
        </p:txBody>
      </p:sp>
      <p:sp>
        <p:nvSpPr>
          <p:cNvPr id="19" name="TextBox 18"/>
          <p:cNvSpPr txBox="1"/>
          <p:nvPr/>
        </p:nvSpPr>
        <p:spPr>
          <a:xfrm>
            <a:off x="6391656" y="3657600"/>
            <a:ext cx="2423160" cy="731520"/>
          </a:xfrm>
          <a:prstGeom prst="rect">
            <a:avLst/>
          </a:prstGeom>
          <a:noFill/>
        </p:spPr>
        <p:txBody>
          <a:bodyPr wrap="square" anchor="ctr" lIns="0" rIns="0" tIns="0" bIns="0">
            <a:spAutoFit/>
          </a:bodyPr>
          <a:lstStyle/>
          <a:p>
            <a:pPr algn="ctr">
              <a:lnSpc>
                <a:spcPct val="105000"/>
              </a:lnSpc>
            </a:pPr>
            <a:r>
              <a:rPr sz="1600" b="1">
                <a:solidFill>
                  <a:srgbClr val="6B4300"/>
                </a:solidFill>
                <a:latin typeface="Helvetica Neue"/>
                <a:cs typeface="Apple SD Gothic Neo"/>
                <a:ea typeface="Apple SD Gothic Neo"/>
              </a:rPr>
              <a:t>처음 보는 문서 (hold-out 3)</a:t>
            </a:r>
          </a:p>
        </p:txBody>
      </p:sp>
      <p:sp>
        <p:nvSpPr>
          <p:cNvPr id="20" name="TextBox 19"/>
          <p:cNvSpPr txBox="1"/>
          <p:nvPr/>
        </p:nvSpPr>
        <p:spPr>
          <a:xfrm>
            <a:off x="6391656" y="4526280"/>
            <a:ext cx="2423160" cy="1005840"/>
          </a:xfrm>
          <a:prstGeom prst="rect">
            <a:avLst/>
          </a:prstGeom>
          <a:noFill/>
        </p:spPr>
        <p:txBody>
          <a:bodyPr wrap="square" anchor="t" lIns="0" rIns="0" tIns="0" bIns="0">
            <a:spAutoFit/>
          </a:bodyPr>
          <a:lstStyle/>
          <a:p>
            <a:pPr algn="ctr">
              <a:lnSpc>
                <a:spcPct val="105000"/>
              </a:lnSpc>
            </a:pPr>
            <a:r>
              <a:rPr sz="1600" b="0">
                <a:solidFill>
                  <a:srgbClr val="4A5872"/>
                </a:solidFill>
                <a:latin typeface="Helvetica Neue"/>
                <a:cs typeface="Apple SD Gothic Neo"/>
                <a:ea typeface="Apple SD Gothic Neo"/>
              </a:rPr>
              <a:t>틀린 값 0 · 나머지는 사람 확인</a:t>
            </a:r>
          </a:p>
        </p:txBody>
      </p:sp>
      <p:sp>
        <p:nvSpPr>
          <p:cNvPr id="21" name="Rounded Rectangle 20"/>
          <p:cNvSpPr/>
          <p:nvPr/>
        </p:nvSpPr>
        <p:spPr>
          <a:xfrm>
            <a:off x="9107424" y="1463040"/>
            <a:ext cx="2697480" cy="4297680"/>
          </a:xfrm>
          <a:prstGeom prst="roundRect">
            <a:avLst>
              <a:gd name="adj" fmla="val 8000"/>
            </a:avLst>
          </a:prstGeom>
          <a:solidFill>
            <a:srgbClr val="E3F5EC"/>
          </a:solidFill>
          <a:ln w="3175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98864" y="1691640"/>
            <a:ext cx="2514600" cy="1005840"/>
          </a:xfrm>
          <a:prstGeom prst="rect">
            <a:avLst/>
          </a:prstGeom>
          <a:noFill/>
        </p:spPr>
        <p:txBody>
          <a:bodyPr wrap="square" anchor="ctr" lIns="0" rIns="0" tIns="0" bIns="0">
            <a:spAutoFit/>
          </a:bodyPr>
          <a:lstStyle/>
          <a:p>
            <a:pPr algn="ctr">
              <a:lnSpc>
                <a:spcPct val="105000"/>
              </a:lnSpc>
            </a:pPr>
            <a:r>
              <a:rPr sz="4000" b="1">
                <a:solidFill>
                  <a:srgbClr val="0B5D3B"/>
                </a:solidFill>
                <a:latin typeface="Helvetica Neue"/>
                <a:cs typeface="Apple SD Gothic Neo"/>
                <a:ea typeface="Apple SD Gothic Neo"/>
              </a:rPr>
              <a:t>12 / 12</a:t>
            </a:r>
          </a:p>
        </p:txBody>
      </p:sp>
      <p:sp>
        <p:nvSpPr>
          <p:cNvPr id="23" name="TextBox 22"/>
          <p:cNvSpPr txBox="1"/>
          <p:nvPr/>
        </p:nvSpPr>
        <p:spPr>
          <a:xfrm>
            <a:off x="9244584" y="2788920"/>
            <a:ext cx="2423160" cy="822960"/>
          </a:xfrm>
          <a:prstGeom prst="rect">
            <a:avLst/>
          </a:prstGeom>
          <a:noFill/>
        </p:spPr>
        <p:txBody>
          <a:bodyPr wrap="square" anchor="ctr" lIns="0" rIns="0" tIns="0" bIns="0">
            <a:spAutoFit/>
          </a:bodyPr>
          <a:lstStyle/>
          <a:p>
            <a:pPr algn="ctr">
              <a:lnSpc>
                <a:spcPct val="105000"/>
              </a:lnSpc>
            </a:pPr>
            <a:r>
              <a:rPr sz="2200" b="1">
                <a:solidFill>
                  <a:srgbClr val="1B2433"/>
                </a:solidFill>
                <a:latin typeface="Helvetica Neue"/>
                <a:cs typeface="Apple SD Gothic Neo"/>
                <a:ea typeface="Apple SD Gothic Neo"/>
              </a:rPr>
              <a:t>위·변조 PDF 차단</a:t>
            </a:r>
          </a:p>
        </p:txBody>
      </p:sp>
      <p:sp>
        <p:nvSpPr>
          <p:cNvPr id="24" name="TextBox 23"/>
          <p:cNvSpPr txBox="1"/>
          <p:nvPr/>
        </p:nvSpPr>
        <p:spPr>
          <a:xfrm>
            <a:off x="9244584" y="3657600"/>
            <a:ext cx="2423160" cy="731520"/>
          </a:xfrm>
          <a:prstGeom prst="rect">
            <a:avLst/>
          </a:prstGeom>
          <a:noFill/>
        </p:spPr>
        <p:txBody>
          <a:bodyPr wrap="square" anchor="ctr" lIns="0" rIns="0" tIns="0" bIns="0">
            <a:spAutoFit/>
          </a:bodyPr>
          <a:lstStyle/>
          <a:p>
            <a:pPr algn="ctr">
              <a:lnSpc>
                <a:spcPct val="105000"/>
              </a:lnSpc>
            </a:pPr>
            <a:r>
              <a:rPr sz="1600" b="1">
                <a:solidFill>
                  <a:srgbClr val="0B5D3B"/>
                </a:solidFill>
                <a:latin typeface="Helvetica Neue"/>
                <a:cs typeface="Apple SD Gothic Neo"/>
                <a:ea typeface="Apple SD Gothic Neo"/>
              </a:rPr>
              <a:t>숨은 글자가 있는 PDF</a:t>
            </a:r>
          </a:p>
        </p:txBody>
      </p:sp>
      <p:sp>
        <p:nvSpPr>
          <p:cNvPr id="25" name="TextBox 24"/>
          <p:cNvSpPr txBox="1"/>
          <p:nvPr/>
        </p:nvSpPr>
        <p:spPr>
          <a:xfrm>
            <a:off x="9244584" y="4526280"/>
            <a:ext cx="2423160" cy="1005840"/>
          </a:xfrm>
          <a:prstGeom prst="rect">
            <a:avLst/>
          </a:prstGeom>
          <a:noFill/>
        </p:spPr>
        <p:txBody>
          <a:bodyPr wrap="square" anchor="t" lIns="0" rIns="0" tIns="0" bIns="0">
            <a:spAutoFit/>
          </a:bodyPr>
          <a:lstStyle/>
          <a:p>
            <a:pPr algn="ctr">
              <a:lnSpc>
                <a:spcPct val="105000"/>
              </a:lnSpc>
            </a:pPr>
            <a:r>
              <a:rPr sz="1600" b="0">
                <a:solidFill>
                  <a:srgbClr val="4A5872"/>
                </a:solidFill>
                <a:latin typeface="Helvetica Neue"/>
                <a:cs typeface="Apple SD Gothic Neo"/>
                <a:ea typeface="Apple SD Gothic Neo"/>
              </a:rPr>
              <a:t>제출 가능까지 간 것 0</a:t>
            </a:r>
          </a:p>
        </p:txBody>
      </p:sp>
      <p:sp>
        <p:nvSpPr>
          <p:cNvPr id="26" name="TextBox 25"/>
          <p:cNvSpPr txBox="1"/>
          <p:nvPr/>
        </p:nvSpPr>
        <p:spPr>
          <a:xfrm>
            <a:off x="548640" y="5897880"/>
            <a:ext cx="11155680" cy="457200"/>
          </a:xfrm>
          <a:prstGeom prst="rect">
            <a:avLst/>
          </a:prstGeom>
          <a:noFill/>
        </p:spPr>
        <p:txBody>
          <a:bodyPr wrap="square" anchor="t" lIns="0" rIns="0" tIns="0" bIns="0">
            <a:spAutoFit/>
          </a:bodyPr>
          <a:lstStyle/>
          <a:p>
            <a:pPr algn="ctr">
              <a:lnSpc>
                <a:spcPct val="105000"/>
              </a:lnSpc>
            </a:pPr>
            <a:r>
              <a:rPr sz="1800" b="1">
                <a:solidFill>
                  <a:srgbClr val="17325C"/>
                </a:solidFill>
                <a:latin typeface="Helvetica Neue"/>
                <a:cs typeface="Apple SD Gothic Neo"/>
                <a:ea typeface="Apple SD Gothic Neo"/>
              </a:rPr>
              <a:t>가상 테스트 문서 기준 · 분모를 항상 함께 표시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어떻게: 사람 확인 항목 11.64 → 3.73 (스캔 1건당, 개발 문서)</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15</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graphicFrame>
        <p:nvGraphicFramePr>
          <p:cNvPr id="6" name="Chart 5"/>
          <p:cNvGraphicFramePr>
            <a:graphicFrameLocks noGrp="1"/>
          </p:cNvGraphicFramePr>
          <p:nvPr/>
        </p:nvGraphicFramePr>
        <p:xfrm>
          <a:off x="457200" y="2148840"/>
          <a:ext cx="7863840" cy="4114800"/>
        </p:xfrm>
        <a:graphic>
          <a:graphicData uri="http://schemas.openxmlformats.org/drawingml/2006/chart">
            <c:chart xmlns:c="http://schemas.openxmlformats.org/drawingml/2006/chart" r:id="rId2"/>
          </a:graphicData>
        </a:graphic>
      </p:graphicFrame>
      <p:sp>
        <p:nvSpPr>
          <p:cNvPr id="7" name="Rounded Rectangle 6"/>
          <p:cNvSpPr/>
          <p:nvPr/>
        </p:nvSpPr>
        <p:spPr>
          <a:xfrm>
            <a:off x="1691639" y="1280160"/>
            <a:ext cx="1920240" cy="731520"/>
          </a:xfrm>
          <a:prstGeom prst="roundRect">
            <a:avLst>
              <a:gd name="adj" fmla="val 20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lnSpc>
                <a:spcPct val="105000"/>
              </a:lnSpc>
            </a:pPr>
            <a:r>
              <a:rPr sz="1400" b="1">
                <a:solidFill>
                  <a:srgbClr val="0B5D3B"/>
                </a:solidFill>
                <a:latin typeface="Helvetica Neue"/>
                <a:cs typeface="Apple SD Gothic Neo"/>
                <a:ea typeface="Apple SD Gothic Neo"/>
              </a:rPr>
              <a:t>독립 확인
(다른 서류·검증숫자)</a:t>
            </a:r>
          </a:p>
        </p:txBody>
      </p:sp>
      <p:cxnSp>
        <p:nvCxnSpPr>
          <p:cNvPr id="8" name="Connector 7"/>
          <p:cNvCxnSpPr/>
          <p:nvPr/>
        </p:nvCxnSpPr>
        <p:spPr>
          <a:xfrm>
            <a:off x="2651760" y="2011680"/>
            <a:ext cx="0" cy="365760"/>
          </a:xfrm>
          <a:prstGeom prst="line">
            <a:avLst/>
          </a:prstGeom>
          <a:ln w="25400">
            <a:solidFill>
              <a:srgbClr val="0B5D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599" y="1280160"/>
            <a:ext cx="1920240" cy="731520"/>
          </a:xfrm>
          <a:prstGeom prst="roundRect">
            <a:avLst>
              <a:gd name="adj" fmla="val 20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lnSpc>
                <a:spcPct val="105000"/>
              </a:lnSpc>
            </a:pPr>
            <a:r>
              <a:rPr sz="1400" b="1">
                <a:solidFill>
                  <a:srgbClr val="6B4300"/>
                </a:solidFill>
                <a:latin typeface="Helvetica Neue"/>
                <a:cs typeface="Apple SD Gothic Neo"/>
                <a:ea typeface="Apple SD Gothic Neo"/>
              </a:rPr>
              <a:t>안전 규칙 강화
(소유자 승인)</a:t>
            </a:r>
          </a:p>
        </p:txBody>
      </p:sp>
      <p:cxnSp>
        <p:nvCxnSpPr>
          <p:cNvPr id="10" name="Connector 9"/>
          <p:cNvCxnSpPr/>
          <p:nvPr/>
        </p:nvCxnSpPr>
        <p:spPr>
          <a:xfrm>
            <a:off x="4617720" y="2011680"/>
            <a:ext cx="0" cy="365760"/>
          </a:xfrm>
          <a:prstGeom prst="line">
            <a:avLst/>
          </a:prstGeom>
          <a:ln w="25400">
            <a:solidFill>
              <a:srgbClr val="6B43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760720" y="1280160"/>
            <a:ext cx="1920240" cy="731520"/>
          </a:xfrm>
          <a:prstGeom prst="roundRect">
            <a:avLst>
              <a:gd name="adj" fmla="val 20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lnSpc>
                <a:spcPct val="105000"/>
              </a:lnSpc>
            </a:pPr>
            <a:r>
              <a:rPr sz="1400" b="1">
                <a:solidFill>
                  <a:srgbClr val="0B5D3B"/>
                </a:solidFill>
                <a:latin typeface="Helvetica Neue"/>
                <a:cs typeface="Apple SD Gothic Neo"/>
                <a:ea typeface="Apple SD Gothic Neo"/>
              </a:rPr>
              <a:t>내부 검증
(GPA 재계산·날짜 쌍)</a:t>
            </a:r>
          </a:p>
        </p:txBody>
      </p:sp>
      <p:cxnSp>
        <p:nvCxnSpPr>
          <p:cNvPr id="12" name="Connector 11"/>
          <p:cNvCxnSpPr/>
          <p:nvPr/>
        </p:nvCxnSpPr>
        <p:spPr>
          <a:xfrm>
            <a:off x="6720840" y="2011680"/>
            <a:ext cx="0" cy="365760"/>
          </a:xfrm>
          <a:prstGeom prst="line">
            <a:avLst/>
          </a:prstGeom>
          <a:ln w="25400">
            <a:solidFill>
              <a:srgbClr val="0B5D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641080" y="1417320"/>
            <a:ext cx="3108960" cy="2286000"/>
          </a:xfrm>
          <a:prstGeom prst="roundRect">
            <a:avLst>
              <a:gd name="adj" fmla="val 8000"/>
            </a:avLst>
          </a:prstGeom>
          <a:solidFill>
            <a:srgbClr val="E3F5EC"/>
          </a:solidFill>
          <a:ln w="3175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1463040"/>
            <a:ext cx="2926080" cy="457200"/>
          </a:xfrm>
          <a:prstGeom prst="rect">
            <a:avLst/>
          </a:prstGeom>
          <a:noFill/>
        </p:spPr>
        <p:txBody>
          <a:bodyPr wrap="square" anchor="ctr" lIns="0" rIns="0" tIns="0" bIns="0">
            <a:spAutoFit/>
          </a:bodyPr>
          <a:lstStyle/>
          <a:p>
            <a:pPr algn="ctr">
              <a:lnSpc>
                <a:spcPct val="105000"/>
              </a:lnSpc>
            </a:pPr>
            <a:r>
              <a:rPr sz="1600" b="1">
                <a:solidFill>
                  <a:srgbClr val="0B5D3B"/>
                </a:solidFill>
                <a:latin typeface="Helvetica Neue"/>
                <a:cs typeface="Apple SD Gothic Neo"/>
                <a:ea typeface="Apple SD Gothic Neo"/>
              </a:rPr>
              <a:t>처음 보는 문서 (hold-out 3)</a:t>
            </a:r>
          </a:p>
        </p:txBody>
      </p:sp>
      <p:sp>
        <p:nvSpPr>
          <p:cNvPr id="15" name="TextBox 14"/>
          <p:cNvSpPr txBox="1"/>
          <p:nvPr/>
        </p:nvSpPr>
        <p:spPr>
          <a:xfrm>
            <a:off x="8732520" y="1965960"/>
            <a:ext cx="2926080" cy="1097280"/>
          </a:xfrm>
          <a:prstGeom prst="rect">
            <a:avLst/>
          </a:prstGeom>
          <a:noFill/>
        </p:spPr>
        <p:txBody>
          <a:bodyPr wrap="square" anchor="ctr" lIns="0" rIns="0" tIns="0" bIns="0">
            <a:spAutoFit/>
          </a:bodyPr>
          <a:lstStyle/>
          <a:p>
            <a:pPr algn="ctr">
              <a:lnSpc>
                <a:spcPct val="105000"/>
              </a:lnSpc>
            </a:pPr>
            <a:r>
              <a:rPr sz="4000" b="1">
                <a:solidFill>
                  <a:srgbClr val="0B5D3B"/>
                </a:solidFill>
                <a:latin typeface="Helvetica Neue"/>
                <a:cs typeface="Apple SD Gothic Neo"/>
                <a:ea typeface="Apple SD Gothic Neo"/>
              </a:rPr>
              <a:t>7.68 → 4.28</a:t>
            </a:r>
          </a:p>
        </p:txBody>
      </p:sp>
      <p:sp>
        <p:nvSpPr>
          <p:cNvPr id="16" name="TextBox 15"/>
          <p:cNvSpPr txBox="1"/>
          <p:nvPr/>
        </p:nvSpPr>
        <p:spPr>
          <a:xfrm>
            <a:off x="8732520" y="3063240"/>
            <a:ext cx="2926080" cy="548640"/>
          </a:xfrm>
          <a:prstGeom prst="rect">
            <a:avLst/>
          </a:prstGeom>
          <a:noFill/>
        </p:spPr>
        <p:txBody>
          <a:bodyPr wrap="square" anchor="t" lIns="0" rIns="0" tIns="0" bIns="0">
            <a:spAutoFit/>
          </a:bodyPr>
          <a:lstStyle/>
          <a:p>
            <a:pPr algn="ctr">
              <a:lnSpc>
                <a:spcPct val="105000"/>
              </a:lnSpc>
            </a:pPr>
            <a:r>
              <a:rPr sz="1400" b="0">
                <a:solidFill>
                  <a:srgbClr val="1B2433"/>
                </a:solidFill>
                <a:latin typeface="Helvetica Neue"/>
                <a:cs typeface="Apple SD Gothic Neo"/>
                <a:ea typeface="Apple SD Gothic Neo"/>
              </a:rPr>
              <a:t>스캔 1건당 (Phase G 이전 → 이후)</a:t>
            </a:r>
          </a:p>
        </p:txBody>
      </p:sp>
      <p:sp>
        <p:nvSpPr>
          <p:cNvPr id="17" name="Rounded Rectangle 16"/>
          <p:cNvSpPr/>
          <p:nvPr/>
        </p:nvSpPr>
        <p:spPr>
          <a:xfrm>
            <a:off x="8641080" y="3931920"/>
            <a:ext cx="3108960" cy="2194560"/>
          </a:xfrm>
          <a:prstGeom prst="roundRect">
            <a:avLst>
              <a:gd name="adj" fmla="val 8000"/>
            </a:avLst>
          </a:prstGeom>
          <a:solidFill>
            <a:srgbClr val="FFF1CC"/>
          </a:solidFill>
          <a:ln w="25400">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05000"/>
              </a:lnSpc>
            </a:pPr>
            <a:r>
              <a:rPr sz="1800" b="1">
                <a:solidFill>
                  <a:srgbClr val="6B4300"/>
                </a:solidFill>
                <a:latin typeface="Helvetica Neue"/>
                <a:cs typeface="Apple SD Gothic Neo"/>
                <a:ea typeface="Apple SD Gothic Neo"/>
              </a:rPr>
              <a:t>중간에 늘어난 것은 안전을 위해 규칙을 강화했기 때문입니다 (소유자 승인).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정확도 개선: 처음 보는 문서 기준 (hold-out 3)</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16</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graphicFrame>
        <p:nvGraphicFramePr>
          <p:cNvPr id="6" name="Chart 5"/>
          <p:cNvGraphicFramePr>
            <a:graphicFrameLocks noGrp="1"/>
          </p:cNvGraphicFramePr>
          <p:nvPr/>
        </p:nvGraphicFramePr>
        <p:xfrm>
          <a:off x="548640" y="1280160"/>
          <a:ext cx="11064240" cy="4572000"/>
        </p:xfrm>
        <a:graphic>
          <a:graphicData uri="http://schemas.openxmlformats.org/drawingml/2006/chart">
            <c:chart xmlns:c="http://schemas.openxmlformats.org/drawingml/2006/chart" r:id="rId2"/>
          </a:graphicData>
        </a:graphic>
      </p:graphicFrame>
      <p:sp>
        <p:nvSpPr>
          <p:cNvPr id="7" name="TextBox 6"/>
          <p:cNvSpPr txBox="1"/>
          <p:nvPr/>
        </p:nvSpPr>
        <p:spPr>
          <a:xfrm>
            <a:off x="548640" y="5943600"/>
            <a:ext cx="11064240" cy="411480"/>
          </a:xfrm>
          <a:prstGeom prst="rect">
            <a:avLst/>
          </a:prstGeom>
          <a:noFill/>
        </p:spPr>
        <p:txBody>
          <a:bodyPr wrap="square" anchor="t" lIns="0" rIns="0" tIns="0" bIns="0">
            <a:spAutoFit/>
          </a:bodyPr>
          <a:lstStyle/>
          <a:p>
            <a:pPr algn="ctr">
              <a:lnSpc>
                <a:spcPct val="105000"/>
              </a:lnSpc>
            </a:pPr>
            <a:r>
              <a:rPr sz="1800" b="1">
                <a:solidFill>
                  <a:srgbClr val="0B5D3B"/>
                </a:solidFill>
                <a:latin typeface="Helvetica Neue"/>
                <a:cs typeface="Apple SD Gothic Neo"/>
                <a:ea typeface="Apple SD Gothic Neo"/>
              </a:rPr>
              <a:t>잘못된 값 0 · 처음 보는 문서 (hold-out 3, 한 번만 판정)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어려웠던 점 → 해결</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17</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ounded Rectangle 5"/>
          <p:cNvSpPr/>
          <p:nvPr/>
        </p:nvSpPr>
        <p:spPr>
          <a:xfrm>
            <a:off x="548640" y="1280160"/>
            <a:ext cx="5486400" cy="2240280"/>
          </a:xfrm>
          <a:prstGeom prst="roundRect">
            <a:avLst>
              <a:gd name="adj" fmla="val 8000"/>
            </a:avLst>
          </a:prstGeom>
          <a:solidFill>
            <a:srgbClr val="FFFFFF"/>
          </a:solidFill>
          <a:ln w="1905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25880"/>
            <a:ext cx="5212080" cy="411480"/>
          </a:xfrm>
          <a:prstGeom prst="rect">
            <a:avLst/>
          </a:prstGeom>
          <a:noFill/>
        </p:spPr>
        <p:txBody>
          <a:bodyPr wrap="square" anchor="t" lIns="0" rIns="0" tIns="0" bIns="0">
            <a:spAutoFit/>
          </a:bodyPr>
          <a:lstStyle/>
          <a:p>
            <a:pPr algn="l">
              <a:lnSpc>
                <a:spcPct val="105000"/>
              </a:lnSpc>
            </a:pPr>
            <a:r>
              <a:rPr sz="1800" b="1">
                <a:solidFill>
                  <a:srgbClr val="17325C"/>
                </a:solidFill>
                <a:latin typeface="Helvetica Neue"/>
                <a:cs typeface="Apple SD Gothic Neo"/>
                <a:ea typeface="Apple SD Gothic Neo"/>
              </a:rPr>
              <a:t>도장이 글자를 가림</a:t>
            </a:r>
          </a:p>
        </p:txBody>
      </p:sp>
      <p:sp>
        <p:nvSpPr>
          <p:cNvPr id="8" name="Rounded Rectangle 7"/>
          <p:cNvSpPr/>
          <p:nvPr/>
        </p:nvSpPr>
        <p:spPr>
          <a:xfrm>
            <a:off x="685800" y="1847088"/>
            <a:ext cx="2331720" cy="1463040"/>
          </a:xfrm>
          <a:prstGeom prst="roundRect">
            <a:avLst>
              <a:gd name="adj" fmla="val 8000"/>
            </a:avLst>
          </a:prstGeom>
          <a:solidFill>
            <a:srgbClr val="FCE8E6"/>
          </a:solidFill>
          <a:ln w="19050">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lnSpc>
                <a:spcPct val="105000"/>
              </a:lnSpc>
            </a:pPr>
            <a:r>
              <a:rPr sz="1600" b="1">
                <a:solidFill>
                  <a:srgbClr val="8C1D18"/>
                </a:solidFill>
                <a:latin typeface="Helvetica Neue"/>
                <a:cs typeface="Apple SD Gothic Neo"/>
                <a:ea typeface="Apple SD Gothic Neo"/>
              </a:rPr>
              <a:t>도장 아래 날짜를
잘못 읽음</a:t>
            </a:r>
          </a:p>
        </p:txBody>
      </p:sp>
      <p:sp>
        <p:nvSpPr>
          <p:cNvPr id="9" name="Right Arrow 8"/>
          <p:cNvSpPr/>
          <p:nvPr/>
        </p:nvSpPr>
        <p:spPr>
          <a:xfrm>
            <a:off x="3090672" y="2359152"/>
            <a:ext cx="365760" cy="36576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47872" y="1847088"/>
            <a:ext cx="2331720" cy="1463040"/>
          </a:xfrm>
          <a:prstGeom prst="roundRect">
            <a:avLst>
              <a:gd name="adj" fmla="val 8000"/>
            </a:avLst>
          </a:prstGeom>
          <a:solidFill>
            <a:srgbClr val="E3F5EC"/>
          </a:solidFill>
          <a:ln w="1905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lnSpc>
                <a:spcPct val="105000"/>
              </a:lnSpc>
            </a:pPr>
            <a:r>
              <a:rPr sz="1600" b="1">
                <a:solidFill>
                  <a:srgbClr val="0B5D3B"/>
                </a:solidFill>
                <a:latin typeface="Helvetica Neue"/>
                <a:cs typeface="Apple SD Gothic Neo"/>
                <a:ea typeface="Apple SD Gothic Neo"/>
              </a:rPr>
              <a:t>도장 영역을
따로 읽음</a:t>
            </a:r>
          </a:p>
        </p:txBody>
      </p:sp>
      <p:sp>
        <p:nvSpPr>
          <p:cNvPr id="11" name="Rounded Rectangle 10"/>
          <p:cNvSpPr/>
          <p:nvPr/>
        </p:nvSpPr>
        <p:spPr>
          <a:xfrm>
            <a:off x="6172200" y="1280160"/>
            <a:ext cx="5486400" cy="2240280"/>
          </a:xfrm>
          <a:prstGeom prst="roundRect">
            <a:avLst>
              <a:gd name="adj" fmla="val 8000"/>
            </a:avLst>
          </a:prstGeom>
          <a:solidFill>
            <a:srgbClr val="FFFFFF"/>
          </a:solidFill>
          <a:ln w="1905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325880"/>
            <a:ext cx="5212080" cy="411480"/>
          </a:xfrm>
          <a:prstGeom prst="rect">
            <a:avLst/>
          </a:prstGeom>
          <a:noFill/>
        </p:spPr>
        <p:txBody>
          <a:bodyPr wrap="square" anchor="t" lIns="0" rIns="0" tIns="0" bIns="0">
            <a:spAutoFit/>
          </a:bodyPr>
          <a:lstStyle/>
          <a:p>
            <a:pPr algn="l">
              <a:lnSpc>
                <a:spcPct val="105000"/>
              </a:lnSpc>
            </a:pPr>
            <a:r>
              <a:rPr sz="1800" b="1">
                <a:solidFill>
                  <a:srgbClr val="17325C"/>
                </a:solidFill>
                <a:latin typeface="Helvetica Neue"/>
                <a:cs typeface="Apple SD Gothic Neo"/>
                <a:ea typeface="Apple SD Gothic Neo"/>
              </a:rPr>
              <a:t>대학명이 붙거나 잘림</a:t>
            </a:r>
          </a:p>
        </p:txBody>
      </p:sp>
      <p:sp>
        <p:nvSpPr>
          <p:cNvPr id="13" name="Rounded Rectangle 12"/>
          <p:cNvSpPr/>
          <p:nvPr/>
        </p:nvSpPr>
        <p:spPr>
          <a:xfrm>
            <a:off x="6309360" y="1847088"/>
            <a:ext cx="2331720" cy="1463040"/>
          </a:xfrm>
          <a:prstGeom prst="roundRect">
            <a:avLst>
              <a:gd name="adj" fmla="val 8000"/>
            </a:avLst>
          </a:prstGeom>
          <a:solidFill>
            <a:srgbClr val="FCE8E6"/>
          </a:solidFill>
          <a:ln w="19050">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lnSpc>
                <a:spcPct val="105000"/>
              </a:lnSpc>
            </a:pPr>
            <a:r>
              <a:rPr sz="1600" b="1">
                <a:solidFill>
                  <a:srgbClr val="8C1D18"/>
                </a:solidFill>
                <a:latin typeface="Helvetica Neue"/>
                <a:cs typeface="Apple SD Gothic Neo"/>
                <a:ea typeface="Apple SD Gothic Neo"/>
              </a:rPr>
              <a:t>대학명 21 / 58
(스캔)</a:t>
            </a:r>
          </a:p>
        </p:txBody>
      </p:sp>
      <p:sp>
        <p:nvSpPr>
          <p:cNvPr id="14" name="Right Arrow 13"/>
          <p:cNvSpPr/>
          <p:nvPr/>
        </p:nvSpPr>
        <p:spPr>
          <a:xfrm>
            <a:off x="8714232" y="2359152"/>
            <a:ext cx="365760" cy="36576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71432" y="1847088"/>
            <a:ext cx="2331720" cy="1463040"/>
          </a:xfrm>
          <a:prstGeom prst="roundRect">
            <a:avLst>
              <a:gd name="adj" fmla="val 8000"/>
            </a:avLst>
          </a:prstGeom>
          <a:solidFill>
            <a:srgbClr val="E3F5EC"/>
          </a:solidFill>
          <a:ln w="1905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lnSpc>
                <a:spcPct val="105000"/>
              </a:lnSpc>
            </a:pPr>
            <a:r>
              <a:rPr sz="1600" b="1">
                <a:solidFill>
                  <a:srgbClr val="0B5D3B"/>
                </a:solidFill>
                <a:latin typeface="Helvetica Neue"/>
                <a:cs typeface="Apple SD Gothic Neo"/>
                <a:ea typeface="Apple SD Gothic Neo"/>
              </a:rPr>
              <a:t>추출 규칙 개선
56 / 58</a:t>
            </a:r>
          </a:p>
        </p:txBody>
      </p:sp>
      <p:sp>
        <p:nvSpPr>
          <p:cNvPr id="16" name="Rounded Rectangle 15"/>
          <p:cNvSpPr/>
          <p:nvPr/>
        </p:nvSpPr>
        <p:spPr>
          <a:xfrm>
            <a:off x="548640" y="3703320"/>
            <a:ext cx="5486400" cy="2240280"/>
          </a:xfrm>
          <a:prstGeom prst="roundRect">
            <a:avLst>
              <a:gd name="adj" fmla="val 8000"/>
            </a:avLst>
          </a:prstGeom>
          <a:solidFill>
            <a:srgbClr val="FFFFFF"/>
          </a:solidFill>
          <a:ln w="1905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749039"/>
            <a:ext cx="5212080" cy="411480"/>
          </a:xfrm>
          <a:prstGeom prst="rect">
            <a:avLst/>
          </a:prstGeom>
          <a:noFill/>
        </p:spPr>
        <p:txBody>
          <a:bodyPr wrap="square" anchor="t" lIns="0" rIns="0" tIns="0" bIns="0">
            <a:spAutoFit/>
          </a:bodyPr>
          <a:lstStyle/>
          <a:p>
            <a:pPr algn="l">
              <a:lnSpc>
                <a:spcPct val="105000"/>
              </a:lnSpc>
            </a:pPr>
            <a:r>
              <a:rPr sz="1800" b="1">
                <a:solidFill>
                  <a:srgbClr val="17325C"/>
                </a:solidFill>
                <a:latin typeface="Helvetica Neue"/>
                <a:cs typeface="Apple SD Gothic Neo"/>
                <a:ea typeface="Apple SD Gothic Neo"/>
              </a:rPr>
              <a:t>숨은 텍스트로 날짜 조작</a:t>
            </a:r>
          </a:p>
        </p:txBody>
      </p:sp>
      <p:sp>
        <p:nvSpPr>
          <p:cNvPr id="18" name="Rounded Rectangle 17"/>
          <p:cNvSpPr/>
          <p:nvPr/>
        </p:nvSpPr>
        <p:spPr>
          <a:xfrm>
            <a:off x="685800" y="4270248"/>
            <a:ext cx="2331720" cy="1463040"/>
          </a:xfrm>
          <a:prstGeom prst="roundRect">
            <a:avLst>
              <a:gd name="adj" fmla="val 8000"/>
            </a:avLst>
          </a:prstGeom>
          <a:solidFill>
            <a:srgbClr val="FCE8E6"/>
          </a:solidFill>
          <a:ln w="19050">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lnSpc>
                <a:spcPct val="105000"/>
              </a:lnSpc>
            </a:pPr>
            <a:r>
              <a:rPr sz="1600" b="1">
                <a:solidFill>
                  <a:srgbClr val="8C1D18"/>
                </a:solidFill>
                <a:latin typeface="Helvetica Neue"/>
                <a:cs typeface="Apple SD Gothic Neo"/>
                <a:ea typeface="Apple SD Gothic Neo"/>
              </a:rPr>
              <a:t>화면 2025-01-31
글자층 2027-12-31</a:t>
            </a:r>
          </a:p>
        </p:txBody>
      </p:sp>
      <p:sp>
        <p:nvSpPr>
          <p:cNvPr id="19" name="Right Arrow 18"/>
          <p:cNvSpPr/>
          <p:nvPr/>
        </p:nvSpPr>
        <p:spPr>
          <a:xfrm>
            <a:off x="3090672" y="4782312"/>
            <a:ext cx="365760" cy="36576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47872" y="4270248"/>
            <a:ext cx="2331720" cy="1463040"/>
          </a:xfrm>
          <a:prstGeom prst="roundRect">
            <a:avLst>
              <a:gd name="adj" fmla="val 8000"/>
            </a:avLst>
          </a:prstGeom>
          <a:solidFill>
            <a:srgbClr val="E3F5EC"/>
          </a:solidFill>
          <a:ln w="1905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lnSpc>
                <a:spcPct val="105000"/>
              </a:lnSpc>
            </a:pPr>
            <a:r>
              <a:rPr sz="1600" b="1">
                <a:solidFill>
                  <a:srgbClr val="0B5D3B"/>
                </a:solidFill>
                <a:latin typeface="Helvetica Neue"/>
                <a:cs typeface="Apple SD Gothic Neo"/>
                <a:ea typeface="Apple SD Gothic Neo"/>
              </a:rPr>
              <a:t>화면과 비교해 차단
705건 중 0 통과</a:t>
            </a:r>
          </a:p>
        </p:txBody>
      </p:sp>
      <p:sp>
        <p:nvSpPr>
          <p:cNvPr id="21" name="Rounded Rectangle 20"/>
          <p:cNvSpPr/>
          <p:nvPr/>
        </p:nvSpPr>
        <p:spPr>
          <a:xfrm>
            <a:off x="6172200" y="3703320"/>
            <a:ext cx="5486400" cy="2240280"/>
          </a:xfrm>
          <a:prstGeom prst="roundRect">
            <a:avLst>
              <a:gd name="adj" fmla="val 8000"/>
            </a:avLst>
          </a:prstGeom>
          <a:solidFill>
            <a:srgbClr val="FFFFFF"/>
          </a:solidFill>
          <a:ln w="1905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3749039"/>
            <a:ext cx="5212080" cy="411480"/>
          </a:xfrm>
          <a:prstGeom prst="rect">
            <a:avLst/>
          </a:prstGeom>
          <a:noFill/>
        </p:spPr>
        <p:txBody>
          <a:bodyPr wrap="square" anchor="t" lIns="0" rIns="0" tIns="0" bIns="0">
            <a:spAutoFit/>
          </a:bodyPr>
          <a:lstStyle/>
          <a:p>
            <a:pPr algn="l">
              <a:lnSpc>
                <a:spcPct val="105000"/>
              </a:lnSpc>
            </a:pPr>
            <a:r>
              <a:rPr sz="1800" b="1">
                <a:solidFill>
                  <a:srgbClr val="17325C"/>
                </a:solidFill>
                <a:latin typeface="Helvetica Neue"/>
                <a:cs typeface="Apple SD Gothic Neo"/>
                <a:ea typeface="Apple SD Gothic Neo"/>
              </a:rPr>
              <a:t>처음 보는 문서에서 과적합</a:t>
            </a:r>
          </a:p>
        </p:txBody>
      </p:sp>
      <p:sp>
        <p:nvSpPr>
          <p:cNvPr id="23" name="Rounded Rectangle 22"/>
          <p:cNvSpPr/>
          <p:nvPr/>
        </p:nvSpPr>
        <p:spPr>
          <a:xfrm>
            <a:off x="6309360" y="4270248"/>
            <a:ext cx="2331720" cy="1463040"/>
          </a:xfrm>
          <a:prstGeom prst="roundRect">
            <a:avLst>
              <a:gd name="adj" fmla="val 8000"/>
            </a:avLst>
          </a:prstGeom>
          <a:solidFill>
            <a:srgbClr val="FCE8E6"/>
          </a:solidFill>
          <a:ln w="19050">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lnSpc>
                <a:spcPct val="105000"/>
              </a:lnSpc>
            </a:pPr>
            <a:r>
              <a:rPr sz="1600" b="1">
                <a:solidFill>
                  <a:srgbClr val="8C1D18"/>
                </a:solidFill>
                <a:latin typeface="Helvetica Neue"/>
                <a:cs typeface="Apple SD Gothic Neo"/>
                <a:ea typeface="Apple SD Gothic Neo"/>
              </a:rPr>
              <a:t>hold-out 1
디지털 174 / 275</a:t>
            </a:r>
          </a:p>
        </p:txBody>
      </p:sp>
      <p:sp>
        <p:nvSpPr>
          <p:cNvPr id="24" name="Right Arrow 23"/>
          <p:cNvSpPr/>
          <p:nvPr/>
        </p:nvSpPr>
        <p:spPr>
          <a:xfrm>
            <a:off x="8714232" y="4782312"/>
            <a:ext cx="365760" cy="36576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71432" y="4270248"/>
            <a:ext cx="2331720" cy="1463040"/>
          </a:xfrm>
          <a:prstGeom prst="roundRect">
            <a:avLst>
              <a:gd name="adj" fmla="val 8000"/>
            </a:avLst>
          </a:prstGeom>
          <a:solidFill>
            <a:srgbClr val="E3F5EC"/>
          </a:solidFill>
          <a:ln w="1905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lnSpc>
                <a:spcPct val="105000"/>
              </a:lnSpc>
            </a:pPr>
            <a:r>
              <a:rPr sz="1600" b="1">
                <a:solidFill>
                  <a:srgbClr val="0B5D3B"/>
                </a:solidFill>
                <a:latin typeface="Helvetica Neue"/>
                <a:cs typeface="Apple SD Gothic Neo"/>
                <a:ea typeface="Apple SD Gothic Neo"/>
              </a:rPr>
              <a:t>수정 후 hold-out 2
275 / 275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어떻게 검증했나: 개발은 개발 문서로, 판정은 처음 보는 문서로 1회</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18</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ounded Rectangle 5"/>
          <p:cNvSpPr/>
          <p:nvPr/>
        </p:nvSpPr>
        <p:spPr>
          <a:xfrm>
            <a:off x="548640" y="1554480"/>
            <a:ext cx="3017520" cy="2011680"/>
          </a:xfrm>
          <a:prstGeom prst="roundRect">
            <a:avLst>
              <a:gd name="adj" fmla="val 8000"/>
            </a:avLst>
          </a:prstGeom>
          <a:solidFill>
            <a:srgbClr val="F3F6FB"/>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3017520" cy="2011680"/>
          </a:xfrm>
          <a:prstGeom prst="rect">
            <a:avLst/>
          </a:prstGeom>
          <a:noFill/>
        </p:spPr>
        <p:txBody>
          <a:bodyPr wrap="square" anchor="ctr" lIns="0" rIns="0" tIns="0" bIns="0">
            <a:spAutoFit/>
          </a:bodyPr>
          <a:lstStyle/>
          <a:p>
            <a:pPr algn="ctr">
              <a:lnSpc>
                <a:spcPct val="105000"/>
              </a:lnSpc>
            </a:pPr>
            <a:r>
              <a:rPr sz="2400" b="1">
                <a:solidFill>
                  <a:srgbClr val="17325C"/>
                </a:solidFill>
                <a:latin typeface="Helvetica Neue"/>
                <a:cs typeface="Apple SD Gothic Neo"/>
                <a:ea typeface="Apple SD Gothic Neo"/>
              </a:rPr>
              <a:t>개발용 문서</a:t>
            </a:r>
          </a:p>
          <a:p>
            <a:pPr algn="ctr">
              <a:lnSpc>
                <a:spcPct val="105000"/>
              </a:lnSpc>
              <a:spcBef>
                <a:spcPts val="600"/>
              </a:spcBef>
            </a:pPr>
            <a:r>
              <a:rPr sz="1800" b="0">
                <a:solidFill>
                  <a:srgbClr val="1B2433"/>
                </a:solidFill>
                <a:latin typeface="Helvetica Neue"/>
                <a:cs typeface="Apple SD Gothic Neo"/>
                <a:ea typeface="Apple SD Gothic Neo"/>
              </a:rPr>
              <a:t>857개 (299 + 279 + 279)</a:t>
            </a:r>
          </a:p>
        </p:txBody>
      </p:sp>
      <p:sp>
        <p:nvSpPr>
          <p:cNvPr id="8" name="Right Arrow 7"/>
          <p:cNvSpPr/>
          <p:nvPr/>
        </p:nvSpPr>
        <p:spPr>
          <a:xfrm>
            <a:off x="3657600" y="2331720"/>
            <a:ext cx="502920" cy="45720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51960" y="1554480"/>
            <a:ext cx="3017520" cy="2011680"/>
          </a:xfrm>
          <a:prstGeom prst="roundRect">
            <a:avLst>
              <a:gd name="adj" fmla="val 8000"/>
            </a:avLst>
          </a:prstGeom>
          <a:solidFill>
            <a:srgbClr val="F3F6FB"/>
          </a:solidFill>
          <a:ln w="25400">
            <a:solidFill>
              <a:srgbClr val="173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1554480"/>
            <a:ext cx="3017520" cy="2011680"/>
          </a:xfrm>
          <a:prstGeom prst="rect">
            <a:avLst/>
          </a:prstGeom>
          <a:noFill/>
        </p:spPr>
        <p:txBody>
          <a:bodyPr wrap="square" anchor="ctr" lIns="0" rIns="0" tIns="0" bIns="0">
            <a:spAutoFit/>
          </a:bodyPr>
          <a:lstStyle/>
          <a:p>
            <a:pPr algn="ctr">
              <a:lnSpc>
                <a:spcPct val="105000"/>
              </a:lnSpc>
            </a:pPr>
            <a:r>
              <a:rPr sz="2400" b="1">
                <a:solidFill>
                  <a:srgbClr val="17325C"/>
                </a:solidFill>
                <a:latin typeface="Helvetica Neue"/>
                <a:cs typeface="Apple SD Gothic Neo"/>
                <a:ea typeface="Apple SD Gothic Neo"/>
              </a:rPr>
              <a:t>수정·개선</a:t>
            </a:r>
          </a:p>
          <a:p>
            <a:pPr algn="ctr">
              <a:lnSpc>
                <a:spcPct val="105000"/>
              </a:lnSpc>
              <a:spcBef>
                <a:spcPts val="600"/>
              </a:spcBef>
            </a:pPr>
            <a:r>
              <a:rPr sz="1800" b="0">
                <a:solidFill>
                  <a:srgbClr val="1B2433"/>
                </a:solidFill>
                <a:latin typeface="Helvetica Neue"/>
                <a:cs typeface="Apple SD Gothic Neo"/>
                <a:ea typeface="Apple SD Gothic Neo"/>
              </a:rPr>
              <a:t>고정된 채점기</a:t>
            </a:r>
          </a:p>
        </p:txBody>
      </p:sp>
      <p:sp>
        <p:nvSpPr>
          <p:cNvPr id="11" name="Right Arrow 10"/>
          <p:cNvSpPr/>
          <p:nvPr/>
        </p:nvSpPr>
        <p:spPr>
          <a:xfrm>
            <a:off x="7360920" y="2331720"/>
            <a:ext cx="502920" cy="45720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55279" y="1554480"/>
            <a:ext cx="3657600" cy="2011680"/>
          </a:xfrm>
          <a:prstGeom prst="roundRect">
            <a:avLst>
              <a:gd name="adj" fmla="val 8000"/>
            </a:avLst>
          </a:prstGeom>
          <a:solidFill>
            <a:srgbClr val="E3F5EC"/>
          </a:solidFill>
          <a:ln w="38100">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79" y="1554480"/>
            <a:ext cx="3657600" cy="2011680"/>
          </a:xfrm>
          <a:prstGeom prst="rect">
            <a:avLst/>
          </a:prstGeom>
          <a:noFill/>
        </p:spPr>
        <p:txBody>
          <a:bodyPr wrap="square" anchor="ctr" lIns="0" rIns="0" tIns="0" bIns="0">
            <a:spAutoFit/>
          </a:bodyPr>
          <a:lstStyle/>
          <a:p>
            <a:pPr algn="ctr">
              <a:lnSpc>
                <a:spcPct val="105000"/>
              </a:lnSpc>
            </a:pPr>
            <a:r>
              <a:rPr sz="2400" b="1">
                <a:solidFill>
                  <a:srgbClr val="0B5D3B"/>
                </a:solidFill>
                <a:latin typeface="Helvetica Neue"/>
                <a:cs typeface="Apple SD Gothic Neo"/>
                <a:ea typeface="Apple SD Gothic Neo"/>
              </a:rPr>
              <a:t>처음 보는 문서</a:t>
            </a:r>
          </a:p>
          <a:p>
            <a:pPr algn="ctr">
              <a:lnSpc>
                <a:spcPct val="105000"/>
              </a:lnSpc>
              <a:spcBef>
                <a:spcPts val="600"/>
              </a:spcBef>
            </a:pPr>
            <a:r>
              <a:rPr sz="1800" b="0">
                <a:solidFill>
                  <a:srgbClr val="1B2433"/>
                </a:solidFill>
                <a:latin typeface="Helvetica Neue"/>
                <a:cs typeface="Apple SD Gothic Neo"/>
                <a:ea typeface="Apple SD Gothic Neo"/>
              </a:rPr>
              <a:t>hold-out 3: 279개, 1회만 판정</a:t>
            </a:r>
          </a:p>
        </p:txBody>
      </p:sp>
      <p:sp>
        <p:nvSpPr>
          <p:cNvPr id="14" name="Rounded Rectangle 13"/>
          <p:cNvSpPr/>
          <p:nvPr/>
        </p:nvSpPr>
        <p:spPr>
          <a:xfrm>
            <a:off x="548640" y="4069080"/>
            <a:ext cx="3611880" cy="1554480"/>
          </a:xfrm>
          <a:prstGeom prst="roundRect">
            <a:avLst>
              <a:gd name="adj" fmla="val 8000"/>
            </a:avLst>
          </a:prstGeom>
          <a:solidFill>
            <a:srgbClr val="FFFFFF"/>
          </a:solidFill>
          <a:ln w="254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160520"/>
            <a:ext cx="3429000" cy="502920"/>
          </a:xfrm>
          <a:prstGeom prst="rect">
            <a:avLst/>
          </a:prstGeom>
          <a:noFill/>
        </p:spPr>
        <p:txBody>
          <a:bodyPr wrap="square" anchor="ctr" lIns="0" rIns="0" tIns="0" bIns="0">
            <a:spAutoFit/>
          </a:bodyPr>
          <a:lstStyle/>
          <a:p>
            <a:pPr algn="ctr">
              <a:lnSpc>
                <a:spcPct val="105000"/>
              </a:lnSpc>
            </a:pPr>
            <a:r>
              <a:rPr sz="2000" b="1">
                <a:solidFill>
                  <a:srgbClr val="17325C"/>
                </a:solidFill>
                <a:latin typeface="Helvetica Neue"/>
                <a:cs typeface="Apple SD Gothic Neo"/>
                <a:ea typeface="Apple SD Gothic Neo"/>
              </a:rPr>
              <a:t>일부러 넣은 OCR 오류</a:t>
            </a:r>
          </a:p>
        </p:txBody>
      </p:sp>
      <p:sp>
        <p:nvSpPr>
          <p:cNvPr id="16" name="TextBox 15"/>
          <p:cNvSpPr txBox="1"/>
          <p:nvPr/>
        </p:nvSpPr>
        <p:spPr>
          <a:xfrm>
            <a:off x="640080" y="4709160"/>
            <a:ext cx="3429000" cy="822960"/>
          </a:xfrm>
          <a:prstGeom prst="rect">
            <a:avLst/>
          </a:prstGeom>
          <a:noFill/>
        </p:spPr>
        <p:txBody>
          <a:bodyPr wrap="square" anchor="ctr" lIns="0" rIns="0" tIns="0" bIns="0">
            <a:spAutoFit/>
          </a:bodyPr>
          <a:lstStyle/>
          <a:p>
            <a:pPr algn="ctr">
              <a:lnSpc>
                <a:spcPct val="105000"/>
              </a:lnSpc>
            </a:pPr>
            <a:r>
              <a:rPr sz="1800" b="0">
                <a:solidFill>
                  <a:srgbClr val="1B2433"/>
                </a:solidFill>
                <a:latin typeface="Helvetica Neue"/>
                <a:cs typeface="Apple SD Gothic Neo"/>
                <a:ea typeface="Apple SD Gothic Neo"/>
              </a:rPr>
              <a:t>개발 6,444건 · hold-out 3 2,238건</a:t>
            </a:r>
          </a:p>
        </p:txBody>
      </p:sp>
      <p:sp>
        <p:nvSpPr>
          <p:cNvPr id="17" name="Rounded Rectangle 16"/>
          <p:cNvSpPr/>
          <p:nvPr/>
        </p:nvSpPr>
        <p:spPr>
          <a:xfrm>
            <a:off x="4297679" y="4069080"/>
            <a:ext cx="3611880" cy="1554480"/>
          </a:xfrm>
          <a:prstGeom prst="roundRect">
            <a:avLst>
              <a:gd name="adj" fmla="val 8000"/>
            </a:avLst>
          </a:prstGeom>
          <a:solidFill>
            <a:srgbClr val="FFFFFF"/>
          </a:solidFill>
          <a:ln w="254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19" y="4160520"/>
            <a:ext cx="3429000" cy="502920"/>
          </a:xfrm>
          <a:prstGeom prst="rect">
            <a:avLst/>
          </a:prstGeom>
          <a:noFill/>
        </p:spPr>
        <p:txBody>
          <a:bodyPr wrap="square" anchor="ctr" lIns="0" rIns="0" tIns="0" bIns="0">
            <a:spAutoFit/>
          </a:bodyPr>
          <a:lstStyle/>
          <a:p>
            <a:pPr algn="ctr">
              <a:lnSpc>
                <a:spcPct val="105000"/>
              </a:lnSpc>
            </a:pPr>
            <a:r>
              <a:rPr sz="2000" b="1">
                <a:solidFill>
                  <a:srgbClr val="17325C"/>
                </a:solidFill>
                <a:latin typeface="Helvetica Neue"/>
                <a:cs typeface="Apple SD Gothic Neo"/>
                <a:ea typeface="Apple SD Gothic Neo"/>
              </a:rPr>
              <a:t>위·변조 PDF</a:t>
            </a:r>
          </a:p>
        </p:txBody>
      </p:sp>
      <p:sp>
        <p:nvSpPr>
          <p:cNvPr id="19" name="TextBox 18"/>
          <p:cNvSpPr txBox="1"/>
          <p:nvPr/>
        </p:nvSpPr>
        <p:spPr>
          <a:xfrm>
            <a:off x="4389119" y="4709160"/>
            <a:ext cx="3429000" cy="822960"/>
          </a:xfrm>
          <a:prstGeom prst="rect">
            <a:avLst/>
          </a:prstGeom>
          <a:noFill/>
        </p:spPr>
        <p:txBody>
          <a:bodyPr wrap="square" anchor="ctr" lIns="0" rIns="0" tIns="0" bIns="0">
            <a:spAutoFit/>
          </a:bodyPr>
          <a:lstStyle/>
          <a:p>
            <a:pPr algn="ctr">
              <a:lnSpc>
                <a:spcPct val="105000"/>
              </a:lnSpc>
            </a:pPr>
            <a:r>
              <a:rPr sz="1800" b="0">
                <a:solidFill>
                  <a:srgbClr val="1B2433"/>
                </a:solidFill>
                <a:latin typeface="Helvetica Neue"/>
                <a:cs typeface="Apple SD Gothic Neo"/>
                <a:ea typeface="Apple SD Gothic Neo"/>
              </a:rPr>
              <a:t>705건 (추출) + 12건 (API)</a:t>
            </a:r>
          </a:p>
        </p:txBody>
      </p:sp>
      <p:sp>
        <p:nvSpPr>
          <p:cNvPr id="20" name="Rounded Rectangle 19"/>
          <p:cNvSpPr/>
          <p:nvPr/>
        </p:nvSpPr>
        <p:spPr>
          <a:xfrm>
            <a:off x="8046719" y="4069080"/>
            <a:ext cx="3611880" cy="1554480"/>
          </a:xfrm>
          <a:prstGeom prst="roundRect">
            <a:avLst>
              <a:gd name="adj" fmla="val 8000"/>
            </a:avLst>
          </a:prstGeom>
          <a:solidFill>
            <a:srgbClr val="FFFFFF"/>
          </a:solidFill>
          <a:ln w="254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59" y="4160520"/>
            <a:ext cx="3429000" cy="502920"/>
          </a:xfrm>
          <a:prstGeom prst="rect">
            <a:avLst/>
          </a:prstGeom>
          <a:noFill/>
        </p:spPr>
        <p:txBody>
          <a:bodyPr wrap="square" anchor="ctr" lIns="0" rIns="0" tIns="0" bIns="0">
            <a:spAutoFit/>
          </a:bodyPr>
          <a:lstStyle/>
          <a:p>
            <a:pPr algn="ctr">
              <a:lnSpc>
                <a:spcPct val="105000"/>
              </a:lnSpc>
            </a:pPr>
            <a:r>
              <a:rPr sz="2000" b="1">
                <a:solidFill>
                  <a:srgbClr val="17325C"/>
                </a:solidFill>
                <a:latin typeface="Helvetica Neue"/>
                <a:cs typeface="Apple SD Gothic Neo"/>
                <a:ea typeface="Apple SD Gothic Neo"/>
              </a:rPr>
              <a:t>자동 테스트</a:t>
            </a:r>
          </a:p>
        </p:txBody>
      </p:sp>
      <p:sp>
        <p:nvSpPr>
          <p:cNvPr id="22" name="TextBox 21"/>
          <p:cNvSpPr txBox="1"/>
          <p:nvPr/>
        </p:nvSpPr>
        <p:spPr>
          <a:xfrm>
            <a:off x="8138159" y="4709160"/>
            <a:ext cx="3429000" cy="822960"/>
          </a:xfrm>
          <a:prstGeom prst="rect">
            <a:avLst/>
          </a:prstGeom>
          <a:noFill/>
        </p:spPr>
        <p:txBody>
          <a:bodyPr wrap="square" anchor="ctr" lIns="0" rIns="0" tIns="0" bIns="0">
            <a:spAutoFit/>
          </a:bodyPr>
          <a:lstStyle/>
          <a:p>
            <a:pPr algn="ctr">
              <a:lnSpc>
                <a:spcPct val="105000"/>
              </a:lnSpc>
            </a:pPr>
            <a:r>
              <a:rPr sz="1800" b="0">
                <a:solidFill>
                  <a:srgbClr val="1B2433"/>
                </a:solidFill>
                <a:latin typeface="Helvetica Neue"/>
                <a:cs typeface="Apple SD Gothic Neo"/>
                <a:ea typeface="Apple SD Gothic Neo"/>
              </a:rPr>
              <a:t>백엔드 613 · 화면 108 · E2E 15</a:t>
            </a:r>
          </a:p>
        </p:txBody>
      </p:sp>
      <p:sp>
        <p:nvSpPr>
          <p:cNvPr id="23" name="TextBox 22"/>
          <p:cNvSpPr txBox="1"/>
          <p:nvPr/>
        </p:nvSpPr>
        <p:spPr>
          <a:xfrm>
            <a:off x="548640" y="5852160"/>
            <a:ext cx="11155680" cy="457200"/>
          </a:xfrm>
          <a:prstGeom prst="rect">
            <a:avLst/>
          </a:prstGeom>
          <a:noFill/>
        </p:spPr>
        <p:txBody>
          <a:bodyPr wrap="square" anchor="t" lIns="0" rIns="0" tIns="0" bIns="0">
            <a:spAutoFit/>
          </a:bodyPr>
          <a:lstStyle/>
          <a:p>
            <a:pPr algn="ctr">
              <a:lnSpc>
                <a:spcPct val="105000"/>
              </a:lnSpc>
            </a:pPr>
            <a:r>
              <a:rPr sz="1800" b="1">
                <a:solidFill>
                  <a:srgbClr val="4A5872"/>
                </a:solidFill>
                <a:latin typeface="Helvetica Neue"/>
                <a:cs typeface="Apple SD Gothic Neo"/>
                <a:ea typeface="Apple SD Gothic Neo"/>
              </a:rPr>
              <a:t>모든 문서는 TEST SAMPLE 가상 문서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한계와 현실성: 가상 문서로 검증, 실제 문서는 파일럿으로</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19</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ounded Rectangle 5"/>
          <p:cNvSpPr/>
          <p:nvPr/>
        </p:nvSpPr>
        <p:spPr>
          <a:xfrm>
            <a:off x="640080" y="1645920"/>
            <a:ext cx="3520440" cy="3840480"/>
          </a:xfrm>
          <a:prstGeom prst="roundRect">
            <a:avLst>
              <a:gd name="adj" fmla="val 8000"/>
            </a:avLst>
          </a:prstGeom>
          <a:solidFill>
            <a:srgbClr val="FFF1CC"/>
          </a:solidFill>
          <a:ln w="31750">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28800"/>
            <a:ext cx="3520440" cy="1188720"/>
          </a:xfrm>
          <a:prstGeom prst="rect">
            <a:avLst/>
          </a:prstGeom>
          <a:noFill/>
        </p:spPr>
        <p:txBody>
          <a:bodyPr wrap="square" anchor="ctr" lIns="0" rIns="0" tIns="0" bIns="0">
            <a:spAutoFit/>
          </a:bodyPr>
          <a:lstStyle/>
          <a:p>
            <a:pPr algn="ctr">
              <a:lnSpc>
                <a:spcPct val="105000"/>
              </a:lnSpc>
            </a:pPr>
            <a:r>
              <a:rPr sz="6000" b="0">
                <a:solidFill>
                  <a:srgbClr val="1B2433"/>
                </a:solidFill>
                <a:latin typeface="Helvetica Neue"/>
                <a:cs typeface="Apple SD Gothic Neo"/>
                <a:ea typeface="Apple SD Gothic Neo"/>
              </a:rPr>
              <a:t>📄</a:t>
            </a:r>
          </a:p>
        </p:txBody>
      </p:sp>
      <p:sp>
        <p:nvSpPr>
          <p:cNvPr id="8" name="TextBox 7"/>
          <p:cNvSpPr txBox="1"/>
          <p:nvPr/>
        </p:nvSpPr>
        <p:spPr>
          <a:xfrm>
            <a:off x="777240" y="3108960"/>
            <a:ext cx="3246120" cy="1097280"/>
          </a:xfrm>
          <a:prstGeom prst="rect">
            <a:avLst/>
          </a:prstGeom>
          <a:noFill/>
        </p:spPr>
        <p:txBody>
          <a:bodyPr wrap="square" anchor="ctr" lIns="0" rIns="0" tIns="0" bIns="0">
            <a:spAutoFit/>
          </a:bodyPr>
          <a:lstStyle/>
          <a:p>
            <a:pPr algn="ctr">
              <a:lnSpc>
                <a:spcPct val="105000"/>
              </a:lnSpc>
            </a:pPr>
            <a:r>
              <a:rPr sz="2400" b="1">
                <a:solidFill>
                  <a:srgbClr val="6B4300"/>
                </a:solidFill>
                <a:latin typeface="Helvetica Neue"/>
                <a:cs typeface="Apple SD Gothic Neo"/>
                <a:ea typeface="Apple SD Gothic Neo"/>
              </a:rPr>
              <a:t>가상 테스트 문서만</a:t>
            </a:r>
          </a:p>
        </p:txBody>
      </p:sp>
      <p:sp>
        <p:nvSpPr>
          <p:cNvPr id="9" name="TextBox 8"/>
          <p:cNvSpPr txBox="1"/>
          <p:nvPr/>
        </p:nvSpPr>
        <p:spPr>
          <a:xfrm>
            <a:off x="777240" y="4251960"/>
            <a:ext cx="3246120" cy="1005840"/>
          </a:xfrm>
          <a:prstGeom prst="rect">
            <a:avLst/>
          </a:prstGeom>
          <a:noFill/>
        </p:spPr>
        <p:txBody>
          <a:bodyPr wrap="square" anchor="t" lIns="0" rIns="0" tIns="0" bIns="0">
            <a:spAutoFit/>
          </a:bodyPr>
          <a:lstStyle/>
          <a:p>
            <a:pPr algn="ctr">
              <a:lnSpc>
                <a:spcPct val="105000"/>
              </a:lnSpc>
            </a:pPr>
            <a:r>
              <a:rPr sz="1800" b="0">
                <a:solidFill>
                  <a:srgbClr val="1B2433"/>
                </a:solidFill>
                <a:latin typeface="Helvetica Neue"/>
                <a:cs typeface="Apple SD Gothic Neo"/>
                <a:ea typeface="Apple SD Gothic Neo"/>
              </a:rPr>
              <a:t>실제 문서·실사진은 파일럿 예정</a:t>
            </a:r>
          </a:p>
        </p:txBody>
      </p:sp>
      <p:sp>
        <p:nvSpPr>
          <p:cNvPr id="10" name="Rounded Rectangle 9"/>
          <p:cNvSpPr/>
          <p:nvPr/>
        </p:nvSpPr>
        <p:spPr>
          <a:xfrm>
            <a:off x="4343400" y="1645920"/>
            <a:ext cx="3520440" cy="3840480"/>
          </a:xfrm>
          <a:prstGeom prst="roundRect">
            <a:avLst>
              <a:gd name="adj" fmla="val 8000"/>
            </a:avLst>
          </a:prstGeom>
          <a:solidFill>
            <a:srgbClr val="FFF1CC"/>
          </a:solidFill>
          <a:ln w="31750">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828800"/>
            <a:ext cx="3520440" cy="1188720"/>
          </a:xfrm>
          <a:prstGeom prst="rect">
            <a:avLst/>
          </a:prstGeom>
          <a:noFill/>
        </p:spPr>
        <p:txBody>
          <a:bodyPr wrap="square" anchor="ctr" lIns="0" rIns="0" tIns="0" bIns="0">
            <a:spAutoFit/>
          </a:bodyPr>
          <a:lstStyle/>
          <a:p>
            <a:pPr algn="ctr">
              <a:lnSpc>
                <a:spcPct val="105000"/>
              </a:lnSpc>
            </a:pPr>
            <a:r>
              <a:rPr sz="6000" b="0">
                <a:solidFill>
                  <a:srgbClr val="1B2433"/>
                </a:solidFill>
                <a:latin typeface="Helvetica Neue"/>
                <a:cs typeface="Apple SD Gothic Neo"/>
                <a:ea typeface="Apple SD Gothic Neo"/>
              </a:rPr>
              <a:t>🧑</a:t>
            </a:r>
          </a:p>
        </p:txBody>
      </p:sp>
      <p:sp>
        <p:nvSpPr>
          <p:cNvPr id="12" name="TextBox 11"/>
          <p:cNvSpPr txBox="1"/>
          <p:nvPr/>
        </p:nvSpPr>
        <p:spPr>
          <a:xfrm>
            <a:off x="4480560" y="3108960"/>
            <a:ext cx="3246120" cy="1097280"/>
          </a:xfrm>
          <a:prstGeom prst="rect">
            <a:avLst/>
          </a:prstGeom>
          <a:noFill/>
        </p:spPr>
        <p:txBody>
          <a:bodyPr wrap="square" anchor="ctr" lIns="0" rIns="0" tIns="0" bIns="0">
            <a:spAutoFit/>
          </a:bodyPr>
          <a:lstStyle/>
          <a:p>
            <a:pPr algn="ctr">
              <a:lnSpc>
                <a:spcPct val="105000"/>
              </a:lnSpc>
            </a:pPr>
            <a:r>
              <a:rPr sz="2400" b="1">
                <a:solidFill>
                  <a:srgbClr val="6B4300"/>
                </a:solidFill>
                <a:latin typeface="Helvetica Neue"/>
                <a:cs typeface="Apple SD Gothic Neo"/>
                <a:ea typeface="Apple SD Gothic Neo"/>
              </a:rPr>
              <a:t>스캔·사진은 일부 사람 확인</a:t>
            </a:r>
          </a:p>
        </p:txBody>
      </p:sp>
      <p:sp>
        <p:nvSpPr>
          <p:cNvPr id="13" name="TextBox 12"/>
          <p:cNvSpPr txBox="1"/>
          <p:nvPr/>
        </p:nvSpPr>
        <p:spPr>
          <a:xfrm>
            <a:off x="4480560" y="4251960"/>
            <a:ext cx="3246120" cy="1005840"/>
          </a:xfrm>
          <a:prstGeom prst="rect">
            <a:avLst/>
          </a:prstGeom>
          <a:noFill/>
        </p:spPr>
        <p:txBody>
          <a:bodyPr wrap="square" anchor="t" lIns="0" rIns="0" tIns="0" bIns="0">
            <a:spAutoFit/>
          </a:bodyPr>
          <a:lstStyle/>
          <a:p>
            <a:pPr algn="ctr">
              <a:lnSpc>
                <a:spcPct val="105000"/>
              </a:lnSpc>
            </a:pPr>
            <a:r>
              <a:rPr sz="1800" b="0">
                <a:solidFill>
                  <a:srgbClr val="1B2433"/>
                </a:solidFill>
                <a:latin typeface="Helvetica Neue"/>
                <a:cs typeface="Apple SD Gothic Neo"/>
                <a:ea typeface="Apple SD Gothic Neo"/>
              </a:rPr>
              <a:t>독립 확인 없으면 사람 확인</a:t>
            </a:r>
          </a:p>
        </p:txBody>
      </p:sp>
      <p:sp>
        <p:nvSpPr>
          <p:cNvPr id="14" name="Rounded Rectangle 13"/>
          <p:cNvSpPr/>
          <p:nvPr/>
        </p:nvSpPr>
        <p:spPr>
          <a:xfrm>
            <a:off x="8046720" y="1645920"/>
            <a:ext cx="3520440" cy="3840480"/>
          </a:xfrm>
          <a:prstGeom prst="roundRect">
            <a:avLst>
              <a:gd name="adj" fmla="val 8000"/>
            </a:avLst>
          </a:prstGeom>
          <a:solidFill>
            <a:srgbClr val="FCE8E6"/>
          </a:solidFill>
          <a:ln w="31750">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1828800"/>
            <a:ext cx="3520440" cy="1188720"/>
          </a:xfrm>
          <a:prstGeom prst="rect">
            <a:avLst/>
          </a:prstGeom>
          <a:noFill/>
        </p:spPr>
        <p:txBody>
          <a:bodyPr wrap="square" anchor="ctr" lIns="0" rIns="0" tIns="0" bIns="0">
            <a:spAutoFit/>
          </a:bodyPr>
          <a:lstStyle/>
          <a:p>
            <a:pPr algn="ctr">
              <a:lnSpc>
                <a:spcPct val="105000"/>
              </a:lnSpc>
            </a:pPr>
            <a:r>
              <a:rPr sz="6000" b="0">
                <a:solidFill>
                  <a:srgbClr val="1B2433"/>
                </a:solidFill>
                <a:latin typeface="Helvetica Neue"/>
                <a:cs typeface="Apple SD Gothic Neo"/>
                <a:ea typeface="Apple SD Gothic Neo"/>
              </a:rPr>
              <a:t>🔒</a:t>
            </a:r>
          </a:p>
        </p:txBody>
      </p:sp>
      <p:sp>
        <p:nvSpPr>
          <p:cNvPr id="16" name="TextBox 15"/>
          <p:cNvSpPr txBox="1"/>
          <p:nvPr/>
        </p:nvSpPr>
        <p:spPr>
          <a:xfrm>
            <a:off x="8183880" y="3108960"/>
            <a:ext cx="3246120" cy="1097280"/>
          </a:xfrm>
          <a:prstGeom prst="rect">
            <a:avLst/>
          </a:prstGeom>
          <a:noFill/>
        </p:spPr>
        <p:txBody>
          <a:bodyPr wrap="square" anchor="ctr" lIns="0" rIns="0" tIns="0" bIns="0">
            <a:spAutoFit/>
          </a:bodyPr>
          <a:lstStyle/>
          <a:p>
            <a:pPr algn="ctr">
              <a:lnSpc>
                <a:spcPct val="105000"/>
              </a:lnSpc>
            </a:pPr>
            <a:r>
              <a:rPr sz="2400" b="1">
                <a:solidFill>
                  <a:srgbClr val="8C1D18"/>
                </a:solidFill>
                <a:latin typeface="Helvetica Neue"/>
                <a:cs typeface="Apple SD Gothic Neo"/>
                <a:ea typeface="Apple SD Gothic Neo"/>
              </a:rPr>
              <a:t>로그인 없음 · SQLite만 시험</a:t>
            </a:r>
          </a:p>
        </p:txBody>
      </p:sp>
      <p:sp>
        <p:nvSpPr>
          <p:cNvPr id="17" name="TextBox 16"/>
          <p:cNvSpPr txBox="1"/>
          <p:nvPr/>
        </p:nvSpPr>
        <p:spPr>
          <a:xfrm>
            <a:off x="8183880" y="4251960"/>
            <a:ext cx="3246120" cy="1005840"/>
          </a:xfrm>
          <a:prstGeom prst="rect">
            <a:avLst/>
          </a:prstGeom>
          <a:noFill/>
        </p:spPr>
        <p:txBody>
          <a:bodyPr wrap="square" anchor="t" lIns="0" rIns="0" tIns="0" bIns="0">
            <a:spAutoFit/>
          </a:bodyPr>
          <a:lstStyle/>
          <a:p>
            <a:pPr algn="ctr">
              <a:lnSpc>
                <a:spcPct val="105000"/>
              </a:lnSpc>
            </a:pPr>
            <a:r>
              <a:rPr sz="1800" b="0">
                <a:solidFill>
                  <a:srgbClr val="1B2433"/>
                </a:solidFill>
                <a:latin typeface="Helvetica Neue"/>
                <a:cs typeface="Apple SD Gothic Neo"/>
                <a:ea typeface="Apple SD Gothic Neo"/>
              </a:rPr>
              <a:t>접근 제어·PostgreSQL은 12월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800" b="1">
                <a:solidFill>
                  <a:srgbClr val="17325C"/>
                </a:solidFill>
                <a:latin typeface="Helvetica Neue"/>
                <a:cs typeface="Apple SD Gothic Neo"/>
                <a:ea typeface="Apple SD Gothic Neo"/>
              </a:rPr>
              <a:t>향후 계획: 11월 실제 데이터 검증, 12월 최종 시스템</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20</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ectangle 5"/>
          <p:cNvSpPr/>
          <p:nvPr/>
        </p:nvSpPr>
        <p:spPr>
          <a:xfrm>
            <a:off x="640080" y="1874519"/>
            <a:ext cx="10881360" cy="128016"/>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30936" y="1783080"/>
            <a:ext cx="310896" cy="310896"/>
          </a:xfrm>
          <a:prstGeom prst="ellipse">
            <a:avLst/>
          </a:prstGeom>
          <a:solidFill>
            <a:srgbClr val="8C1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77256" y="1783080"/>
            <a:ext cx="310896" cy="310896"/>
          </a:xfrm>
          <a:prstGeom prst="ellipse">
            <a:avLst/>
          </a:prstGeom>
          <a:solidFill>
            <a:srgbClr val="8C1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63656" y="1783080"/>
            <a:ext cx="310896" cy="310896"/>
          </a:xfrm>
          <a:prstGeom prst="ellipse">
            <a:avLst/>
          </a:prstGeom>
          <a:solidFill>
            <a:srgbClr val="8C1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280160"/>
            <a:ext cx="2560320" cy="411480"/>
          </a:xfrm>
          <a:prstGeom prst="rect">
            <a:avLst/>
          </a:prstGeom>
          <a:noFill/>
        </p:spPr>
        <p:txBody>
          <a:bodyPr wrap="square" anchor="t" lIns="0" rIns="0" tIns="0" bIns="0">
            <a:spAutoFit/>
          </a:bodyPr>
          <a:lstStyle/>
          <a:p>
            <a:pPr algn="l">
              <a:lnSpc>
                <a:spcPct val="105000"/>
              </a:lnSpc>
            </a:pPr>
            <a:r>
              <a:rPr sz="1600" b="1">
                <a:solidFill>
                  <a:srgbClr val="17325C"/>
                </a:solidFill>
                <a:latin typeface="Helvetica Neue"/>
                <a:cs typeface="Apple SD Gothic Neo"/>
                <a:ea typeface="Apple SD Gothic Neo"/>
              </a:rPr>
              <a:t>10/15 1차 중간</a:t>
            </a:r>
          </a:p>
        </p:txBody>
      </p:sp>
      <p:sp>
        <p:nvSpPr>
          <p:cNvPr id="11" name="TextBox 10"/>
          <p:cNvSpPr txBox="1"/>
          <p:nvPr/>
        </p:nvSpPr>
        <p:spPr>
          <a:xfrm>
            <a:off x="4846320" y="1280160"/>
            <a:ext cx="2560320" cy="411480"/>
          </a:xfrm>
          <a:prstGeom prst="rect">
            <a:avLst/>
          </a:prstGeom>
          <a:noFill/>
        </p:spPr>
        <p:txBody>
          <a:bodyPr wrap="square" anchor="t" lIns="0" rIns="0" tIns="0" bIns="0">
            <a:spAutoFit/>
          </a:bodyPr>
          <a:lstStyle/>
          <a:p>
            <a:pPr algn="l">
              <a:lnSpc>
                <a:spcPct val="105000"/>
              </a:lnSpc>
            </a:pPr>
            <a:r>
              <a:rPr sz="1600" b="1">
                <a:solidFill>
                  <a:srgbClr val="17325C"/>
                </a:solidFill>
                <a:latin typeface="Helvetica Neue"/>
                <a:cs typeface="Apple SD Gothic Neo"/>
                <a:ea typeface="Apple SD Gothic Neo"/>
              </a:rPr>
              <a:t>11/19 2차 중간</a:t>
            </a:r>
          </a:p>
        </p:txBody>
      </p:sp>
      <p:sp>
        <p:nvSpPr>
          <p:cNvPr id="12" name="TextBox 11"/>
          <p:cNvSpPr txBox="1"/>
          <p:nvPr/>
        </p:nvSpPr>
        <p:spPr>
          <a:xfrm>
            <a:off x="9326880" y="1280160"/>
            <a:ext cx="2286000" cy="411480"/>
          </a:xfrm>
          <a:prstGeom prst="rect">
            <a:avLst/>
          </a:prstGeom>
          <a:noFill/>
        </p:spPr>
        <p:txBody>
          <a:bodyPr wrap="square" anchor="t" lIns="0" rIns="0" tIns="0" bIns="0">
            <a:spAutoFit/>
          </a:bodyPr>
          <a:lstStyle/>
          <a:p>
            <a:pPr algn="r">
              <a:lnSpc>
                <a:spcPct val="105000"/>
              </a:lnSpc>
            </a:pPr>
            <a:r>
              <a:rPr sz="1600" b="1">
                <a:solidFill>
                  <a:srgbClr val="17325C"/>
                </a:solidFill>
                <a:latin typeface="Helvetica Neue"/>
                <a:cs typeface="Apple SD Gothic Neo"/>
                <a:ea typeface="Apple SD Gothic Neo"/>
              </a:rPr>
              <a:t>12/10 최종</a:t>
            </a:r>
          </a:p>
        </p:txBody>
      </p:sp>
      <p:sp>
        <p:nvSpPr>
          <p:cNvPr id="13" name="Rounded Rectangle 12"/>
          <p:cNvSpPr/>
          <p:nvPr/>
        </p:nvSpPr>
        <p:spPr>
          <a:xfrm>
            <a:off x="640080" y="2331720"/>
            <a:ext cx="5257800" cy="3246120"/>
          </a:xfrm>
          <a:prstGeom prst="roundRect">
            <a:avLst>
              <a:gd name="adj" fmla="val 8000"/>
            </a:avLst>
          </a:prstGeom>
          <a:solidFill>
            <a:srgbClr val="F3F6FB"/>
          </a:solidFill>
          <a:ln w="1905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2377440"/>
            <a:ext cx="4846320" cy="502920"/>
          </a:xfrm>
          <a:prstGeom prst="rect">
            <a:avLst/>
          </a:prstGeom>
          <a:noFill/>
        </p:spPr>
        <p:txBody>
          <a:bodyPr wrap="square" anchor="ctr" lIns="0" rIns="0" tIns="0" bIns="0">
            <a:spAutoFit/>
          </a:bodyPr>
          <a:lstStyle/>
          <a:p>
            <a:pPr algn="l">
              <a:lnSpc>
                <a:spcPct val="105000"/>
              </a:lnSpc>
            </a:pPr>
            <a:r>
              <a:rPr sz="2400" b="1">
                <a:solidFill>
                  <a:srgbClr val="17325C"/>
                </a:solidFill>
                <a:latin typeface="Helvetica Neue"/>
                <a:cs typeface="Apple SD Gothic Neo"/>
                <a:ea typeface="Apple SD Gothic Neo"/>
              </a:rPr>
              <a:t>2차 중간 (11월)</a:t>
            </a:r>
          </a:p>
        </p:txBody>
      </p:sp>
      <p:sp>
        <p:nvSpPr>
          <p:cNvPr id="15" name="TextBox 14"/>
          <p:cNvSpPr txBox="1"/>
          <p:nvPr/>
        </p:nvSpPr>
        <p:spPr>
          <a:xfrm>
            <a:off x="868680" y="2971800"/>
            <a:ext cx="484632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 실제 스캔·사진으로 검증</a:t>
            </a:r>
          </a:p>
        </p:txBody>
      </p:sp>
      <p:sp>
        <p:nvSpPr>
          <p:cNvPr id="16" name="TextBox 15"/>
          <p:cNvSpPr txBox="1"/>
          <p:nvPr/>
        </p:nvSpPr>
        <p:spPr>
          <a:xfrm>
            <a:off x="1143000" y="3300984"/>
            <a:ext cx="4480560" cy="3200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새 hold-out 판정</a:t>
            </a:r>
          </a:p>
        </p:txBody>
      </p:sp>
      <p:sp>
        <p:nvSpPr>
          <p:cNvPr id="17" name="TextBox 16"/>
          <p:cNvSpPr txBox="1"/>
          <p:nvPr/>
        </p:nvSpPr>
        <p:spPr>
          <a:xfrm>
            <a:off x="868680" y="3749039"/>
            <a:ext cx="484632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 촬영 품질 검사 · 재촬영 안내</a:t>
            </a:r>
          </a:p>
        </p:txBody>
      </p:sp>
      <p:sp>
        <p:nvSpPr>
          <p:cNvPr id="18" name="TextBox 17"/>
          <p:cNvSpPr txBox="1"/>
          <p:nvPr/>
        </p:nvSpPr>
        <p:spPr>
          <a:xfrm>
            <a:off x="1143000" y="4078224"/>
            <a:ext cx="4480560" cy="3200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이미지 보정</a:t>
            </a:r>
          </a:p>
        </p:txBody>
      </p:sp>
      <p:sp>
        <p:nvSpPr>
          <p:cNvPr id="19" name="TextBox 18"/>
          <p:cNvSpPr txBox="1"/>
          <p:nvPr/>
        </p:nvSpPr>
        <p:spPr>
          <a:xfrm>
            <a:off x="868680" y="4526279"/>
            <a:ext cx="484632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 검토 대기열 · 관리자 화면</a:t>
            </a:r>
          </a:p>
        </p:txBody>
      </p:sp>
      <p:sp>
        <p:nvSpPr>
          <p:cNvPr id="20" name="TextBox 19"/>
          <p:cNvSpPr txBox="1"/>
          <p:nvPr/>
        </p:nvSpPr>
        <p:spPr>
          <a:xfrm>
            <a:off x="777240" y="5120640"/>
            <a:ext cx="4983480" cy="457200"/>
          </a:xfrm>
          <a:prstGeom prst="rect">
            <a:avLst/>
          </a:prstGeom>
          <a:noFill/>
        </p:spPr>
        <p:txBody>
          <a:bodyPr wrap="square" anchor="ctr" lIns="0" rIns="0" tIns="0" bIns="0">
            <a:spAutoFit/>
          </a:bodyPr>
          <a:lstStyle/>
          <a:p>
            <a:pPr algn="l">
              <a:lnSpc>
                <a:spcPct val="105000"/>
              </a:lnSpc>
            </a:pPr>
            <a:r>
              <a:rPr sz="1500" b="1">
                <a:solidFill>
                  <a:srgbClr val="0B5D3B"/>
                </a:solidFill>
                <a:latin typeface="Helvetica Neue"/>
                <a:cs typeface="Apple SD Gothic Neo"/>
                <a:ea typeface="Apple SD Gothic Neo"/>
              </a:rPr>
              <a:t>목표: 잘못된 ‘제출 가능’ 0 유지 · 사람 확인 항목 추가 감소</a:t>
            </a:r>
          </a:p>
        </p:txBody>
      </p:sp>
      <p:sp>
        <p:nvSpPr>
          <p:cNvPr id="21" name="Rounded Rectangle 20"/>
          <p:cNvSpPr/>
          <p:nvPr/>
        </p:nvSpPr>
        <p:spPr>
          <a:xfrm>
            <a:off x="6309360" y="2331720"/>
            <a:ext cx="5257800" cy="3246120"/>
          </a:xfrm>
          <a:prstGeom prst="roundRect">
            <a:avLst>
              <a:gd name="adj" fmla="val 8000"/>
            </a:avLst>
          </a:prstGeom>
          <a:solidFill>
            <a:srgbClr val="F3F6FB"/>
          </a:solidFill>
          <a:ln w="1905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2377440"/>
            <a:ext cx="4846320" cy="502920"/>
          </a:xfrm>
          <a:prstGeom prst="rect">
            <a:avLst/>
          </a:prstGeom>
          <a:noFill/>
        </p:spPr>
        <p:txBody>
          <a:bodyPr wrap="square" anchor="ctr" lIns="0" rIns="0" tIns="0" bIns="0">
            <a:spAutoFit/>
          </a:bodyPr>
          <a:lstStyle/>
          <a:p>
            <a:pPr algn="l">
              <a:lnSpc>
                <a:spcPct val="105000"/>
              </a:lnSpc>
            </a:pPr>
            <a:r>
              <a:rPr sz="2400" b="1">
                <a:solidFill>
                  <a:srgbClr val="17325C"/>
                </a:solidFill>
                <a:latin typeface="Helvetica Neue"/>
                <a:cs typeface="Apple SD Gothic Neo"/>
                <a:ea typeface="Apple SD Gothic Neo"/>
              </a:rPr>
              <a:t>최종 (12월)</a:t>
            </a:r>
          </a:p>
        </p:txBody>
      </p:sp>
      <p:sp>
        <p:nvSpPr>
          <p:cNvPr id="23" name="TextBox 22"/>
          <p:cNvSpPr txBox="1"/>
          <p:nvPr/>
        </p:nvSpPr>
        <p:spPr>
          <a:xfrm>
            <a:off x="6537960" y="2971800"/>
            <a:ext cx="484632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 로그인 · 권한</a:t>
            </a:r>
          </a:p>
        </p:txBody>
      </p:sp>
      <p:sp>
        <p:nvSpPr>
          <p:cNvPr id="24" name="TextBox 23"/>
          <p:cNvSpPr txBox="1"/>
          <p:nvPr/>
        </p:nvSpPr>
        <p:spPr>
          <a:xfrm>
            <a:off x="6812280" y="3300984"/>
            <a:ext cx="4480560" cy="3200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개인정보 보호 · 감사 로그</a:t>
            </a:r>
          </a:p>
        </p:txBody>
      </p:sp>
      <p:sp>
        <p:nvSpPr>
          <p:cNvPr id="25" name="TextBox 24"/>
          <p:cNvSpPr txBox="1"/>
          <p:nvPr/>
        </p:nvSpPr>
        <p:spPr>
          <a:xfrm>
            <a:off x="6537960" y="3749039"/>
            <a:ext cx="484632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 PostgreSQL · 배포</a:t>
            </a:r>
          </a:p>
        </p:txBody>
      </p:sp>
      <p:sp>
        <p:nvSpPr>
          <p:cNvPr id="26" name="TextBox 25"/>
          <p:cNvSpPr txBox="1"/>
          <p:nvPr/>
        </p:nvSpPr>
        <p:spPr>
          <a:xfrm>
            <a:off x="6812280" y="4078224"/>
            <a:ext cx="4480560" cy="3200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E2E 테스트</a:t>
            </a:r>
          </a:p>
        </p:txBody>
      </p:sp>
      <p:sp>
        <p:nvSpPr>
          <p:cNvPr id="27" name="TextBox 26"/>
          <p:cNvSpPr txBox="1"/>
          <p:nvPr/>
        </p:nvSpPr>
        <p:spPr>
          <a:xfrm>
            <a:off x="6537960" y="4526279"/>
            <a:ext cx="4846320" cy="365760"/>
          </a:xfrm>
          <a:prstGeom prst="rect">
            <a:avLst/>
          </a:prstGeom>
          <a:noFill/>
        </p:spPr>
        <p:txBody>
          <a:bodyPr wrap="square" anchor="t" lIns="0" rIns="0" tIns="0" bIns="0">
            <a:spAutoFit/>
          </a:bodyPr>
          <a:lstStyle/>
          <a:p>
            <a:pPr algn="l">
              <a:lnSpc>
                <a:spcPct val="105000"/>
              </a:lnSpc>
            </a:pPr>
            <a:r>
              <a:rPr sz="1900" b="1">
                <a:solidFill>
                  <a:srgbClr val="1B2433"/>
                </a:solidFill>
                <a:latin typeface="Helvetica Neue"/>
                <a:cs typeface="Apple SD Gothic Neo"/>
                <a:ea typeface="Apple SD Gothic Neo"/>
              </a:rPr>
              <a:t>▸ (선택) 국세청 사업자 조회</a:t>
            </a:r>
          </a:p>
        </p:txBody>
      </p:sp>
      <p:sp>
        <p:nvSpPr>
          <p:cNvPr id="28" name="TextBox 27"/>
          <p:cNvSpPr txBox="1"/>
          <p:nvPr/>
        </p:nvSpPr>
        <p:spPr>
          <a:xfrm>
            <a:off x="6446520" y="5120640"/>
            <a:ext cx="4983480" cy="457200"/>
          </a:xfrm>
          <a:prstGeom prst="rect">
            <a:avLst/>
          </a:prstGeom>
          <a:noFill/>
        </p:spPr>
        <p:txBody>
          <a:bodyPr wrap="square" anchor="ctr" lIns="0" rIns="0" tIns="0" bIns="0">
            <a:spAutoFit/>
          </a:bodyPr>
          <a:lstStyle/>
          <a:p>
            <a:pPr algn="l">
              <a:lnSpc>
                <a:spcPct val="105000"/>
              </a:lnSpc>
            </a:pPr>
            <a:r>
              <a:rPr sz="1500" b="1">
                <a:solidFill>
                  <a:srgbClr val="0B5D3B"/>
                </a:solidFill>
                <a:latin typeface="Helvetica Neue"/>
                <a:cs typeface="Apple SD Gothic Neo"/>
                <a:ea typeface="Apple SD Gothic Neo"/>
              </a:rPr>
              <a:t>목표: 최종 보고서와 재현 가능한 지표</a:t>
            </a:r>
          </a:p>
        </p:txBody>
      </p:sp>
      <p:sp>
        <p:nvSpPr>
          <p:cNvPr id="29" name="TextBox 28"/>
          <p:cNvSpPr txBox="1"/>
          <p:nvPr/>
        </p:nvSpPr>
        <p:spPr>
          <a:xfrm>
            <a:off x="640080" y="5760720"/>
            <a:ext cx="10881360" cy="457200"/>
          </a:xfrm>
          <a:prstGeom prst="rect">
            <a:avLst/>
          </a:prstGeom>
          <a:noFill/>
        </p:spPr>
        <p:txBody>
          <a:bodyPr wrap="square" anchor="t" lIns="0" rIns="0" tIns="0" bIns="0">
            <a:spAutoFit/>
          </a:bodyPr>
          <a:lstStyle/>
          <a:p>
            <a:pPr algn="ctr">
              <a:lnSpc>
                <a:spcPct val="105000"/>
              </a:lnSpc>
            </a:pPr>
            <a:r>
              <a:rPr sz="1800" b="1">
                <a:solidFill>
                  <a:srgbClr val="17325C"/>
                </a:solidFill>
                <a:latin typeface="Helvetica Neue"/>
                <a:cs typeface="Apple SD Gothic Neo"/>
                <a:ea typeface="Apple SD Gothic Neo"/>
              </a:rPr>
              <a:t>목표 수치는 처음 보는 문서 기준으로 분모와 함께 보고합니다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21</a:t>
            </a:r>
          </a:p>
        </p:txBody>
      </p:sp>
      <p:sp>
        <p:nvSpPr>
          <p:cNvPr id="4" name="TextBox 3"/>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5" name="Rectangle 4"/>
          <p:cNvSpPr/>
          <p:nvPr/>
        </p:nvSpPr>
        <p:spPr>
          <a:xfrm>
            <a:off x="0" y="0"/>
            <a:ext cx="12191695"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10515600" cy="1097280"/>
          </a:xfrm>
          <a:prstGeom prst="rect">
            <a:avLst/>
          </a:prstGeom>
          <a:noFill/>
        </p:spPr>
        <p:txBody>
          <a:bodyPr wrap="square" anchor="t" lIns="0" rIns="0" tIns="0" bIns="0">
            <a:spAutoFit/>
          </a:bodyPr>
          <a:lstStyle/>
          <a:p>
            <a:pPr algn="l">
              <a:lnSpc>
                <a:spcPct val="105000"/>
              </a:lnSpc>
            </a:pPr>
            <a:r>
              <a:rPr sz="5400" b="1">
                <a:solidFill>
                  <a:srgbClr val="FFFFFF"/>
                </a:solidFill>
                <a:latin typeface="Helvetica Neue"/>
                <a:cs typeface="Apple SD Gothic Neo"/>
                <a:ea typeface="Apple SD Gothic Neo"/>
              </a:rPr>
              <a:t>감사합니다</a:t>
            </a:r>
          </a:p>
        </p:txBody>
      </p:sp>
      <p:sp>
        <p:nvSpPr>
          <p:cNvPr id="7" name="TextBox 6"/>
          <p:cNvSpPr txBox="1"/>
          <p:nvPr/>
        </p:nvSpPr>
        <p:spPr>
          <a:xfrm>
            <a:off x="822960" y="3383280"/>
            <a:ext cx="10515600" cy="731520"/>
          </a:xfrm>
          <a:prstGeom prst="rect">
            <a:avLst/>
          </a:prstGeom>
          <a:noFill/>
        </p:spPr>
        <p:txBody>
          <a:bodyPr wrap="square" anchor="t" lIns="0" rIns="0" tIns="0" bIns="0">
            <a:spAutoFit/>
          </a:bodyPr>
          <a:lstStyle/>
          <a:p>
            <a:pPr algn="l">
              <a:lnSpc>
                <a:spcPct val="105000"/>
              </a:lnSpc>
            </a:pPr>
            <a:r>
              <a:rPr sz="3200" b="0">
                <a:solidFill>
                  <a:srgbClr val="C7D3E8"/>
                </a:solidFill>
                <a:latin typeface="Helvetica Neue"/>
                <a:cs typeface="Apple SD Gothic Neo"/>
                <a:ea typeface="Apple SD Gothic Neo"/>
              </a:rPr>
              <a:t>질문 · Q&amp;A</a:t>
            </a:r>
          </a:p>
        </p:txBody>
      </p:sp>
      <p:sp>
        <p:nvSpPr>
          <p:cNvPr id="8" name="TextBox 7"/>
          <p:cNvSpPr txBox="1"/>
          <p:nvPr/>
        </p:nvSpPr>
        <p:spPr>
          <a:xfrm>
            <a:off x="822960" y="5394960"/>
            <a:ext cx="7315200" cy="457200"/>
          </a:xfrm>
          <a:prstGeom prst="rect">
            <a:avLst/>
          </a:prstGeom>
          <a:noFill/>
        </p:spPr>
        <p:txBody>
          <a:bodyPr wrap="square" anchor="t" lIns="0" rIns="0" tIns="0" bIns="0">
            <a:spAutoFit/>
          </a:bodyPr>
          <a:lstStyle/>
          <a:p>
            <a:pPr algn="l">
              <a:lnSpc>
                <a:spcPct val="105000"/>
              </a:lnSpc>
            </a:pPr>
            <a:r>
              <a:rPr sz="2000" b="0">
                <a:solidFill>
                  <a:srgbClr val="FFFFFF"/>
                </a:solidFill>
                <a:latin typeface="Helvetica Neue"/>
                <a:cs typeface="Apple SD Gothic Neo"/>
                <a:ea typeface="Apple SD Gothic Neo"/>
              </a:rPr>
              <a:t>올림조노바 무니라 · 굴로모프 하비빌로</a:t>
            </a:r>
          </a:p>
        </p:txBody>
      </p:sp>
      <p:sp>
        <p:nvSpPr>
          <p:cNvPr id="9" name="Rectangle 8"/>
          <p:cNvSpPr/>
          <p:nvPr/>
        </p:nvSpPr>
        <p:spPr>
          <a:xfrm>
            <a:off x="8732520" y="1737360"/>
            <a:ext cx="301752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r_github.png"/>
          <p:cNvPicPr>
            <a:picLocks noChangeAspect="1"/>
          </p:cNvPicPr>
          <p:nvPr/>
        </p:nvPicPr>
        <p:blipFill>
          <a:blip r:embed="rId2"/>
          <a:stretch>
            <a:fillRect/>
          </a:stretch>
        </p:blipFill>
        <p:spPr>
          <a:xfrm>
            <a:off x="8823960" y="1828800"/>
            <a:ext cx="2834640" cy="2834640"/>
          </a:xfrm>
          <a:prstGeom prst="rect">
            <a:avLst/>
          </a:prstGeom>
        </p:spPr>
      </p:pic>
      <p:sp>
        <p:nvSpPr>
          <p:cNvPr id="11" name="TextBox 10">
            <a:hlinkClick r:id="rId3"/>
          </p:cNvPr>
          <p:cNvSpPr txBox="1"/>
          <p:nvPr/>
        </p:nvSpPr>
        <p:spPr>
          <a:xfrm>
            <a:off x="822960" y="4343400"/>
            <a:ext cx="7680960" cy="548640"/>
          </a:xfrm>
          <a:prstGeom prst="rect">
            <a:avLst/>
          </a:prstGeom>
          <a:noFill/>
        </p:spPr>
        <p:txBody>
          <a:bodyPr wrap="square" anchor="t" lIns="0" rIns="0" tIns="0" bIns="0">
            <a:spAutoFit/>
          </a:bodyPr>
          <a:lstStyle/>
          <a:p>
            <a:pPr algn="l">
              <a:lnSpc>
                <a:spcPct val="105000"/>
              </a:lnSpc>
            </a:pPr>
            <a:r>
              <a:rPr sz="2800" b="1" u="sng">
                <a:solidFill>
                  <a:srgbClr val="FFFFFF"/>
                </a:solidFill>
                <a:latin typeface="Helvetica Neue"/>
                <a:cs typeface="Apple SD Gothic Neo"/>
                <a:ea typeface="Apple SD Gothic Neo"/>
              </a:rPr>
              <a:t>github.com/khabibro/ADVS</a:t>
            </a:r>
          </a:p>
        </p:txBody>
      </p:sp>
      <p:sp>
        <p:nvSpPr>
          <p:cNvPr id="12" name="TextBox 11"/>
          <p:cNvSpPr txBox="1"/>
          <p:nvPr/>
        </p:nvSpPr>
        <p:spPr>
          <a:xfrm>
            <a:off x="10881360" y="6446520"/>
            <a:ext cx="914400" cy="292608"/>
          </a:xfrm>
          <a:prstGeom prst="rect">
            <a:avLst/>
          </a:prstGeom>
          <a:noFill/>
        </p:spPr>
        <p:txBody>
          <a:bodyPr wrap="square" anchor="t" lIns="0" rIns="0" tIns="0" bIns="0">
            <a:spAutoFit/>
          </a:bodyPr>
          <a:lstStyle/>
          <a:p>
            <a:pPr algn="r">
              <a:lnSpc>
                <a:spcPct val="105000"/>
              </a:lnSpc>
            </a:pPr>
            <a:r>
              <a:rPr sz="1200" b="0">
                <a:solidFill>
                  <a:srgbClr val="C7D3E8"/>
                </a:solidFill>
                <a:latin typeface="Helvetica Neue"/>
                <a:cs typeface="Apple SD Gothic Neo"/>
                <a:ea typeface="Apple SD Gothic Ne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[부록] 전체 수치와 분모</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22</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graphicFrame>
        <p:nvGraphicFramePr>
          <p:cNvPr id="6" name="Table 5"/>
          <p:cNvGraphicFramePr>
            <a:graphicFrameLocks noGrp="1"/>
          </p:cNvGraphicFramePr>
          <p:nvPr/>
        </p:nvGraphicFramePr>
        <p:xfrm>
          <a:off x="548640" y="1280160"/>
          <a:ext cx="11155680" cy="4279392"/>
        </p:xfrm>
        <a:graphic>
          <a:graphicData uri="http://schemas.openxmlformats.org/drawingml/2006/table">
            <a:tbl>
              <a:tblPr firstRow="1" bandRow="1">
                <a:tableStyleId>{5C22544A-7EE6-4342-B048-85BDC9FD1C3A}</a:tableStyleId>
              </a:tblPr>
              <a:tblGrid>
                <a:gridCol w="4572000"/>
                <a:gridCol w="3291840"/>
                <a:gridCol w="3291840"/>
              </a:tblGrid>
              <a:tr h="475488">
                <a:tc>
                  <a:txBody>
                    <a:bodyPr/>
                    <a:lstStyle/>
                    <a:p>
                      <a:r>
                        <a:rPr sz="1800" b="1">
                          <a:solidFill>
                            <a:srgbClr val="FFFFFF"/>
                          </a:solidFill>
                          <a:latin typeface="Helvetica Neue"/>
                          <a:cs typeface="Apple SD Gothic Neo"/>
                          <a:ea typeface="Apple SD Gothic Neo"/>
                        </a:rPr>
                        <a:t>지표</a:t>
                      </a:r>
                    </a:p>
                  </a:txBody>
                  <a:tcPr anchor="ctr">
                    <a:solidFill>
                      <a:srgbClr val="17325C"/>
                    </a:solidFill>
                  </a:tcPr>
                </a:tc>
                <a:tc>
                  <a:txBody>
                    <a:bodyPr/>
                    <a:lstStyle/>
                    <a:p>
                      <a:r>
                        <a:rPr sz="1800" b="1">
                          <a:solidFill>
                            <a:srgbClr val="FFFFFF"/>
                          </a:solidFill>
                          <a:latin typeface="Helvetica Neue"/>
                          <a:cs typeface="Apple SD Gothic Neo"/>
                          <a:ea typeface="Apple SD Gothic Neo"/>
                        </a:rPr>
                        <a:t>개발 문서</a:t>
                      </a:r>
                    </a:p>
                  </a:txBody>
                  <a:tcPr anchor="ctr">
                    <a:solidFill>
                      <a:srgbClr val="17325C"/>
                    </a:solidFill>
                  </a:tcPr>
                </a:tc>
                <a:tc>
                  <a:txBody>
                    <a:bodyPr/>
                    <a:lstStyle/>
                    <a:p>
                      <a:r>
                        <a:rPr sz="1800" b="1">
                          <a:solidFill>
                            <a:srgbClr val="FFFFFF"/>
                          </a:solidFill>
                          <a:latin typeface="Helvetica Neue"/>
                          <a:cs typeface="Apple SD Gothic Neo"/>
                          <a:ea typeface="Apple SD Gothic Neo"/>
                        </a:rPr>
                        <a:t>처음 보는 문서 (hold-out 3)</a:t>
                      </a:r>
                    </a:p>
                  </a:txBody>
                  <a:tcPr anchor="ctr">
                    <a:solidFill>
                      <a:srgbClr val="17325C"/>
                    </a:solidFill>
                  </a:tcPr>
                </a:tc>
              </a:tr>
              <a:tr h="475488">
                <a:tc>
                  <a:txBody>
                    <a:bodyPr/>
                    <a:lstStyle/>
                    <a:p>
                      <a:r>
                        <a:rPr sz="1800" b="1">
                          <a:solidFill>
                            <a:srgbClr val="1B2433"/>
                          </a:solidFill>
                          <a:latin typeface="Helvetica Neue"/>
                          <a:cs typeface="Apple SD Gothic Neo"/>
                          <a:ea typeface="Apple SD Gothic Neo"/>
                        </a:rPr>
                        <a:t>잘못된 ‘제출 가능’ (입력 유형별)</a:t>
                      </a:r>
                    </a:p>
                  </a:txBody>
                  <a:tcPr anchor="ctr">
                    <a:solidFill>
                      <a:srgbClr val="FFFFFF"/>
                    </a:solidFill>
                  </a:tcPr>
                </a:tc>
                <a:tc>
                  <a:txBody>
                    <a:bodyPr/>
                    <a:lstStyle/>
                    <a:p>
                      <a:r>
                        <a:rPr sz="1800" b="0">
                          <a:solidFill>
                            <a:srgbClr val="1B2433"/>
                          </a:solidFill>
                          <a:latin typeface="Helvetica Neue"/>
                          <a:cs typeface="Apple SD Gothic Neo"/>
                          <a:ea typeface="Apple SD Gothic Neo"/>
                        </a:rPr>
                        <a:t>0 / 40</a:t>
                      </a:r>
                    </a:p>
                  </a:txBody>
                  <a:tcPr anchor="ctr">
                    <a:solidFill>
                      <a:srgbClr val="FFFFFF"/>
                    </a:solidFill>
                  </a:tcPr>
                </a:tc>
                <a:tc>
                  <a:txBody>
                    <a:bodyPr/>
                    <a:lstStyle/>
                    <a:p>
                      <a:r>
                        <a:rPr sz="1800" b="0">
                          <a:solidFill>
                            <a:srgbClr val="1B2433"/>
                          </a:solidFill>
                          <a:latin typeface="Helvetica Neue"/>
                          <a:cs typeface="Apple SD Gothic Neo"/>
                          <a:ea typeface="Apple SD Gothic Neo"/>
                        </a:rPr>
                        <a:t>0 / 14</a:t>
                      </a:r>
                    </a:p>
                  </a:txBody>
                  <a:tcPr anchor="ctr">
                    <a:solidFill>
                      <a:srgbClr val="FFFFFF"/>
                    </a:solidFill>
                  </a:tcPr>
                </a:tc>
              </a:tr>
              <a:tr h="475488">
                <a:tc>
                  <a:txBody>
                    <a:bodyPr/>
                    <a:lstStyle/>
                    <a:p>
                      <a:r>
                        <a:rPr sz="1800" b="1">
                          <a:solidFill>
                            <a:srgbClr val="1B2433"/>
                          </a:solidFill>
                          <a:latin typeface="Helvetica Neue"/>
                          <a:cs typeface="Apple SD Gothic Neo"/>
                          <a:ea typeface="Apple SD Gothic Neo"/>
                        </a:rPr>
                        <a:t>디지털 PDF 필드 정확</a:t>
                      </a:r>
                    </a:p>
                  </a:txBody>
                  <a:tcPr anchor="ctr">
                    <a:solidFill>
                      <a:srgbClr val="F3F6FB"/>
                    </a:solidFill>
                  </a:tcPr>
                </a:tc>
                <a:tc>
                  <a:txBody>
                    <a:bodyPr/>
                    <a:lstStyle/>
                    <a:p>
                      <a:r>
                        <a:rPr sz="1800" b="0">
                          <a:solidFill>
                            <a:srgbClr val="1B2433"/>
                          </a:solidFill>
                          <a:latin typeface="Helvetica Neue"/>
                          <a:cs typeface="Apple SD Gothic Neo"/>
                          <a:ea typeface="Apple SD Gothic Neo"/>
                        </a:rPr>
                        <a:t>790 / 790</a:t>
                      </a:r>
                    </a:p>
                  </a:txBody>
                  <a:tcPr anchor="ctr">
                    <a:solidFill>
                      <a:srgbClr val="F3F6FB"/>
                    </a:solidFill>
                  </a:tcPr>
                </a:tc>
                <a:tc>
                  <a:txBody>
                    <a:bodyPr/>
                    <a:lstStyle/>
                    <a:p>
                      <a:r>
                        <a:rPr sz="1800" b="0">
                          <a:solidFill>
                            <a:srgbClr val="1B2433"/>
                          </a:solidFill>
                          <a:latin typeface="Helvetica Neue"/>
                          <a:cs typeface="Apple SD Gothic Neo"/>
                          <a:ea typeface="Apple SD Gothic Neo"/>
                        </a:rPr>
                        <a:t>274 / 275</a:t>
                      </a:r>
                    </a:p>
                  </a:txBody>
                  <a:tcPr anchor="ctr">
                    <a:solidFill>
                      <a:srgbClr val="F3F6FB"/>
                    </a:solidFill>
                  </a:tcPr>
                </a:tc>
              </a:tr>
              <a:tr h="475488">
                <a:tc>
                  <a:txBody>
                    <a:bodyPr/>
                    <a:lstStyle/>
                    <a:p>
                      <a:r>
                        <a:rPr sz="1800" b="1">
                          <a:solidFill>
                            <a:srgbClr val="1B2433"/>
                          </a:solidFill>
                          <a:latin typeface="Helvetica Neue"/>
                          <a:cs typeface="Apple SD Gothic Neo"/>
                          <a:ea typeface="Apple SD Gothic Neo"/>
                        </a:rPr>
                        <a:t>스캔 필드 정확 (틀린 값 0)</a:t>
                      </a:r>
                    </a:p>
                  </a:txBody>
                  <a:tcPr anchor="ctr">
                    <a:solidFill>
                      <a:srgbClr val="FFFFFF"/>
                    </a:solidFill>
                  </a:tcPr>
                </a:tc>
                <a:tc>
                  <a:txBody>
                    <a:bodyPr/>
                    <a:lstStyle/>
                    <a:p>
                      <a:r>
                        <a:rPr sz="1800" b="0">
                          <a:solidFill>
                            <a:srgbClr val="1B2433"/>
                          </a:solidFill>
                          <a:latin typeface="Helvetica Neue"/>
                          <a:cs typeface="Apple SD Gothic Neo"/>
                          <a:ea typeface="Apple SD Gothic Neo"/>
                        </a:rPr>
                        <a:t>779 / 790</a:t>
                      </a:r>
                    </a:p>
                  </a:txBody>
                  <a:tcPr anchor="ctr">
                    <a:solidFill>
                      <a:srgbClr val="FFFFFF"/>
                    </a:solidFill>
                  </a:tcPr>
                </a:tc>
                <a:tc>
                  <a:txBody>
                    <a:bodyPr/>
                    <a:lstStyle/>
                    <a:p>
                      <a:r>
                        <a:rPr sz="1800" b="0">
                          <a:solidFill>
                            <a:srgbClr val="1B2433"/>
                          </a:solidFill>
                          <a:latin typeface="Helvetica Neue"/>
                          <a:cs typeface="Apple SD Gothic Neo"/>
                          <a:ea typeface="Apple SD Gothic Neo"/>
                        </a:rPr>
                        <a:t>268 / 275 (이전 257)</a:t>
                      </a:r>
                    </a:p>
                  </a:txBody>
                  <a:tcPr anchor="ctr">
                    <a:solidFill>
                      <a:srgbClr val="FFFFFF"/>
                    </a:solidFill>
                  </a:tcPr>
                </a:tc>
              </a:tr>
              <a:tr h="475488">
                <a:tc>
                  <a:txBody>
                    <a:bodyPr/>
                    <a:lstStyle/>
                    <a:p>
                      <a:r>
                        <a:rPr sz="1800" b="1">
                          <a:solidFill>
                            <a:srgbClr val="1B2433"/>
                          </a:solidFill>
                          <a:latin typeface="Helvetica Neue"/>
                          <a:cs typeface="Apple SD Gothic Neo"/>
                          <a:ea typeface="Apple SD Gothic Neo"/>
                        </a:rPr>
                        <a:t>사진 필드 정확 (틀린 값 0)</a:t>
                      </a:r>
                    </a:p>
                  </a:txBody>
                  <a:tcPr anchor="ctr">
                    <a:solidFill>
                      <a:srgbClr val="F3F6FB"/>
                    </a:solidFill>
                  </a:tcPr>
                </a:tc>
                <a:tc>
                  <a:txBody>
                    <a:bodyPr/>
                    <a:lstStyle/>
                    <a:p>
                      <a:r>
                        <a:rPr sz="1800" b="0">
                          <a:solidFill>
                            <a:srgbClr val="1B2433"/>
                          </a:solidFill>
                          <a:latin typeface="Helvetica Neue"/>
                          <a:cs typeface="Apple SD Gothic Neo"/>
                          <a:ea typeface="Apple SD Gothic Neo"/>
                        </a:rPr>
                        <a:t>785 / 790</a:t>
                      </a:r>
                    </a:p>
                  </a:txBody>
                  <a:tcPr anchor="ctr">
                    <a:solidFill>
                      <a:srgbClr val="F3F6FB"/>
                    </a:solidFill>
                  </a:tcPr>
                </a:tc>
                <a:tc>
                  <a:txBody>
                    <a:bodyPr/>
                    <a:lstStyle/>
                    <a:p>
                      <a:r>
                        <a:rPr sz="1800" b="0">
                          <a:solidFill>
                            <a:srgbClr val="1B2433"/>
                          </a:solidFill>
                          <a:latin typeface="Helvetica Neue"/>
                          <a:cs typeface="Apple SD Gothic Neo"/>
                          <a:ea typeface="Apple SD Gothic Neo"/>
                        </a:rPr>
                        <a:t>273 / 275 (이전 264)</a:t>
                      </a:r>
                    </a:p>
                  </a:txBody>
                  <a:tcPr anchor="ctr">
                    <a:solidFill>
                      <a:srgbClr val="F3F6FB"/>
                    </a:solidFill>
                  </a:tcPr>
                </a:tc>
              </a:tr>
              <a:tr h="475488">
                <a:tc>
                  <a:txBody>
                    <a:bodyPr/>
                    <a:lstStyle/>
                    <a:p>
                      <a:r>
                        <a:rPr sz="1800" b="1">
                          <a:solidFill>
                            <a:srgbClr val="1B2433"/>
                          </a:solidFill>
                          <a:latin typeface="Helvetica Neue"/>
                          <a:cs typeface="Apple SD Gothic Neo"/>
                          <a:ea typeface="Apple SD Gothic Neo"/>
                        </a:rPr>
                        <a:t>대학명 스캔 / 사진</a:t>
                      </a:r>
                    </a:p>
                  </a:txBody>
                  <a:tcPr anchor="ctr">
                    <a:solidFill>
                      <a:srgbClr val="FFFFFF"/>
                    </a:solidFill>
                  </a:tcPr>
                </a:tc>
                <a:tc>
                  <a:txBody>
                    <a:bodyPr/>
                    <a:lstStyle/>
                    <a:p>
                      <a:r>
                        <a:rPr sz="1800" b="0">
                          <a:solidFill>
                            <a:srgbClr val="1B2433"/>
                          </a:solidFill>
                          <a:latin typeface="Helvetica Neue"/>
                          <a:cs typeface="Apple SD Gothic Neo"/>
                          <a:ea typeface="Apple SD Gothic Neo"/>
                        </a:rPr>
                        <a:t>56 / 58 · 57 / 58</a:t>
                      </a:r>
                    </a:p>
                  </a:txBody>
                  <a:tcPr anchor="ctr">
                    <a:solidFill>
                      <a:srgbClr val="FFFFFF"/>
                    </a:solidFill>
                  </a:tcPr>
                </a:tc>
                <a:tc>
                  <a:txBody>
                    <a:bodyPr/>
                    <a:lstStyle/>
                    <a:p>
                      <a:r>
                        <a:rPr sz="1800" b="0">
                          <a:solidFill>
                            <a:srgbClr val="1B2433"/>
                          </a:solidFill>
                          <a:latin typeface="Helvetica Neue"/>
                          <a:cs typeface="Apple SD Gothic Neo"/>
                          <a:ea typeface="Apple SD Gothic Neo"/>
                        </a:rPr>
                        <a:t>19 / 20 · 20 / 20</a:t>
                      </a:r>
                    </a:p>
                  </a:txBody>
                  <a:tcPr anchor="ctr">
                    <a:solidFill>
                      <a:srgbClr val="FFFFFF"/>
                    </a:solidFill>
                  </a:tcPr>
                </a:tc>
              </a:tr>
              <a:tr h="475488">
                <a:tc>
                  <a:txBody>
                    <a:bodyPr/>
                    <a:lstStyle/>
                    <a:p>
                      <a:r>
                        <a:rPr sz="1800" b="1">
                          <a:solidFill>
                            <a:srgbClr val="1B2433"/>
                          </a:solidFill>
                          <a:latin typeface="Helvetica Neue"/>
                          <a:cs typeface="Apple SD Gothic Neo"/>
                          <a:ea typeface="Apple SD Gothic Neo"/>
                        </a:rPr>
                        <a:t>사람 확인 항목 (스캔 / 사진, 1건당)</a:t>
                      </a:r>
                    </a:p>
                  </a:txBody>
                  <a:tcPr anchor="ctr">
                    <a:solidFill>
                      <a:srgbClr val="F3F6FB"/>
                    </a:solidFill>
                  </a:tcPr>
                </a:tc>
                <a:tc>
                  <a:txBody>
                    <a:bodyPr/>
                    <a:lstStyle/>
                    <a:p>
                      <a:r>
                        <a:rPr sz="1800" b="0">
                          <a:solidFill>
                            <a:srgbClr val="1B2433"/>
                          </a:solidFill>
                          <a:latin typeface="Helvetica Neue"/>
                          <a:cs typeface="Apple SD Gothic Neo"/>
                          <a:ea typeface="Apple SD Gothic Neo"/>
                        </a:rPr>
                        <a:t>3.73 / 3.09</a:t>
                      </a:r>
                    </a:p>
                  </a:txBody>
                  <a:tcPr anchor="ctr">
                    <a:solidFill>
                      <a:srgbClr val="F3F6FB"/>
                    </a:solidFill>
                  </a:tcPr>
                </a:tc>
                <a:tc>
                  <a:txBody>
                    <a:bodyPr/>
                    <a:lstStyle/>
                    <a:p>
                      <a:r>
                        <a:rPr sz="1800" b="0">
                          <a:solidFill>
                            <a:srgbClr val="1B2433"/>
                          </a:solidFill>
                          <a:latin typeface="Helvetica Neue"/>
                          <a:cs typeface="Apple SD Gothic Neo"/>
                          <a:ea typeface="Apple SD Gothic Neo"/>
                        </a:rPr>
                        <a:t>4.28 / 4.08 (이전 7.68 / 7.32)</a:t>
                      </a:r>
                    </a:p>
                  </a:txBody>
                  <a:tcPr anchor="ctr">
                    <a:solidFill>
                      <a:srgbClr val="F3F6FB"/>
                    </a:solidFill>
                  </a:tcPr>
                </a:tc>
              </a:tr>
              <a:tr h="475488">
                <a:tc>
                  <a:txBody>
                    <a:bodyPr/>
                    <a:lstStyle/>
                    <a:p>
                      <a:r>
                        <a:rPr sz="1800" b="1">
                          <a:solidFill>
                            <a:srgbClr val="1B2433"/>
                          </a:solidFill>
                          <a:latin typeface="Helvetica Neue"/>
                          <a:cs typeface="Apple SD Gothic Neo"/>
                          <a:ea typeface="Apple SD Gothic Neo"/>
                        </a:rPr>
                        <a:t>주입 오류: 거짓 제출 가능</a:t>
                      </a:r>
                    </a:p>
                  </a:txBody>
                  <a:tcPr anchor="ctr">
                    <a:solidFill>
                      <a:srgbClr val="FFFFFF"/>
                    </a:solidFill>
                  </a:tcPr>
                </a:tc>
                <a:tc>
                  <a:txBody>
                    <a:bodyPr/>
                    <a:lstStyle/>
                    <a:p>
                      <a:r>
                        <a:rPr sz="1800" b="0">
                          <a:solidFill>
                            <a:srgbClr val="1B2433"/>
                          </a:solidFill>
                          <a:latin typeface="Helvetica Neue"/>
                          <a:cs typeface="Apple SD Gothic Neo"/>
                          <a:ea typeface="Apple SD Gothic Neo"/>
                        </a:rPr>
                        <a:t>0/1,354 · 0/1,532 · 1/1,523*</a:t>
                      </a:r>
                    </a:p>
                  </a:txBody>
                  <a:tcPr anchor="ctr">
                    <a:solidFill>
                      <a:srgbClr val="FFFFFF"/>
                    </a:solidFill>
                  </a:tcPr>
                </a:tc>
                <a:tc>
                  <a:txBody>
                    <a:bodyPr/>
                    <a:lstStyle/>
                    <a:p>
                      <a:r>
                        <a:rPr sz="1800" b="0">
                          <a:solidFill>
                            <a:srgbClr val="1B2433"/>
                          </a:solidFill>
                          <a:latin typeface="Helvetica Neue"/>
                          <a:cs typeface="Apple SD Gothic Neo"/>
                          <a:ea typeface="Apple SD Gothic Neo"/>
                        </a:rPr>
                        <a:t>0 / 1,525</a:t>
                      </a:r>
                    </a:p>
                  </a:txBody>
                  <a:tcPr anchor="ctr">
                    <a:solidFill>
                      <a:srgbClr val="FFFFFF"/>
                    </a:solidFill>
                  </a:tcPr>
                </a:tc>
              </a:tr>
              <a:tr h="475488">
                <a:tc>
                  <a:txBody>
                    <a:bodyPr/>
                    <a:lstStyle/>
                    <a:p>
                      <a:r>
                        <a:rPr sz="1800" b="1">
                          <a:solidFill>
                            <a:srgbClr val="1B2433"/>
                          </a:solidFill>
                          <a:latin typeface="Helvetica Neue"/>
                          <a:cs typeface="Apple SD Gothic Neo"/>
                          <a:ea typeface="Apple SD Gothic Neo"/>
                        </a:rPr>
                        <a:t>조작 PDF 통과 / API 제출 가능</a:t>
                      </a:r>
                    </a:p>
                  </a:txBody>
                  <a:tcPr anchor="ctr">
                    <a:solidFill>
                      <a:srgbClr val="F3F6FB"/>
                    </a:solidFill>
                  </a:tcPr>
                </a:tc>
                <a:tc>
                  <a:txBody>
                    <a:bodyPr/>
                    <a:lstStyle/>
                    <a:p>
                      <a:r>
                        <a:rPr sz="1800" b="0">
                          <a:solidFill>
                            <a:srgbClr val="1B2433"/>
                          </a:solidFill>
                          <a:latin typeface="Helvetica Neue"/>
                          <a:cs typeface="Apple SD Gothic Neo"/>
                          <a:ea typeface="Apple SD Gothic Neo"/>
                        </a:rPr>
                        <a:t>0 / 705 · 0 / 12</a:t>
                      </a:r>
                    </a:p>
                  </a:txBody>
                  <a:tcPr anchor="ctr">
                    <a:solidFill>
                      <a:srgbClr val="F3F6FB"/>
                    </a:solidFill>
                  </a:tcPr>
                </a:tc>
                <a:tc>
                  <a:txBody>
                    <a:bodyPr/>
                    <a:lstStyle/>
                    <a:p>
                      <a:r>
                        <a:rPr sz="1800" b="0">
                          <a:solidFill>
                            <a:srgbClr val="1B2433"/>
                          </a:solidFill>
                          <a:latin typeface="Helvetica Neue"/>
                          <a:cs typeface="Apple SD Gothic Neo"/>
                          <a:ea typeface="Apple SD Gothic Neo"/>
                        </a:rPr>
                        <a:t>—</a:t>
                      </a:r>
                    </a:p>
                  </a:txBody>
                  <a:tcPr anchor="ctr">
                    <a:solidFill>
                      <a:srgbClr val="F3F6FB"/>
                    </a:solidFill>
                  </a:tcPr>
                </a:tc>
              </a:tr>
            </a:tbl>
          </a:graphicData>
        </a:graphic>
      </p:graphicFrame>
      <p:sp>
        <p:nvSpPr>
          <p:cNvPr id="7" name="TextBox 6"/>
          <p:cNvSpPr txBox="1"/>
          <p:nvPr/>
        </p:nvSpPr>
        <p:spPr>
          <a:xfrm>
            <a:off x="548640" y="5715000"/>
            <a:ext cx="11155680" cy="548640"/>
          </a:xfrm>
          <a:prstGeom prst="rect">
            <a:avLst/>
          </a:prstGeom>
          <a:noFill/>
        </p:spPr>
        <p:txBody>
          <a:bodyPr wrap="square" anchor="t" lIns="0" rIns="0" tIns="0" bIns="0">
            <a:spAutoFit/>
          </a:bodyPr>
          <a:lstStyle/>
          <a:p>
            <a:pPr algn="l">
              <a:lnSpc>
                <a:spcPct val="105000"/>
              </a:lnSpc>
            </a:pPr>
            <a:r>
              <a:rPr sz="1600" b="0">
                <a:solidFill>
                  <a:srgbClr val="4A5872"/>
                </a:solidFill>
                <a:latin typeface="Helvetica Neue"/>
                <a:cs typeface="Apple SD Gothic Neo"/>
                <a:ea typeface="Apple SD Gothic Neo"/>
              </a:rPr>
              <a:t>* 알려진 잔여 위험 1건 (소유자 승인). 숫자는 모두 가상 테스트 문서 결과이며 실제 위험이 아닙니다.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[부록] 지원하는 서류 6종과 점검 항목</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23</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ectangle 5"/>
          <p:cNvSpPr/>
          <p:nvPr/>
        </p:nvSpPr>
        <p:spPr>
          <a:xfrm>
            <a:off x="548640" y="1325880"/>
            <a:ext cx="11155680" cy="713232"/>
          </a:xfrm>
          <a:prstGeom prst="rect">
            <a:avLst/>
          </a:prstGeom>
          <a:solidFill>
            <a:srgbClr val="F3F6FB"/>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4206240" cy="713232"/>
          </a:xfrm>
          <a:prstGeom prst="rect">
            <a:avLst/>
          </a:prstGeom>
          <a:noFill/>
        </p:spPr>
        <p:txBody>
          <a:bodyPr wrap="square" anchor="ctr" lIns="0" rIns="0" tIns="0" bIns="0">
            <a:spAutoFit/>
          </a:bodyPr>
          <a:lstStyle/>
          <a:p>
            <a:pPr algn="l">
              <a:lnSpc>
                <a:spcPct val="105000"/>
              </a:lnSpc>
            </a:pPr>
            <a:r>
              <a:rPr sz="2000" b="1">
                <a:solidFill>
                  <a:srgbClr val="17325C"/>
                </a:solidFill>
                <a:latin typeface="Helvetica Neue"/>
                <a:cs typeface="Apple SD Gothic Neo"/>
                <a:ea typeface="Apple SD Gothic Neo"/>
              </a:rPr>
              <a:t>사업자등록증</a:t>
            </a:r>
          </a:p>
        </p:txBody>
      </p:sp>
      <p:sp>
        <p:nvSpPr>
          <p:cNvPr id="8" name="TextBox 7"/>
          <p:cNvSpPr txBox="1"/>
          <p:nvPr/>
        </p:nvSpPr>
        <p:spPr>
          <a:xfrm>
            <a:off x="5029200" y="1325880"/>
            <a:ext cx="6583680" cy="713232"/>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사업자등록번호 검증숫자 · 회사명</a:t>
            </a:r>
          </a:p>
        </p:txBody>
      </p:sp>
      <p:sp>
        <p:nvSpPr>
          <p:cNvPr id="9" name="Rectangle 8"/>
          <p:cNvSpPr/>
          <p:nvPr/>
        </p:nvSpPr>
        <p:spPr>
          <a:xfrm>
            <a:off x="548640" y="2130552"/>
            <a:ext cx="11155680" cy="713232"/>
          </a:xfrm>
          <a:prstGeom prst="rect">
            <a:avLst/>
          </a:prstGeom>
          <a:solidFill>
            <a:srgbClr val="FFFFFF"/>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130552"/>
            <a:ext cx="4206240" cy="713232"/>
          </a:xfrm>
          <a:prstGeom prst="rect">
            <a:avLst/>
          </a:prstGeom>
          <a:noFill/>
        </p:spPr>
        <p:txBody>
          <a:bodyPr wrap="square" anchor="ctr" lIns="0" rIns="0" tIns="0" bIns="0">
            <a:spAutoFit/>
          </a:bodyPr>
          <a:lstStyle/>
          <a:p>
            <a:pPr algn="l">
              <a:lnSpc>
                <a:spcPct val="105000"/>
              </a:lnSpc>
            </a:pPr>
            <a:r>
              <a:rPr sz="2000" b="1">
                <a:solidFill>
                  <a:srgbClr val="17325C"/>
                </a:solidFill>
                <a:latin typeface="Helvetica Neue"/>
                <a:cs typeface="Apple SD Gothic Neo"/>
                <a:ea typeface="Apple SD Gothic Neo"/>
              </a:rPr>
              <a:t>중소기업확인서</a:t>
            </a:r>
          </a:p>
        </p:txBody>
      </p:sp>
      <p:sp>
        <p:nvSpPr>
          <p:cNvPr id="11" name="TextBox 10"/>
          <p:cNvSpPr txBox="1"/>
          <p:nvPr/>
        </p:nvSpPr>
        <p:spPr>
          <a:xfrm>
            <a:off x="5029200" y="2130552"/>
            <a:ext cx="6583680" cy="713232"/>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유효기간 · 회사명 · 번호 일치</a:t>
            </a:r>
          </a:p>
        </p:txBody>
      </p:sp>
      <p:sp>
        <p:nvSpPr>
          <p:cNvPr id="12" name="Rectangle 11"/>
          <p:cNvSpPr/>
          <p:nvPr/>
        </p:nvSpPr>
        <p:spPr>
          <a:xfrm>
            <a:off x="548640" y="2935224"/>
            <a:ext cx="11155680" cy="713232"/>
          </a:xfrm>
          <a:prstGeom prst="rect">
            <a:avLst/>
          </a:prstGeom>
          <a:solidFill>
            <a:srgbClr val="F3F6FB"/>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35224"/>
            <a:ext cx="4206240" cy="713232"/>
          </a:xfrm>
          <a:prstGeom prst="rect">
            <a:avLst/>
          </a:prstGeom>
          <a:noFill/>
        </p:spPr>
        <p:txBody>
          <a:bodyPr wrap="square" anchor="ctr" lIns="0" rIns="0" tIns="0" bIns="0">
            <a:spAutoFit/>
          </a:bodyPr>
          <a:lstStyle/>
          <a:p>
            <a:pPr algn="l">
              <a:lnSpc>
                <a:spcPct val="105000"/>
              </a:lnSpc>
            </a:pPr>
            <a:r>
              <a:rPr sz="2000" b="1">
                <a:solidFill>
                  <a:srgbClr val="17325C"/>
                </a:solidFill>
                <a:latin typeface="Helvetica Neue"/>
                <a:cs typeface="Apple SD Gothic Neo"/>
                <a:ea typeface="Apple SD Gothic Neo"/>
              </a:rPr>
              <a:t>국세 납세증명서</a:t>
            </a:r>
          </a:p>
        </p:txBody>
      </p:sp>
      <p:sp>
        <p:nvSpPr>
          <p:cNvPr id="14" name="TextBox 13"/>
          <p:cNvSpPr txBox="1"/>
          <p:nvPr/>
        </p:nvSpPr>
        <p:spPr>
          <a:xfrm>
            <a:off x="5029200" y="2935224"/>
            <a:ext cx="6583680" cy="713232"/>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유효기간 · 지방세 증명서와 구분</a:t>
            </a:r>
          </a:p>
        </p:txBody>
      </p:sp>
      <p:sp>
        <p:nvSpPr>
          <p:cNvPr id="15" name="Rectangle 14"/>
          <p:cNvSpPr/>
          <p:nvPr/>
        </p:nvSpPr>
        <p:spPr>
          <a:xfrm>
            <a:off x="548640" y="3739896"/>
            <a:ext cx="11155680" cy="713232"/>
          </a:xfrm>
          <a:prstGeom prst="rect">
            <a:avLst/>
          </a:prstGeom>
          <a:solidFill>
            <a:srgbClr val="FFFFFF"/>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39896"/>
            <a:ext cx="4206240" cy="713232"/>
          </a:xfrm>
          <a:prstGeom prst="rect">
            <a:avLst/>
          </a:prstGeom>
          <a:noFill/>
        </p:spPr>
        <p:txBody>
          <a:bodyPr wrap="square" anchor="ctr" lIns="0" rIns="0" tIns="0" bIns="0">
            <a:spAutoFit/>
          </a:bodyPr>
          <a:lstStyle/>
          <a:p>
            <a:pPr algn="l">
              <a:lnSpc>
                <a:spcPct val="105000"/>
              </a:lnSpc>
            </a:pPr>
            <a:r>
              <a:rPr sz="2000" b="1">
                <a:solidFill>
                  <a:srgbClr val="17325C"/>
                </a:solidFill>
                <a:latin typeface="Helvetica Neue"/>
                <a:cs typeface="Apple SD Gothic Neo"/>
                <a:ea typeface="Apple SD Gothic Neo"/>
              </a:rPr>
              <a:t>4대 사회보험료 완납증명서</a:t>
            </a:r>
          </a:p>
        </p:txBody>
      </p:sp>
      <p:sp>
        <p:nvSpPr>
          <p:cNvPr id="17" name="TextBox 16"/>
          <p:cNvSpPr txBox="1"/>
          <p:nvPr/>
        </p:nvSpPr>
        <p:spPr>
          <a:xfrm>
            <a:off x="5029200" y="3739896"/>
            <a:ext cx="6583680" cy="713232"/>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유효기간 · 사업자번호 일치</a:t>
            </a:r>
          </a:p>
        </p:txBody>
      </p:sp>
      <p:sp>
        <p:nvSpPr>
          <p:cNvPr id="18" name="Rectangle 17"/>
          <p:cNvSpPr/>
          <p:nvPr/>
        </p:nvSpPr>
        <p:spPr>
          <a:xfrm>
            <a:off x="548640" y="4544568"/>
            <a:ext cx="11155680" cy="713232"/>
          </a:xfrm>
          <a:prstGeom prst="rect">
            <a:avLst/>
          </a:prstGeom>
          <a:solidFill>
            <a:srgbClr val="F3F6FB"/>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544568"/>
            <a:ext cx="4206240" cy="713232"/>
          </a:xfrm>
          <a:prstGeom prst="rect">
            <a:avLst/>
          </a:prstGeom>
          <a:noFill/>
        </p:spPr>
        <p:txBody>
          <a:bodyPr wrap="square" anchor="ctr" lIns="0" rIns="0" tIns="0" bIns="0">
            <a:spAutoFit/>
          </a:bodyPr>
          <a:lstStyle/>
          <a:p>
            <a:pPr algn="l">
              <a:lnSpc>
                <a:spcPct val="105000"/>
              </a:lnSpc>
            </a:pPr>
            <a:r>
              <a:rPr sz="2000" b="1">
                <a:solidFill>
                  <a:srgbClr val="17325C"/>
                </a:solidFill>
                <a:latin typeface="Helvetica Neue"/>
                <a:cs typeface="Apple SD Gothic Neo"/>
                <a:ea typeface="Apple SD Gothic Neo"/>
              </a:rPr>
              <a:t>재학증명서</a:t>
            </a:r>
          </a:p>
        </p:txBody>
      </p:sp>
      <p:sp>
        <p:nvSpPr>
          <p:cNvPr id="20" name="TextBox 19"/>
          <p:cNvSpPr txBox="1"/>
          <p:nvPr/>
        </p:nvSpPr>
        <p:spPr>
          <a:xfrm>
            <a:off x="5029200" y="4544568"/>
            <a:ext cx="6583680" cy="713232"/>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발급일 90일 이내 · 학번 필수</a:t>
            </a:r>
          </a:p>
        </p:txBody>
      </p:sp>
      <p:sp>
        <p:nvSpPr>
          <p:cNvPr id="21" name="Rectangle 20"/>
          <p:cNvSpPr/>
          <p:nvPr/>
        </p:nvSpPr>
        <p:spPr>
          <a:xfrm>
            <a:off x="548640" y="5349240"/>
            <a:ext cx="11155680" cy="713232"/>
          </a:xfrm>
          <a:prstGeom prst="rect">
            <a:avLst/>
          </a:prstGeom>
          <a:solidFill>
            <a:srgbClr val="FFFFFF"/>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349240"/>
            <a:ext cx="4206240" cy="713232"/>
          </a:xfrm>
          <a:prstGeom prst="rect">
            <a:avLst/>
          </a:prstGeom>
          <a:noFill/>
        </p:spPr>
        <p:txBody>
          <a:bodyPr wrap="square" anchor="ctr" lIns="0" rIns="0" tIns="0" bIns="0">
            <a:spAutoFit/>
          </a:bodyPr>
          <a:lstStyle/>
          <a:p>
            <a:pPr algn="l">
              <a:lnSpc>
                <a:spcPct val="105000"/>
              </a:lnSpc>
            </a:pPr>
            <a:r>
              <a:rPr sz="2000" b="1">
                <a:solidFill>
                  <a:srgbClr val="17325C"/>
                </a:solidFill>
                <a:latin typeface="Helvetica Neue"/>
                <a:cs typeface="Apple SD Gothic Neo"/>
                <a:ea typeface="Apple SD Gothic Neo"/>
              </a:rPr>
              <a:t>성적증명서</a:t>
            </a:r>
          </a:p>
        </p:txBody>
      </p:sp>
      <p:sp>
        <p:nvSpPr>
          <p:cNvPr id="23" name="TextBox 22"/>
          <p:cNvSpPr txBox="1"/>
          <p:nvPr/>
        </p:nvSpPr>
        <p:spPr>
          <a:xfrm>
            <a:off x="5029200" y="5349240"/>
            <a:ext cx="6583680" cy="713232"/>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평점 재계산 · 학생 정보 일치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[부록] 유사 서류(지방세 납세증명서)는 ‘확인 필요’</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24</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6_lookalike_300_240_1320.jpg"/>
          <p:cNvPicPr>
            <a:picLocks noChangeAspect="1"/>
          </p:cNvPicPr>
          <p:nvPr/>
        </p:nvPicPr>
        <p:blipFill>
          <a:blip r:embed="rId2"/>
          <a:stretch>
            <a:fillRect/>
          </a:stretch>
        </p:blipFill>
        <p:spPr>
          <a:xfrm>
            <a:off x="929487" y="1097280"/>
            <a:ext cx="10332720" cy="5260294"/>
          </a:xfrm>
          <a:prstGeom prst="rect">
            <a:avLst/>
          </a:prstGeom>
          <a:ln>
            <a:solidFill>
              <a:srgbClr val="C9D2E0"/>
            </a:solidFill>
          </a:ln>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[부록] 위·변조 PDF: 숨은 글자가 화면과 다르면 ‘확인 필요’</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25</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9_tampered_300_240_1320.jpg"/>
          <p:cNvPicPr>
            <a:picLocks noChangeAspect="1"/>
          </p:cNvPicPr>
          <p:nvPr/>
        </p:nvPicPr>
        <p:blipFill>
          <a:blip r:embed="rId2"/>
          <a:stretch>
            <a:fillRect/>
          </a:stretch>
        </p:blipFill>
        <p:spPr>
          <a:xfrm>
            <a:off x="929487" y="1097280"/>
            <a:ext cx="10332720" cy="5260294"/>
          </a:xfrm>
          <a:prstGeom prst="rect">
            <a:avLst/>
          </a:prstGeom>
          <a:ln>
            <a:solidFill>
              <a:srgbClr val="C9D2E0"/>
            </a:solidFill>
          </a:ln>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[부록] 서류가 빠지면 ‘보완 필요’ (필수 서류 누락)</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26</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5b_missing_300_240_1320.jpg"/>
          <p:cNvPicPr>
            <a:picLocks noChangeAspect="1"/>
          </p:cNvPicPr>
          <p:nvPr/>
        </p:nvPicPr>
        <p:blipFill>
          <a:blip r:embed="rId2"/>
          <a:stretch>
            <a:fillRect/>
          </a:stretch>
        </p:blipFill>
        <p:spPr>
          <a:xfrm>
            <a:off x="929487" y="1097280"/>
            <a:ext cx="10332720" cy="5260294"/>
          </a:xfrm>
          <a:prstGeom prst="rect">
            <a:avLst/>
          </a:prstGeom>
          <a:ln>
            <a:solidFill>
              <a:srgbClr val="C9D2E0"/>
            </a:solidFill>
          </a:ln>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[부록] 관리자 화면 (예정: 문서 유형 목록만 동작)</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27</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pic>
        <p:nvPicPr>
          <p:cNvPr id="6" name="Picture 5" descr="S10_admin_300_0_1320.jpg"/>
          <p:cNvPicPr>
            <a:picLocks noChangeAspect="1"/>
          </p:cNvPicPr>
          <p:nvPr/>
        </p:nvPicPr>
        <p:blipFill>
          <a:blip r:embed="rId2"/>
          <a:stretch>
            <a:fillRect/>
          </a:stretch>
        </p:blipFill>
        <p:spPr>
          <a:xfrm>
            <a:off x="929487" y="1097280"/>
            <a:ext cx="10332720" cy="5260294"/>
          </a:xfrm>
          <a:prstGeom prst="rect">
            <a:avLst/>
          </a:prstGeom>
          <a:ln>
            <a:solidFill>
              <a:srgbClr val="C9D2E0"/>
            </a:solidFill>
          </a:ln>
        </p:spPr>
      </p:pic>
      <p:sp>
        <p:nvSpPr>
          <p:cNvPr id="7" name="Rounded Rectangle 6"/>
          <p:cNvSpPr/>
          <p:nvPr/>
        </p:nvSpPr>
        <p:spPr>
          <a:xfrm>
            <a:off x="9509760" y="1280160"/>
            <a:ext cx="2011680" cy="457200"/>
          </a:xfrm>
          <a:prstGeom prst="roundRect">
            <a:avLst>
              <a:gd name="adj" fmla="val 30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2000" b="1">
                <a:solidFill>
                  <a:srgbClr val="6B4300"/>
                </a:solidFill>
                <a:latin typeface="Helvetica Neue"/>
                <a:cs typeface="Apple SD Gothic Neo"/>
                <a:ea typeface="Apple SD Gothic Neo"/>
              </a:rPr>
              <a:t>예정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[부록] 시연 시나리오 D1–D9와 기대 결과</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28</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ounded Rectangle 5"/>
          <p:cNvSpPr/>
          <p:nvPr/>
        </p:nvSpPr>
        <p:spPr>
          <a:xfrm>
            <a:off x="548640" y="1280160"/>
            <a:ext cx="822960" cy="475488"/>
          </a:xfrm>
          <a:prstGeom prst="roundRect">
            <a:avLst>
              <a:gd name="adj" fmla="val 20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D1</a:t>
            </a:r>
          </a:p>
        </p:txBody>
      </p:sp>
      <p:sp>
        <p:nvSpPr>
          <p:cNvPr id="7" name="TextBox 6"/>
          <p:cNvSpPr txBox="1"/>
          <p:nvPr/>
        </p:nvSpPr>
        <p:spPr>
          <a:xfrm>
            <a:off x="1508760" y="1280160"/>
            <a:ext cx="6400800" cy="475488"/>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정상 제출 (기업)</a:t>
            </a:r>
          </a:p>
        </p:txBody>
      </p:sp>
      <p:sp>
        <p:nvSpPr>
          <p:cNvPr id="8" name="Rounded Rectangle 7"/>
          <p:cNvSpPr/>
          <p:nvPr/>
        </p:nvSpPr>
        <p:spPr>
          <a:xfrm>
            <a:off x="8046720" y="1280160"/>
            <a:ext cx="3657600" cy="475488"/>
          </a:xfrm>
          <a:prstGeom prst="roundRect">
            <a:avLst>
              <a:gd name="adj" fmla="val 30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0B5D3B"/>
                </a:solidFill>
                <a:latin typeface="Helvetica Neue"/>
                <a:cs typeface="Apple SD Gothic Neo"/>
                <a:ea typeface="Apple SD Gothic Neo"/>
              </a:rPr>
              <a:t>제출 가능</a:t>
            </a:r>
          </a:p>
        </p:txBody>
      </p:sp>
      <p:sp>
        <p:nvSpPr>
          <p:cNvPr id="9" name="Rounded Rectangle 8"/>
          <p:cNvSpPr/>
          <p:nvPr/>
        </p:nvSpPr>
        <p:spPr>
          <a:xfrm>
            <a:off x="548640" y="1847088"/>
            <a:ext cx="822960" cy="475488"/>
          </a:xfrm>
          <a:prstGeom prst="roundRect">
            <a:avLst>
              <a:gd name="adj" fmla="val 20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D2</a:t>
            </a:r>
          </a:p>
        </p:txBody>
      </p:sp>
      <p:sp>
        <p:nvSpPr>
          <p:cNvPr id="10" name="TextBox 9"/>
          <p:cNvSpPr txBox="1"/>
          <p:nvPr/>
        </p:nvSpPr>
        <p:spPr>
          <a:xfrm>
            <a:off x="1508760" y="1847088"/>
            <a:ext cx="6400800" cy="475488"/>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만료된 납세증명서</a:t>
            </a:r>
          </a:p>
        </p:txBody>
      </p:sp>
      <p:sp>
        <p:nvSpPr>
          <p:cNvPr id="11" name="Rounded Rectangle 10"/>
          <p:cNvSpPr/>
          <p:nvPr/>
        </p:nvSpPr>
        <p:spPr>
          <a:xfrm>
            <a:off x="8046720" y="1847088"/>
            <a:ext cx="3657600" cy="475488"/>
          </a:xfrm>
          <a:prstGeom prst="roundRect">
            <a:avLst>
              <a:gd name="adj" fmla="val 30000"/>
            </a:avLst>
          </a:prstGeom>
          <a:solidFill>
            <a:srgbClr val="FCE8E6"/>
          </a:solidFill>
          <a:ln w="15875">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8C1D18"/>
                </a:solidFill>
                <a:latin typeface="Helvetica Neue"/>
                <a:cs typeface="Apple SD Gothic Neo"/>
                <a:ea typeface="Apple SD Gothic Neo"/>
              </a:rPr>
              <a:t>보완 필요</a:t>
            </a:r>
          </a:p>
        </p:txBody>
      </p:sp>
      <p:sp>
        <p:nvSpPr>
          <p:cNvPr id="12" name="Rounded Rectangle 11"/>
          <p:cNvSpPr/>
          <p:nvPr/>
        </p:nvSpPr>
        <p:spPr>
          <a:xfrm>
            <a:off x="548640" y="2414016"/>
            <a:ext cx="822960" cy="475488"/>
          </a:xfrm>
          <a:prstGeom prst="roundRect">
            <a:avLst>
              <a:gd name="adj" fmla="val 20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D3</a:t>
            </a:r>
          </a:p>
        </p:txBody>
      </p:sp>
      <p:sp>
        <p:nvSpPr>
          <p:cNvPr id="13" name="TextBox 12"/>
          <p:cNvSpPr txBox="1"/>
          <p:nvPr/>
        </p:nvSpPr>
        <p:spPr>
          <a:xfrm>
            <a:off x="1508760" y="2414016"/>
            <a:ext cx="6400800" cy="475488"/>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회사명 불일치</a:t>
            </a:r>
          </a:p>
        </p:txBody>
      </p:sp>
      <p:sp>
        <p:nvSpPr>
          <p:cNvPr id="14" name="Rounded Rectangle 13"/>
          <p:cNvSpPr/>
          <p:nvPr/>
        </p:nvSpPr>
        <p:spPr>
          <a:xfrm>
            <a:off x="8046720" y="2414016"/>
            <a:ext cx="3657600" cy="475488"/>
          </a:xfrm>
          <a:prstGeom prst="roundRect">
            <a:avLst>
              <a:gd name="adj" fmla="val 30000"/>
            </a:avLst>
          </a:prstGeom>
          <a:solidFill>
            <a:srgbClr val="FCE8E6"/>
          </a:solidFill>
          <a:ln w="15875">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8C1D18"/>
                </a:solidFill>
                <a:latin typeface="Helvetica Neue"/>
                <a:cs typeface="Apple SD Gothic Neo"/>
                <a:ea typeface="Apple SD Gothic Neo"/>
              </a:rPr>
              <a:t>보완 필요</a:t>
            </a:r>
          </a:p>
        </p:txBody>
      </p:sp>
      <p:sp>
        <p:nvSpPr>
          <p:cNvPr id="15" name="Rounded Rectangle 14"/>
          <p:cNvSpPr/>
          <p:nvPr/>
        </p:nvSpPr>
        <p:spPr>
          <a:xfrm>
            <a:off x="548640" y="2980944"/>
            <a:ext cx="822960" cy="475488"/>
          </a:xfrm>
          <a:prstGeom prst="roundRect">
            <a:avLst>
              <a:gd name="adj" fmla="val 20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D4</a:t>
            </a:r>
          </a:p>
        </p:txBody>
      </p:sp>
      <p:sp>
        <p:nvSpPr>
          <p:cNvPr id="16" name="TextBox 15"/>
          <p:cNvSpPr txBox="1"/>
          <p:nvPr/>
        </p:nvSpPr>
        <p:spPr>
          <a:xfrm>
            <a:off x="1508760" y="2980944"/>
            <a:ext cx="6400800" cy="475488"/>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회사명 표기 차이 (주식회사/(주)/㈜)</a:t>
            </a:r>
          </a:p>
        </p:txBody>
      </p:sp>
      <p:sp>
        <p:nvSpPr>
          <p:cNvPr id="17" name="Rounded Rectangle 16"/>
          <p:cNvSpPr/>
          <p:nvPr/>
        </p:nvSpPr>
        <p:spPr>
          <a:xfrm>
            <a:off x="8046720" y="2980944"/>
            <a:ext cx="3657600" cy="475488"/>
          </a:xfrm>
          <a:prstGeom prst="roundRect">
            <a:avLst>
              <a:gd name="adj" fmla="val 30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0B5D3B"/>
                </a:solidFill>
                <a:latin typeface="Helvetica Neue"/>
                <a:cs typeface="Apple SD Gothic Neo"/>
                <a:ea typeface="Apple SD Gothic Neo"/>
              </a:rPr>
              <a:t>제출 가능</a:t>
            </a:r>
          </a:p>
        </p:txBody>
      </p:sp>
      <p:sp>
        <p:nvSpPr>
          <p:cNvPr id="18" name="Rounded Rectangle 17"/>
          <p:cNvSpPr/>
          <p:nvPr/>
        </p:nvSpPr>
        <p:spPr>
          <a:xfrm>
            <a:off x="548640" y="3547872"/>
            <a:ext cx="822960" cy="475488"/>
          </a:xfrm>
          <a:prstGeom prst="roundRect">
            <a:avLst>
              <a:gd name="adj" fmla="val 20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D5</a:t>
            </a:r>
          </a:p>
        </p:txBody>
      </p:sp>
      <p:sp>
        <p:nvSpPr>
          <p:cNvPr id="19" name="TextBox 18"/>
          <p:cNvSpPr txBox="1"/>
          <p:nvPr/>
        </p:nvSpPr>
        <p:spPr>
          <a:xfrm>
            <a:off x="1508760" y="3547872"/>
            <a:ext cx="6400800" cy="475488"/>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유사 서류 (지방세)</a:t>
            </a:r>
          </a:p>
        </p:txBody>
      </p:sp>
      <p:sp>
        <p:nvSpPr>
          <p:cNvPr id="20" name="Rounded Rectangle 19"/>
          <p:cNvSpPr/>
          <p:nvPr/>
        </p:nvSpPr>
        <p:spPr>
          <a:xfrm>
            <a:off x="8046720" y="3547872"/>
            <a:ext cx="3657600" cy="475488"/>
          </a:xfrm>
          <a:prstGeom prst="roundRect">
            <a:avLst>
              <a:gd name="adj" fmla="val 30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6B4300"/>
                </a:solidFill>
                <a:latin typeface="Helvetica Neue"/>
                <a:cs typeface="Apple SD Gothic Neo"/>
                <a:ea typeface="Apple SD Gothic Neo"/>
              </a:rPr>
              <a:t>확인 필요</a:t>
            </a:r>
          </a:p>
        </p:txBody>
      </p:sp>
      <p:sp>
        <p:nvSpPr>
          <p:cNvPr id="21" name="Rounded Rectangle 20"/>
          <p:cNvSpPr/>
          <p:nvPr/>
        </p:nvSpPr>
        <p:spPr>
          <a:xfrm>
            <a:off x="548640" y="4114800"/>
            <a:ext cx="822960" cy="475488"/>
          </a:xfrm>
          <a:prstGeom prst="roundRect">
            <a:avLst>
              <a:gd name="adj" fmla="val 20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D6</a:t>
            </a:r>
          </a:p>
        </p:txBody>
      </p:sp>
      <p:sp>
        <p:nvSpPr>
          <p:cNvPr id="22" name="TextBox 21"/>
          <p:cNvSpPr txBox="1"/>
          <p:nvPr/>
        </p:nvSpPr>
        <p:spPr>
          <a:xfrm>
            <a:off x="1508760" y="4114800"/>
            <a:ext cx="6400800" cy="475488"/>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스캔본 제출 (자동 확인)</a:t>
            </a:r>
          </a:p>
        </p:txBody>
      </p:sp>
      <p:sp>
        <p:nvSpPr>
          <p:cNvPr id="23" name="Rounded Rectangle 22"/>
          <p:cNvSpPr/>
          <p:nvPr/>
        </p:nvSpPr>
        <p:spPr>
          <a:xfrm>
            <a:off x="8046720" y="4114800"/>
            <a:ext cx="3657600" cy="475488"/>
          </a:xfrm>
          <a:prstGeom prst="roundRect">
            <a:avLst>
              <a:gd name="adj" fmla="val 30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0B5D3B"/>
                </a:solidFill>
                <a:latin typeface="Helvetica Neue"/>
                <a:cs typeface="Apple SD Gothic Neo"/>
                <a:ea typeface="Apple SD Gothic Neo"/>
              </a:rPr>
              <a:t>제출 가능</a:t>
            </a:r>
          </a:p>
        </p:txBody>
      </p:sp>
      <p:sp>
        <p:nvSpPr>
          <p:cNvPr id="24" name="Rounded Rectangle 23"/>
          <p:cNvSpPr/>
          <p:nvPr/>
        </p:nvSpPr>
        <p:spPr>
          <a:xfrm>
            <a:off x="548640" y="4681728"/>
            <a:ext cx="822960" cy="475488"/>
          </a:xfrm>
          <a:prstGeom prst="roundRect">
            <a:avLst>
              <a:gd name="adj" fmla="val 20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D7</a:t>
            </a:r>
          </a:p>
        </p:txBody>
      </p:sp>
      <p:sp>
        <p:nvSpPr>
          <p:cNvPr id="25" name="TextBox 24"/>
          <p:cNvSpPr txBox="1"/>
          <p:nvPr/>
        </p:nvSpPr>
        <p:spPr>
          <a:xfrm>
            <a:off x="1508760" y="4681728"/>
            <a:ext cx="6400800" cy="475488"/>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정상 제출 (학생)</a:t>
            </a:r>
          </a:p>
        </p:txBody>
      </p:sp>
      <p:sp>
        <p:nvSpPr>
          <p:cNvPr id="26" name="Rounded Rectangle 25"/>
          <p:cNvSpPr/>
          <p:nvPr/>
        </p:nvSpPr>
        <p:spPr>
          <a:xfrm>
            <a:off x="8046720" y="4681728"/>
            <a:ext cx="3657600" cy="475488"/>
          </a:xfrm>
          <a:prstGeom prst="roundRect">
            <a:avLst>
              <a:gd name="adj" fmla="val 30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0B5D3B"/>
                </a:solidFill>
                <a:latin typeface="Helvetica Neue"/>
                <a:cs typeface="Apple SD Gothic Neo"/>
                <a:ea typeface="Apple SD Gothic Neo"/>
              </a:rPr>
              <a:t>제출 가능</a:t>
            </a:r>
          </a:p>
        </p:txBody>
      </p:sp>
      <p:sp>
        <p:nvSpPr>
          <p:cNvPr id="27" name="Rounded Rectangle 26"/>
          <p:cNvSpPr/>
          <p:nvPr/>
        </p:nvSpPr>
        <p:spPr>
          <a:xfrm>
            <a:off x="548640" y="5248656"/>
            <a:ext cx="822960" cy="475488"/>
          </a:xfrm>
          <a:prstGeom prst="roundRect">
            <a:avLst>
              <a:gd name="adj" fmla="val 20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D8</a:t>
            </a:r>
          </a:p>
        </p:txBody>
      </p:sp>
      <p:sp>
        <p:nvSpPr>
          <p:cNvPr id="28" name="TextBox 27"/>
          <p:cNvSpPr txBox="1"/>
          <p:nvPr/>
        </p:nvSpPr>
        <p:spPr>
          <a:xfrm>
            <a:off x="1508760" y="5248656"/>
            <a:ext cx="6400800" cy="475488"/>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필수 서류 누락</a:t>
            </a:r>
          </a:p>
        </p:txBody>
      </p:sp>
      <p:sp>
        <p:nvSpPr>
          <p:cNvPr id="29" name="Rounded Rectangle 28"/>
          <p:cNvSpPr/>
          <p:nvPr/>
        </p:nvSpPr>
        <p:spPr>
          <a:xfrm>
            <a:off x="8046720" y="5248656"/>
            <a:ext cx="3657600" cy="475488"/>
          </a:xfrm>
          <a:prstGeom prst="roundRect">
            <a:avLst>
              <a:gd name="adj" fmla="val 30000"/>
            </a:avLst>
          </a:prstGeom>
          <a:solidFill>
            <a:srgbClr val="FCE8E6"/>
          </a:solidFill>
          <a:ln w="15875">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8C1D18"/>
                </a:solidFill>
                <a:latin typeface="Helvetica Neue"/>
                <a:cs typeface="Apple SD Gothic Neo"/>
                <a:ea typeface="Apple SD Gothic Neo"/>
              </a:rPr>
              <a:t>보완 필요</a:t>
            </a:r>
          </a:p>
        </p:txBody>
      </p:sp>
      <p:sp>
        <p:nvSpPr>
          <p:cNvPr id="30" name="Rounded Rectangle 29"/>
          <p:cNvSpPr/>
          <p:nvPr/>
        </p:nvSpPr>
        <p:spPr>
          <a:xfrm>
            <a:off x="548640" y="5815584"/>
            <a:ext cx="822960" cy="475488"/>
          </a:xfrm>
          <a:prstGeom prst="roundRect">
            <a:avLst>
              <a:gd name="adj" fmla="val 20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5000"/>
              </a:lnSpc>
            </a:pPr>
            <a:r>
              <a:rPr sz="1800" b="1">
                <a:solidFill>
                  <a:srgbClr val="FFFFFF"/>
                </a:solidFill>
                <a:latin typeface="Helvetica Neue"/>
                <a:cs typeface="Apple SD Gothic Neo"/>
                <a:ea typeface="Apple SD Gothic Neo"/>
              </a:rPr>
              <a:t>D9</a:t>
            </a:r>
          </a:p>
        </p:txBody>
      </p:sp>
      <p:sp>
        <p:nvSpPr>
          <p:cNvPr id="31" name="TextBox 30"/>
          <p:cNvSpPr txBox="1"/>
          <p:nvPr/>
        </p:nvSpPr>
        <p:spPr>
          <a:xfrm>
            <a:off x="1508760" y="5815584"/>
            <a:ext cx="6400800" cy="475488"/>
          </a:xfrm>
          <a:prstGeom prst="rect">
            <a:avLst/>
          </a:prstGeom>
          <a:noFill/>
        </p:spPr>
        <p:txBody>
          <a:bodyPr wrap="square" anchor="ctr" lIns="0" rIns="0" tIns="0" bIns="0">
            <a:spAutoFit/>
          </a:bodyPr>
          <a:lstStyle/>
          <a:p>
            <a:pPr algn="l">
              <a:lnSpc>
                <a:spcPct val="105000"/>
              </a:lnSpc>
            </a:pPr>
            <a:r>
              <a:rPr sz="1800" b="0">
                <a:solidFill>
                  <a:srgbClr val="1B2433"/>
                </a:solidFill>
                <a:latin typeface="Helvetica Neue"/>
                <a:cs typeface="Apple SD Gothic Neo"/>
                <a:ea typeface="Apple SD Gothic Neo"/>
              </a:rPr>
              <a:t>스캔본 + 사람 확인 (학생)</a:t>
            </a:r>
          </a:p>
        </p:txBody>
      </p:sp>
      <p:sp>
        <p:nvSpPr>
          <p:cNvPr id="32" name="Rounded Rectangle 31"/>
          <p:cNvSpPr/>
          <p:nvPr/>
        </p:nvSpPr>
        <p:spPr>
          <a:xfrm>
            <a:off x="8046720" y="5815584"/>
            <a:ext cx="3657600" cy="475488"/>
          </a:xfrm>
          <a:prstGeom prst="roundRect">
            <a:avLst>
              <a:gd name="adj" fmla="val 30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lnSpc>
                <a:spcPct val="105000"/>
              </a:lnSpc>
            </a:pPr>
            <a:r>
              <a:rPr sz="1800" b="1">
                <a:solidFill>
                  <a:srgbClr val="6B4300"/>
                </a:solidFill>
                <a:latin typeface="Helvetica Neue"/>
                <a:cs typeface="Apple SD Gothic Neo"/>
                <a:ea typeface="Apple SD Gothic Neo"/>
              </a:rPr>
              <a:t>확인 필요 → 제출 가능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155680" cy="868680"/>
          </a:xfrm>
          <a:prstGeom prst="rect">
            <a:avLst/>
          </a:prstGeom>
          <a:noFill/>
        </p:spPr>
        <p:txBody>
          <a:bodyPr wrap="square" anchor="t" lIns="0" rIns="0" tIns="0" bIns="0">
            <a:spAutoFit/>
          </a:bodyPr>
          <a:lstStyle/>
          <a:p>
            <a:pPr algn="l">
              <a:lnSpc>
                <a:spcPct val="100000"/>
              </a:lnSpc>
            </a:pPr>
            <a:r>
              <a:rPr sz="2600" b="1">
                <a:solidFill>
                  <a:srgbClr val="17325C"/>
                </a:solidFill>
                <a:latin typeface="Helvetica Neue"/>
                <a:cs typeface="Apple SD Gothic Neo"/>
                <a:ea typeface="Apple SD Gothic Neo"/>
              </a:rPr>
              <a:t>[부록] 수치의 출처 (슬라이드별)</a:t>
            </a:r>
          </a:p>
        </p:txBody>
      </p:sp>
      <p:sp>
        <p:nvSpPr>
          <p:cNvPr id="4" name="TextBox 3"/>
          <p:cNvSpPr txBox="1"/>
          <p:nvPr/>
        </p:nvSpPr>
        <p:spPr>
          <a:xfrm>
            <a:off x="11064240" y="6446520"/>
            <a:ext cx="731520" cy="292608"/>
          </a:xfrm>
          <a:prstGeom prst="rect">
            <a:avLst/>
          </a:prstGeom>
          <a:noFill/>
        </p:spPr>
        <p:txBody>
          <a:bodyPr wrap="square" anchor="t" lIns="0" rIns="0" tIns="0" bIns="0">
            <a:spAutoFit/>
          </a:bodyPr>
          <a:lstStyle/>
          <a:p>
            <a:pPr algn="r">
              <a:lnSpc>
                <a:spcPct val="105000"/>
              </a:lnSpc>
            </a:pPr>
            <a:r>
              <a:rPr sz="1200" b="0">
                <a:solidFill>
                  <a:srgbClr val="4A5872"/>
                </a:solidFill>
                <a:latin typeface="Helvetica Neue"/>
                <a:cs typeface="Apple SD Gothic Neo"/>
                <a:ea typeface="Apple SD Gothic Neo"/>
              </a:rPr>
              <a:t>29</a:t>
            </a:r>
          </a:p>
        </p:txBody>
      </p:sp>
      <p:sp>
        <p:nvSpPr>
          <p:cNvPr id="5" name="TextBox 4"/>
          <p:cNvSpPr txBox="1"/>
          <p:nvPr/>
        </p:nvSpPr>
        <p:spPr>
          <a:xfrm>
            <a:off x="548640" y="6446520"/>
            <a:ext cx="6400800" cy="292608"/>
          </a:xfrm>
          <a:prstGeom prst="rect">
            <a:avLst/>
          </a:prstGeom>
          <a:noFill/>
        </p:spPr>
        <p:txBody>
          <a:bodyPr wrap="square" anchor="t" lIns="0" rIns="0" tIns="0" bIns="0">
            <a:spAutoFit/>
          </a:bodyPr>
          <a:lstStyle/>
          <a:p>
            <a:pPr algn="l">
              <a:lnSpc>
                <a:spcPct val="105000"/>
              </a:lnSpc>
            </a:pPr>
            <a:r>
              <a:rPr sz="1200" b="0">
                <a:solidFill>
                  <a:srgbClr val="4A5872"/>
                </a:solidFill>
                <a:latin typeface="Helvetica Neue"/>
                <a:cs typeface="Apple SD Gothic Neo"/>
                <a:ea typeface="Apple SD Gothic Neo"/>
              </a:rPr>
              <a:t>ADVS · 1차 중간발표 · 2026-10-15</a:t>
            </a:r>
          </a:p>
        </p:txBody>
      </p:sp>
      <p:sp>
        <p:nvSpPr>
          <p:cNvPr id="6" name="Rectangle 5"/>
          <p:cNvSpPr/>
          <p:nvPr/>
        </p:nvSpPr>
        <p:spPr>
          <a:xfrm>
            <a:off x="548640" y="1325880"/>
            <a:ext cx="11155680" cy="548640"/>
          </a:xfrm>
          <a:prstGeom prst="rect">
            <a:avLst/>
          </a:prstGeom>
          <a:solidFill>
            <a:srgbClr val="F3F6FB"/>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2926080" cy="548640"/>
          </a:xfrm>
          <a:prstGeom prst="rect">
            <a:avLst/>
          </a:prstGeom>
          <a:noFill/>
        </p:spPr>
        <p:txBody>
          <a:bodyPr wrap="square" anchor="ctr" lIns="0" rIns="0" tIns="0" bIns="0">
            <a:spAutoFit/>
          </a:bodyPr>
          <a:lstStyle/>
          <a:p>
            <a:pPr algn="l">
              <a:lnSpc>
                <a:spcPct val="105000"/>
              </a:lnSpc>
            </a:pPr>
            <a:r>
              <a:rPr sz="1800" b="1">
                <a:solidFill>
                  <a:srgbClr val="17325C"/>
                </a:solidFill>
                <a:latin typeface="Helvetica Neue"/>
                <a:cs typeface="Apple SD Gothic Neo"/>
                <a:ea typeface="Apple SD Gothic Neo"/>
              </a:rPr>
              <a:t>4 일정·역할</a:t>
            </a:r>
          </a:p>
        </p:txBody>
      </p:sp>
      <p:sp>
        <p:nvSpPr>
          <p:cNvPr id="8" name="TextBox 7"/>
          <p:cNvSpPr txBox="1"/>
          <p:nvPr/>
        </p:nvSpPr>
        <p:spPr>
          <a:xfrm>
            <a:off x="3749039" y="1325880"/>
            <a:ext cx="7863840" cy="548640"/>
          </a:xfrm>
          <a:prstGeom prst="rect">
            <a:avLst/>
          </a:prstGeom>
          <a:noFill/>
        </p:spPr>
        <p:txBody>
          <a:bodyPr wrap="square" anchor="ctr" lIns="0" rIns="0" tIns="0" bIns="0">
            <a:spAutoFit/>
          </a:bodyPr>
          <a:lstStyle/>
          <a:p>
            <a:pPr algn="l">
              <a:lnSpc>
                <a:spcPct val="105000"/>
              </a:lnSpc>
            </a:pPr>
            <a:r>
              <a:rPr sz="1600" b="0">
                <a:solidFill>
                  <a:srgbClr val="1B2433"/>
                </a:solidFill>
                <a:latin typeface="Helvetica Neue"/>
                <a:cs typeface="Apple SD Gothic Neo"/>
                <a:ea typeface="Apple SD Gothic Neo"/>
              </a:rPr>
              <a:t>수행계획서 (외부) · git 기록 · RESULTS.md</a:t>
            </a:r>
          </a:p>
        </p:txBody>
      </p:sp>
      <p:sp>
        <p:nvSpPr>
          <p:cNvPr id="9" name="Rectangle 8"/>
          <p:cNvSpPr/>
          <p:nvPr/>
        </p:nvSpPr>
        <p:spPr>
          <a:xfrm>
            <a:off x="548640" y="1965960"/>
            <a:ext cx="11155680" cy="548640"/>
          </a:xfrm>
          <a:prstGeom prst="rect">
            <a:avLst/>
          </a:prstGeom>
          <a:solidFill>
            <a:srgbClr val="F3F6FB"/>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65960"/>
            <a:ext cx="2926080" cy="548640"/>
          </a:xfrm>
          <a:prstGeom prst="rect">
            <a:avLst/>
          </a:prstGeom>
          <a:noFill/>
        </p:spPr>
        <p:txBody>
          <a:bodyPr wrap="square" anchor="ctr" lIns="0" rIns="0" tIns="0" bIns="0">
            <a:spAutoFit/>
          </a:bodyPr>
          <a:lstStyle/>
          <a:p>
            <a:pPr algn="l">
              <a:lnSpc>
                <a:spcPct val="105000"/>
              </a:lnSpc>
            </a:pPr>
            <a:r>
              <a:rPr sz="1800" b="1">
                <a:solidFill>
                  <a:srgbClr val="17325C"/>
                </a:solidFill>
                <a:latin typeface="Helvetica Neue"/>
                <a:cs typeface="Apple SD Gothic Neo"/>
                <a:ea typeface="Apple SD Gothic Neo"/>
              </a:rPr>
              <a:t>14 결과</a:t>
            </a:r>
          </a:p>
        </p:txBody>
      </p:sp>
      <p:sp>
        <p:nvSpPr>
          <p:cNvPr id="11" name="TextBox 10"/>
          <p:cNvSpPr txBox="1"/>
          <p:nvPr/>
        </p:nvSpPr>
        <p:spPr>
          <a:xfrm>
            <a:off x="3749039" y="1965960"/>
            <a:ext cx="7863840" cy="548640"/>
          </a:xfrm>
          <a:prstGeom prst="rect">
            <a:avLst/>
          </a:prstGeom>
          <a:noFill/>
        </p:spPr>
        <p:txBody>
          <a:bodyPr wrap="square" anchor="ctr" lIns="0" rIns="0" tIns="0" bIns="0">
            <a:spAutoFit/>
          </a:bodyPr>
          <a:lstStyle/>
          <a:p>
            <a:pPr algn="l">
              <a:lnSpc>
                <a:spcPct val="105000"/>
              </a:lnSpc>
            </a:pPr>
            <a:r>
              <a:rPr sz="1600" b="0">
                <a:solidFill>
                  <a:srgbClr val="1B2433"/>
                </a:solidFill>
                <a:latin typeface="Helvetica Neue"/>
                <a:cs typeface="Apple SD Gothic Neo"/>
                <a:ea typeface="Apple SD Gothic Neo"/>
              </a:rPr>
              <a:t>RESULTS.md · phase_g/final · denominators_final.txt</a:t>
            </a:r>
          </a:p>
        </p:txBody>
      </p:sp>
      <p:sp>
        <p:nvSpPr>
          <p:cNvPr id="12" name="Rectangle 11"/>
          <p:cNvSpPr/>
          <p:nvPr/>
        </p:nvSpPr>
        <p:spPr>
          <a:xfrm>
            <a:off x="548640" y="2606039"/>
            <a:ext cx="11155680" cy="548640"/>
          </a:xfrm>
          <a:prstGeom prst="rect">
            <a:avLst/>
          </a:prstGeom>
          <a:solidFill>
            <a:srgbClr val="F3F6FB"/>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606039"/>
            <a:ext cx="2926080" cy="548640"/>
          </a:xfrm>
          <a:prstGeom prst="rect">
            <a:avLst/>
          </a:prstGeom>
          <a:noFill/>
        </p:spPr>
        <p:txBody>
          <a:bodyPr wrap="square" anchor="ctr" lIns="0" rIns="0" tIns="0" bIns="0">
            <a:spAutoFit/>
          </a:bodyPr>
          <a:lstStyle/>
          <a:p>
            <a:pPr algn="l">
              <a:lnSpc>
                <a:spcPct val="105000"/>
              </a:lnSpc>
            </a:pPr>
            <a:r>
              <a:rPr sz="1800" b="1">
                <a:solidFill>
                  <a:srgbClr val="17325C"/>
                </a:solidFill>
                <a:latin typeface="Helvetica Neue"/>
                <a:cs typeface="Apple SD Gothic Neo"/>
                <a:ea typeface="Apple SD Gothic Neo"/>
              </a:rPr>
              <a:t>15 단계별 개선</a:t>
            </a:r>
          </a:p>
        </p:txBody>
      </p:sp>
      <p:sp>
        <p:nvSpPr>
          <p:cNvPr id="14" name="TextBox 13"/>
          <p:cNvSpPr txBox="1"/>
          <p:nvPr/>
        </p:nvSpPr>
        <p:spPr>
          <a:xfrm>
            <a:off x="3749039" y="2606039"/>
            <a:ext cx="7863840" cy="548640"/>
          </a:xfrm>
          <a:prstGeom prst="rect">
            <a:avLst/>
          </a:prstGeom>
          <a:noFill/>
        </p:spPr>
        <p:txBody>
          <a:bodyPr wrap="square" anchor="ctr" lIns="0" rIns="0" tIns="0" bIns="0">
            <a:spAutoFit/>
          </a:bodyPr>
          <a:lstStyle/>
          <a:p>
            <a:pPr algn="l">
              <a:lnSpc>
                <a:spcPct val="105000"/>
              </a:lnSpc>
            </a:pPr>
            <a:r>
              <a:rPr sz="1600" b="0">
                <a:solidFill>
                  <a:srgbClr val="1B2433"/>
                </a:solidFill>
                <a:latin typeface="Helvetica Neue"/>
                <a:cs typeface="Apple SD Gothic Neo"/>
                <a:ea typeface="Apple SD Gothic Neo"/>
              </a:rPr>
              <a:t>metrics.csv · PHASE_D/D2/G 보고서</a:t>
            </a:r>
          </a:p>
        </p:txBody>
      </p:sp>
      <p:sp>
        <p:nvSpPr>
          <p:cNvPr id="15" name="Rectangle 14"/>
          <p:cNvSpPr/>
          <p:nvPr/>
        </p:nvSpPr>
        <p:spPr>
          <a:xfrm>
            <a:off x="548640" y="3246120"/>
            <a:ext cx="11155680" cy="548640"/>
          </a:xfrm>
          <a:prstGeom prst="rect">
            <a:avLst/>
          </a:prstGeom>
          <a:solidFill>
            <a:srgbClr val="F3F6FB"/>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246120"/>
            <a:ext cx="2926080" cy="548640"/>
          </a:xfrm>
          <a:prstGeom prst="rect">
            <a:avLst/>
          </a:prstGeom>
          <a:noFill/>
        </p:spPr>
        <p:txBody>
          <a:bodyPr wrap="square" anchor="ctr" lIns="0" rIns="0" tIns="0" bIns="0">
            <a:spAutoFit/>
          </a:bodyPr>
          <a:lstStyle/>
          <a:p>
            <a:pPr algn="l">
              <a:lnSpc>
                <a:spcPct val="105000"/>
              </a:lnSpc>
            </a:pPr>
            <a:r>
              <a:rPr sz="1800" b="1">
                <a:solidFill>
                  <a:srgbClr val="17325C"/>
                </a:solidFill>
                <a:latin typeface="Helvetica Neue"/>
                <a:cs typeface="Apple SD Gothic Neo"/>
                <a:ea typeface="Apple SD Gothic Neo"/>
              </a:rPr>
              <a:t>16 정확도</a:t>
            </a:r>
          </a:p>
        </p:txBody>
      </p:sp>
      <p:sp>
        <p:nvSpPr>
          <p:cNvPr id="17" name="TextBox 16"/>
          <p:cNvSpPr txBox="1"/>
          <p:nvPr/>
        </p:nvSpPr>
        <p:spPr>
          <a:xfrm>
            <a:off x="3749039" y="3246120"/>
            <a:ext cx="7863840" cy="548640"/>
          </a:xfrm>
          <a:prstGeom prst="rect">
            <a:avLst/>
          </a:prstGeom>
          <a:noFill/>
        </p:spPr>
        <p:txBody>
          <a:bodyPr wrap="square" anchor="ctr" lIns="0" rIns="0" tIns="0" bIns="0">
            <a:spAutoFit/>
          </a:bodyPr>
          <a:lstStyle/>
          <a:p>
            <a:pPr algn="l">
              <a:lnSpc>
                <a:spcPct val="105000"/>
              </a:lnSpc>
            </a:pPr>
            <a:r>
              <a:rPr sz="1600" b="0">
                <a:solidFill>
                  <a:srgbClr val="1B2433"/>
                </a:solidFill>
                <a:latin typeface="Helvetica Neue"/>
                <a:cs typeface="Apple SD Gothic Neo"/>
                <a:ea typeface="Apple SD Gothic Neo"/>
              </a:rPr>
              <a:t>PHASE_G_REPORT.md §4</a:t>
            </a:r>
          </a:p>
        </p:txBody>
      </p:sp>
      <p:sp>
        <p:nvSpPr>
          <p:cNvPr id="18" name="Rectangle 17"/>
          <p:cNvSpPr/>
          <p:nvPr/>
        </p:nvSpPr>
        <p:spPr>
          <a:xfrm>
            <a:off x="548640" y="3886200"/>
            <a:ext cx="11155680" cy="548640"/>
          </a:xfrm>
          <a:prstGeom prst="rect">
            <a:avLst/>
          </a:prstGeom>
          <a:solidFill>
            <a:srgbClr val="F3F6FB"/>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886200"/>
            <a:ext cx="2926080" cy="548640"/>
          </a:xfrm>
          <a:prstGeom prst="rect">
            <a:avLst/>
          </a:prstGeom>
          <a:noFill/>
        </p:spPr>
        <p:txBody>
          <a:bodyPr wrap="square" anchor="ctr" lIns="0" rIns="0" tIns="0" bIns="0">
            <a:spAutoFit/>
          </a:bodyPr>
          <a:lstStyle/>
          <a:p>
            <a:pPr algn="l">
              <a:lnSpc>
                <a:spcPct val="105000"/>
              </a:lnSpc>
            </a:pPr>
            <a:r>
              <a:rPr sz="1800" b="1">
                <a:solidFill>
                  <a:srgbClr val="17325C"/>
                </a:solidFill>
                <a:latin typeface="Helvetica Neue"/>
                <a:cs typeface="Apple SD Gothic Neo"/>
                <a:ea typeface="Apple SD Gothic Neo"/>
              </a:rPr>
              <a:t>17 어려움</a:t>
            </a:r>
          </a:p>
        </p:txBody>
      </p:sp>
      <p:sp>
        <p:nvSpPr>
          <p:cNvPr id="20" name="TextBox 19"/>
          <p:cNvSpPr txBox="1"/>
          <p:nvPr/>
        </p:nvSpPr>
        <p:spPr>
          <a:xfrm>
            <a:off x="3749039" y="3886200"/>
            <a:ext cx="7863840" cy="548640"/>
          </a:xfrm>
          <a:prstGeom prst="rect">
            <a:avLst/>
          </a:prstGeom>
          <a:noFill/>
        </p:spPr>
        <p:txBody>
          <a:bodyPr wrap="square" anchor="ctr" lIns="0" rIns="0" tIns="0" bIns="0">
            <a:spAutoFit/>
          </a:bodyPr>
          <a:lstStyle/>
          <a:p>
            <a:pPr algn="l">
              <a:lnSpc>
                <a:spcPct val="105000"/>
              </a:lnSpc>
            </a:pPr>
            <a:r>
              <a:rPr sz="1600" b="0">
                <a:solidFill>
                  <a:srgbClr val="1B2433"/>
                </a:solidFill>
                <a:latin typeface="Helvetica Neue"/>
                <a:cs typeface="Apple SD Gothic Neo"/>
                <a:ea typeface="Apple SD Gothic Neo"/>
              </a:rPr>
              <a:t>university_name_before_after.txt · pdf_manipulation_suite.md</a:t>
            </a:r>
          </a:p>
        </p:txBody>
      </p:sp>
      <p:sp>
        <p:nvSpPr>
          <p:cNvPr id="21" name="Rectangle 20"/>
          <p:cNvSpPr/>
          <p:nvPr/>
        </p:nvSpPr>
        <p:spPr>
          <a:xfrm>
            <a:off x="548640" y="4526280"/>
            <a:ext cx="11155680" cy="548640"/>
          </a:xfrm>
          <a:prstGeom prst="rect">
            <a:avLst/>
          </a:prstGeom>
          <a:solidFill>
            <a:srgbClr val="F3F6FB"/>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526280"/>
            <a:ext cx="2926080" cy="548640"/>
          </a:xfrm>
          <a:prstGeom prst="rect">
            <a:avLst/>
          </a:prstGeom>
          <a:noFill/>
        </p:spPr>
        <p:txBody>
          <a:bodyPr wrap="square" anchor="ctr" lIns="0" rIns="0" tIns="0" bIns="0">
            <a:spAutoFit/>
          </a:bodyPr>
          <a:lstStyle/>
          <a:p>
            <a:pPr algn="l">
              <a:lnSpc>
                <a:spcPct val="105000"/>
              </a:lnSpc>
            </a:pPr>
            <a:r>
              <a:rPr sz="1800" b="1">
                <a:solidFill>
                  <a:srgbClr val="17325C"/>
                </a:solidFill>
                <a:latin typeface="Helvetica Neue"/>
                <a:cs typeface="Apple SD Gothic Neo"/>
                <a:ea typeface="Apple SD Gothic Neo"/>
              </a:rPr>
              <a:t>18 검증</a:t>
            </a:r>
          </a:p>
        </p:txBody>
      </p:sp>
      <p:sp>
        <p:nvSpPr>
          <p:cNvPr id="23" name="TextBox 22"/>
          <p:cNvSpPr txBox="1"/>
          <p:nvPr/>
        </p:nvSpPr>
        <p:spPr>
          <a:xfrm>
            <a:off x="3749039" y="4526280"/>
            <a:ext cx="7863840" cy="548640"/>
          </a:xfrm>
          <a:prstGeom prst="rect">
            <a:avLst/>
          </a:prstGeom>
          <a:noFill/>
        </p:spPr>
        <p:txBody>
          <a:bodyPr wrap="square" anchor="ctr" lIns="0" rIns="0" tIns="0" bIns="0">
            <a:spAutoFit/>
          </a:bodyPr>
          <a:lstStyle/>
          <a:p>
            <a:pPr algn="l">
              <a:lnSpc>
                <a:spcPct val="105000"/>
              </a:lnSpc>
            </a:pPr>
            <a:r>
              <a:rPr sz="1600" b="0">
                <a:solidFill>
                  <a:srgbClr val="1B2433"/>
                </a:solidFill>
                <a:latin typeface="Helvetica Neue"/>
                <a:cs typeface="Apple SD Gothic Neo"/>
                <a:ea typeface="Apple SD Gothic Neo"/>
              </a:rPr>
              <a:t>각 corpus README · F_inj_*.md · testing.md</a:t>
            </a:r>
          </a:p>
        </p:txBody>
      </p:sp>
      <p:sp>
        <p:nvSpPr>
          <p:cNvPr id="24" name="Rectangle 23"/>
          <p:cNvSpPr/>
          <p:nvPr/>
        </p:nvSpPr>
        <p:spPr>
          <a:xfrm>
            <a:off x="548640" y="5166360"/>
            <a:ext cx="11155680" cy="548640"/>
          </a:xfrm>
          <a:prstGeom prst="rect">
            <a:avLst/>
          </a:prstGeom>
          <a:solidFill>
            <a:srgbClr val="F3F6FB"/>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166360"/>
            <a:ext cx="2926080" cy="548640"/>
          </a:xfrm>
          <a:prstGeom prst="rect">
            <a:avLst/>
          </a:prstGeom>
          <a:noFill/>
        </p:spPr>
        <p:txBody>
          <a:bodyPr wrap="square" anchor="ctr" lIns="0" rIns="0" tIns="0" bIns="0">
            <a:spAutoFit/>
          </a:bodyPr>
          <a:lstStyle/>
          <a:p>
            <a:pPr algn="l">
              <a:lnSpc>
                <a:spcPct val="105000"/>
              </a:lnSpc>
            </a:pPr>
            <a:r>
              <a:rPr sz="1800" b="1">
                <a:solidFill>
                  <a:srgbClr val="17325C"/>
                </a:solidFill>
                <a:latin typeface="Helvetica Neue"/>
                <a:cs typeface="Apple SD Gothic Neo"/>
                <a:ea typeface="Apple SD Gothic Neo"/>
              </a:rPr>
              <a:t>20 계획</a:t>
            </a:r>
          </a:p>
        </p:txBody>
      </p:sp>
      <p:sp>
        <p:nvSpPr>
          <p:cNvPr id="26" name="TextBox 25"/>
          <p:cNvSpPr txBox="1"/>
          <p:nvPr/>
        </p:nvSpPr>
        <p:spPr>
          <a:xfrm>
            <a:off x="3749039" y="5166360"/>
            <a:ext cx="7863840" cy="548640"/>
          </a:xfrm>
          <a:prstGeom prst="rect">
            <a:avLst/>
          </a:prstGeom>
          <a:noFill/>
        </p:spPr>
        <p:txBody>
          <a:bodyPr wrap="square" anchor="ctr" lIns="0" rIns="0" tIns="0" bIns="0">
            <a:spAutoFit/>
          </a:bodyPr>
          <a:lstStyle/>
          <a:p>
            <a:pPr algn="l">
              <a:lnSpc>
                <a:spcPct val="105000"/>
              </a:lnSpc>
            </a:pPr>
            <a:r>
              <a:rPr sz="1600" b="0">
                <a:solidFill>
                  <a:srgbClr val="1B2433"/>
                </a:solidFill>
                <a:latin typeface="Helvetica Neue"/>
                <a:cs typeface="Apple SD Gothic Neo"/>
                <a:ea typeface="Apple SD Gothic Neo"/>
              </a:rPr>
              <a:t>docs/planning/ROADMAP.md</a:t>
            </a:r>
          </a:p>
        </p:txBody>
      </p:sp>
      <p:sp>
        <p:nvSpPr>
          <p:cNvPr id="27" name="TextBox 26"/>
          <p:cNvSpPr txBox="1"/>
          <p:nvPr/>
        </p:nvSpPr>
        <p:spPr>
          <a:xfrm>
            <a:off x="548640" y="5943600"/>
            <a:ext cx="11155680" cy="274320"/>
          </a:xfrm>
          <a:prstGeom prst="rect">
            <a:avLst/>
          </a:prstGeom>
          <a:noFill/>
        </p:spPr>
        <p:txBody>
          <a:bodyPr wrap="square" anchor="t" lIns="0" rIns="0" tIns="0" bIns="0">
            <a:spAutoFit/>
          </a:bodyPr>
          <a:lstStyle/>
          <a:p>
            <a:pPr algn="l">
              <a:lnSpc>
                <a:spcPct val="105000"/>
              </a:lnSpc>
            </a:pPr>
            <a:r>
              <a:rPr sz="1400" b="0">
                <a:solidFill>
                  <a:srgbClr val="4A5872"/>
                </a:solidFill>
                <a:latin typeface="Helvetica Neue"/>
                <a:cs typeface="Apple SD Gothic Neo"/>
                <a:ea typeface="Apple SD Gothic Neo"/>
              </a:rPr>
              <a:t>전체 목록: docs/midterm/v4/slides_sources.md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